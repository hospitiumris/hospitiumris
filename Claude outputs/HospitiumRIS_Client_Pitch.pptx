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8dcd03-3d2b-4d0f-caeb-ecc9e9bf9645}">
          <p14:sldIdLst>
            <p14:sldId id="256"/>
            <p14:sldId id="257"/>
          </p14:sldIdLst>
        </p14:section>
        <p14:section name="Why it matters" id="{0d504d43-b6c8-3f89-28c0-13a6de16dc9a}">
          <p14:sldIdLst>
            <p14:sldId id="258"/>
            <p14:sldId id="259"/>
            <p14:sldId id="260"/>
            <p14:sldId id="261"/>
          </p14:sldIdLst>
        </p14:section>
        <p14:section name="Product tour" id="{fe41c191-62d4-7202-fcdc-ad1c0898de59}">
          <p14:sldIdLst>
            <p14:sldId id="262"/>
            <p14:sldId id="263"/>
            <p14:sldId id="264"/>
            <p14:sldId id="265"/>
            <p14:sldId id="266"/>
            <p14:sldId id="267"/>
          </p14:sldIdLst>
        </p14:section>
        <p14:section name="AI integration" id="{9e803200-be6d-62e2-b017-e6a00a95045e}">
          <p14:sldIdLst>
            <p14:sldId id="268"/>
            <p14:sldId id="269"/>
            <p14:sldId id="270"/>
            <p14:sldId id="271"/>
          </p14:sldIdLst>
        </p14:section>
        <p14:section name="Trust &amp; next steps" id="{0efc9288-8ee8-8b5e-e8c8-60100a6fdf87}">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HospitiumRIS is a Research Information System built specifically for hospitals, medical schools and health research organisations. Developed by TCC Africa, it brings proposals, ethics, grants, clinical trials, manuscripts, publications and impact reporting into one platform. Today I will show you the problems it solves, who it serves, and the product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session: about 30 to 40 minutes, with a live demo optional after the product tour. Call out section 4 — AI integration — as something most research information systems do not offer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prospect which of these they recognise. Most teaching hospitals and universities experience all five: data spread across departments, reports compiled manually, poor visibility of outputs, ethics and compliance tracked on paper or spreadsheets, and no single source of truth about their researchers. Pause here and let them describe their own version of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message. HospitiumRIS covers the full lifecycle: an idea becomes a proposal, gets ethics approval, gets funded, runs as a project or clinical trial, is written up collaboratively, is published, and its impact is measured. Because it all happens in one system, the institution gets three outcomes: everything is centralised, compliance is built in rather than bolted on, and research output becomes visible to funders, partners and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HospitiumRIS is built for the full spectrum of health research institutions, from small research units to national referral hospitals. Point to the two or three types that match the prospect: a university teaching hospital will care about running research alongside clinical care; an ethics review board about online applications and approval tracking; a health ministry about a national view of research activity and compliance. Every type works on the same shared research record, which removes duplicate entry and reporting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architecture in business terms. There is one research record at the centre — people, projects, proposals, ethics, trials, grants, manuscripts, publications and datasets. Each audience gets its own portal on top of that record, with permissions that control what they see. The AI layer reads from the same record to produce summaries and insights, so it always works on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researcher home screen. Point out the personalised greeting, the research analytics chart, and project health on the right. Researchers can rearrange widgets and the layout is remembered. The interface is available in 19 languages, which matters for multi-country networks and francophone or lusophone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researcher gets a profile that fills itself from their publications and ORCID record. They can export an academic CV for grant applications and share a public profile link. For the institution, this becomes a searchable directory of expertise — useful for finding reviewers, collaborators and principal investigators.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can pull in their entire publication record in minutes from PubMed, Crossref, OpenAlex and Research4Life, or upload existing libraries from EndNote, Mendeley, Zotero or BibTeX. Duplicates are matched by DOI. For the institution, this means a complete, clean publications register with no manual data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Manuscripts are co-authored inside HospitiumRIS, so drafts stop living in email attachments. Collaborators are invited by ORCID or email with role-based permissions, see each other online, and use track changes, comments and version history. Citations come straight from the publication library. When a paper is ready, it moves into review and, once published, links back to the proposal and project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researcher view of proposals, with status, review pipeline and budget. Right: the foundation or research-office view of internal grant requests moving through intake, review and final decision. Review stages are configurable per institution. Every decision is recorded, which gives leadership and funders a clean audit trail and makes it easy to see where proposals are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hospitals and clinical research units this is often the deciding slide. Ethics applications are submitted and reviewed online, with reference numbers, conditions and expiry dates tracked automatically. Clinical trials can be exported in the formats required by ClinicalTrials.gov, the Pan African Clinical Trials Registry and WHO ICTRP. Image integrity screening helps the institution catch problems before a paper goes out, protecting its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AI as a theme that runs through the platform rather than a separate product. Six capabilities are live today: AI publication summaries with keyword extraction; AI insights on the impact, compliance and project dashboards; automated image-integrity detection through the ImaChek integration; and automated pre-review checks that screen submissions before a human reviewer sees them. The next slides show these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point: open any publication and click the AI Preview icon. HospitiumRIS sends the title and abstract to the configured AI model and returns a structured summary with key findings and extracted keywords. This helps research offices report on outputs, helps communications teams write news items, and helps leadership understand work outside their own specialty. Summaries are clearly labelled as AI-generated. (The summary shown here is illustrative demo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Dashboards usually show numbers and leave people to interpret them. HospitiumRIS adds an AI insights panel to the impact, compliance and projects dashboards. It reads the user's own metrics and returns a short narrative, specific recommendations and a priority to act on. If the AI service is unavailable, the platform falls back to rule-based insights automatically. (Insight text shown is illustrative demo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leadership view. Trial intelligence shows enrolment against targets, the mix of trials by phase, success rates, how often trials lead to publications, and where funding comes from. These are the numbers boards, ministries and funders ask for, available on demand and exportable. (Figures shown are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technical and procurement questions early. HospitiumRIS is built on persistent identifiers (ORCID for people, Crossref for publications, DataCite for datasets), so the institution's data stays interoperable. Access is role-based, institutional email domains are verified, and activity is logged for audit. It can be hosted for the client or deployed on their own infrastructure with Docker, and supports multiple institutions under one central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the prospect cares about most rather than reading every line. The theme is the same in each row: work that today depends on manual effort and individual memory becomes a shared, live system. This is where the return on investment comes from — less administrative time, faster approvals, and better funder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phases. Discover: we map their current workflows and forms. Configure: roles, review pipelines and verified domains. Migrate: publications are imported automatically from PubMed, Crossref and OpenAlex, and active proposals and approvals are brought across. Train: short role-based sessions. Go live: launch with support and review adoption together. Adjust timeframes and what is included to match your commercial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Propose a tailored demo using the prospect's own workflows, then a pilot with one department or research unit, then institution-wide rollout. Agree on the pilot scope and a date for the demo before leaving the meeting. Add your own contact details and any commercial terms before sending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CONTENT">
    <p:bg>
      <p:bgPr>
        <a:solidFill>
          <a:srgbClr val="FFFFFF"/>
        </a:solidFill>
      </p:bgPr>
    </p:bg>
    <p:spTree>
      <p:nvGrpSpPr>
        <p:cNvPr id="1" name=""/>
        <p:cNvGrpSpPr/>
        <p:nvPr/>
      </p:nvGrpSpPr>
      <p:grpSpPr>
        <a:xfrm>
          <a:off x="0" y="0"/>
          <a:ext cx="0" cy="0"/>
          <a:chOff x="0" y="0"/>
          <a:chExt cx="0" cy="0"/>
        </a:xfrm>
      </p:grpSpPr>
      <p:pic>
        <p:nvPicPr>
          <p:cNvPr id="2" name="Image 0" descr="/home/claude/deck/img/hospitium-logo.png">    </p:cNvPr>
          <p:cNvPicPr>
            <a:picLocks noChangeAspect="1"/>
          </p:cNvPicPr>
          <p:nvPr/>
        </p:nvPicPr>
        <p:blipFill>
          <a:blip r:embed="rId1"/>
          <a:stretch>
            <a:fillRect/>
          </a:stretch>
        </p:blipFill>
        <p:spPr>
          <a:xfrm>
            <a:off x="10378440" y="6382512"/>
            <a:ext cx="1280160" cy="274320"/>
          </a:xfrm>
          <a:prstGeom prst="rect">
            <a:avLst/>
          </a:prstGeom>
        </p:spPr>
      </p:pic>
      <p:sp>
        <p:nvSpPr>
          <p:cNvPr id="3" name="Text 0"/>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B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deck/img/hospitium-logo-dark.png">    </p:cNvPr>
          <p:cNvPicPr>
            <a:picLocks noChangeAspect="1"/>
          </p:cNvPicPr>
          <p:nvPr/>
        </p:nvPicPr>
        <p:blipFill>
          <a:blip r:embed="rId1"/>
          <a:stretch>
            <a:fillRect/>
          </a:stretch>
        </p:blipFill>
        <p:spPr>
          <a:xfrm>
            <a:off x="548640" y="502920"/>
            <a:ext cx="2194560" cy="507492"/>
          </a:xfrm>
          <a:prstGeom prst="rect">
            <a:avLst/>
          </a:prstGeom>
        </p:spPr>
      </p:pic>
      <p:sp>
        <p:nvSpPr>
          <p:cNvPr id="3" name="Text 0"/>
          <p:cNvSpPr txBox="1"/>
          <p:nvPr/>
        </p:nvSpPr>
        <p:spPr>
          <a:xfrm>
            <a:off x="548640" y="1600200"/>
            <a:ext cx="5303520" cy="365760"/>
          </a:xfrm>
          <a:prstGeom prst="rect">
            <a:avLst/>
          </a:prstGeom>
          <a:noFill/>
          <a:ln/>
        </p:spPr>
        <p:txBody>
          <a:bodyPr wrap="square" lIns="0" tIns="0" rIns="0" bIns="0" rtlCol="0" anchor="ctr"/>
          <a:lstStyle/>
          <a:p>
            <a:pPr indent="0" marL="0">
              <a:buNone/>
            </a:pPr>
            <a:r>
              <a:rPr lang="en-US" sz="1100" b="1" spc="200" kern="0" dirty="0">
                <a:solidFill>
                  <a:srgbClr val="9FD8EA"/>
                </a:solidFill>
              </a:rPr>
              <a:t>AI-POWERED RESEARCH INFORMATION SYSTEM</a:t>
            </a:r>
            <a:endParaRPr lang="en-US" sz="1100" dirty="0"/>
          </a:p>
        </p:txBody>
      </p:sp>
      <p:sp>
        <p:nvSpPr>
          <p:cNvPr id="4" name="Text 1"/>
          <p:cNvSpPr txBox="1"/>
          <p:nvPr/>
        </p:nvSpPr>
        <p:spPr>
          <a:xfrm>
            <a:off x="548640" y="2148840"/>
            <a:ext cx="4937760" cy="17373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Transforming Hospital Research Management</a:t>
            </a:r>
            <a:endParaRPr lang="en-US" sz="4000" dirty="0"/>
          </a:p>
        </p:txBody>
      </p:sp>
      <p:sp>
        <p:nvSpPr>
          <p:cNvPr id="5" name="Text 2"/>
          <p:cNvSpPr txBox="1"/>
          <p:nvPr/>
        </p:nvSpPr>
        <p:spPr>
          <a:xfrm>
            <a:off x="548640" y="4160520"/>
            <a:ext cx="4572000" cy="822960"/>
          </a:xfrm>
          <a:prstGeom prst="rect">
            <a:avLst/>
          </a:prstGeom>
          <a:noFill/>
          <a:ln/>
        </p:spPr>
        <p:txBody>
          <a:bodyPr wrap="square" lIns="0" tIns="0" rIns="0" bIns="0" rtlCol="0" anchor="t"/>
          <a:lstStyle/>
          <a:p>
            <a:pPr indent="0" marL="0">
              <a:buNone/>
            </a:pPr>
            <a:r>
              <a:rPr lang="en-US" sz="1600" dirty="0">
                <a:solidFill>
                  <a:srgbClr val="D6D2EA"/>
                </a:solidFill>
              </a:rPr>
              <a:t>One secure platform that takes every study from proposal to publication — and proves its impact.</a:t>
            </a:r>
            <a:endParaRPr lang="en-US" sz="1600" dirty="0"/>
          </a:p>
        </p:txBody>
      </p:sp>
      <p:sp>
        <p:nvSpPr>
          <p:cNvPr id="6" name="Text 3"/>
          <p:cNvSpPr txBox="1"/>
          <p:nvPr/>
        </p:nvSpPr>
        <p:spPr>
          <a:xfrm>
            <a:off x="548640" y="6035040"/>
            <a:ext cx="5486400" cy="320040"/>
          </a:xfrm>
          <a:prstGeom prst="rect">
            <a:avLst/>
          </a:prstGeom>
          <a:noFill/>
          <a:ln/>
        </p:spPr>
        <p:txBody>
          <a:bodyPr wrap="square" lIns="0" tIns="0" rIns="0" bIns="0" rtlCol="0" anchor="ctr"/>
          <a:lstStyle/>
          <a:p>
            <a:pPr indent="0" marL="0">
              <a:buNone/>
            </a:pPr>
            <a:r>
              <a:rPr lang="en-US" sz="1100" dirty="0">
                <a:solidFill>
                  <a:srgbClr val="A9A5C6"/>
                </a:solidFill>
              </a:rPr>
              <a:t>Developed by TCC Africa  ·  hospitium.hospitiumris.org</a:t>
            </a:r>
            <a:endParaRPr lang="en-US" sz="1100" dirty="0"/>
          </a:p>
        </p:txBody>
      </p:sp>
      <p:sp>
        <p:nvSpPr>
          <p:cNvPr id="7" name="Dashboard frame"/>
          <p:cNvSpPr/>
          <p:nvPr/>
        </p:nvSpPr>
        <p:spPr>
          <a:xfrm>
            <a:off x="5989320" y="1417320"/>
            <a:ext cx="5760720" cy="3626403"/>
          </a:xfrm>
          <a:prstGeom prst="roundRect">
            <a:avLst>
              <a:gd name="adj" fmla="val 2017"/>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8" name="Shape 5"/>
          <p:cNvSpPr/>
          <p:nvPr/>
        </p:nvSpPr>
        <p:spPr>
          <a:xfrm>
            <a:off x="6117336" y="1490472"/>
            <a:ext cx="91440" cy="91440"/>
          </a:xfrm>
          <a:prstGeom prst="ellipse">
            <a:avLst/>
          </a:prstGeom>
          <a:solidFill>
            <a:srgbClr val="E86B6B"/>
          </a:solidFill>
          <a:ln w="12700">
            <a:solidFill>
              <a:srgbClr val="E86B6B"/>
            </a:solidFill>
            <a:prstDash val="solid"/>
          </a:ln>
        </p:spPr>
      </p:sp>
      <p:sp>
        <p:nvSpPr>
          <p:cNvPr id="9" name="Shape 6"/>
          <p:cNvSpPr/>
          <p:nvPr/>
        </p:nvSpPr>
        <p:spPr>
          <a:xfrm>
            <a:off x="6263640" y="1490472"/>
            <a:ext cx="91440" cy="91440"/>
          </a:xfrm>
          <a:prstGeom prst="ellipse">
            <a:avLst/>
          </a:prstGeom>
          <a:solidFill>
            <a:srgbClr val="F2C14E"/>
          </a:solidFill>
          <a:ln w="12700">
            <a:solidFill>
              <a:srgbClr val="F2C14E"/>
            </a:solidFill>
            <a:prstDash val="solid"/>
          </a:ln>
        </p:spPr>
      </p:sp>
      <p:sp>
        <p:nvSpPr>
          <p:cNvPr id="10" name="Shape 7"/>
          <p:cNvSpPr/>
          <p:nvPr/>
        </p:nvSpPr>
        <p:spPr>
          <a:xfrm>
            <a:off x="6409944" y="1490472"/>
            <a:ext cx="91440" cy="91440"/>
          </a:xfrm>
          <a:prstGeom prst="ellipse">
            <a:avLst/>
          </a:prstGeom>
          <a:solidFill>
            <a:srgbClr val="5DBB7A"/>
          </a:solidFill>
          <a:ln w="12700">
            <a:solidFill>
              <a:srgbClr val="5DBB7A"/>
            </a:solidFill>
            <a:prstDash val="solid"/>
          </a:ln>
        </p:spPr>
      </p:sp>
      <p:pic>
        <p:nvPicPr>
          <p:cNvPr id="11" name="Dashboard screenshot" descr="/home/claude/deck/img/r_dash.png">    </p:cNvPr>
          <p:cNvPicPr>
            <a:picLocks noChangeAspect="1"/>
          </p:cNvPicPr>
          <p:nvPr/>
        </p:nvPicPr>
        <p:blipFill>
          <a:blip r:embed="rId2"/>
          <a:stretch>
            <a:fillRect/>
          </a:stretch>
        </p:blipFill>
        <p:spPr>
          <a:xfrm>
            <a:off x="6016752" y="1655064"/>
            <a:ext cx="5705856" cy="3356386"/>
          </a:xfrm>
          <a:prstGeom prst="rect">
            <a:avLst/>
          </a:prstGeom>
        </p:spPr>
      </p:pic>
      <p:sp>
        <p:nvSpPr>
          <p:cNvPr id="13"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we will cover</a:t>
            </a:r>
            <a:endParaRPr lang="en-US" sz="3200" dirty="0"/>
          </a:p>
        </p:txBody>
      </p:sp>
      <p:sp>
        <p:nvSpPr>
          <p:cNvPr id="3" name="Agenda 01"/>
          <p:cNvSpPr/>
          <p:nvPr/>
        </p:nvSpPr>
        <p:spPr>
          <a:xfrm>
            <a:off x="548640" y="1463040"/>
            <a:ext cx="5440680" cy="1325880"/>
          </a:xfrm>
          <a:prstGeom prst="roundRect">
            <a:avLst>
              <a:gd name="adj" fmla="val 6897"/>
            </a:avLst>
          </a:prstGeom>
          <a:solidFill>
            <a:srgbClr val="F6F4FB"/>
          </a:solidFill>
          <a:ln w="9525">
            <a:solidFill>
              <a:srgbClr val="DDD8EC"/>
            </a:solidFill>
            <a:prstDash val="solid"/>
          </a:ln>
        </p:spPr>
      </p:sp>
      <p:sp>
        <p:nvSpPr>
          <p:cNvPr id="4" name="Text 2"/>
          <p:cNvSpPr txBox="1"/>
          <p:nvPr/>
        </p:nvSpPr>
        <p:spPr>
          <a:xfrm>
            <a:off x="822960" y="1691640"/>
            <a:ext cx="914400" cy="822960"/>
          </a:xfrm>
          <a:prstGeom prst="rect">
            <a:avLst/>
          </a:prstGeom>
          <a:noFill/>
          <a:ln/>
        </p:spPr>
        <p:txBody>
          <a:bodyPr wrap="square" lIns="0" tIns="0" rIns="0" bIns="0" rtlCol="0" anchor="ctr"/>
          <a:lstStyle/>
          <a:p>
            <a:pPr indent="0" marL="0">
              <a:buNone/>
            </a:pPr>
            <a:r>
              <a:rPr lang="en-US" sz="3600" b="1" dirty="0">
                <a:solidFill>
                  <a:srgbClr val="7E5BB5"/>
                </a:solidFill>
                <a:latin typeface="Arial" pitchFamily="34" charset="0"/>
                <a:ea typeface="Arial" pitchFamily="34" charset="-122"/>
                <a:cs typeface="Arial" pitchFamily="34" charset="-120"/>
              </a:rPr>
              <a:t>01</a:t>
            </a:r>
            <a:endParaRPr lang="en-US" sz="3600" dirty="0"/>
          </a:p>
        </p:txBody>
      </p:sp>
      <p:sp>
        <p:nvSpPr>
          <p:cNvPr id="5" name="Text 3"/>
          <p:cNvSpPr txBox="1"/>
          <p:nvPr/>
        </p:nvSpPr>
        <p:spPr>
          <a:xfrm>
            <a:off x="1874520" y="166420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The challenge</a:t>
            </a:r>
            <a:endParaRPr lang="en-US" sz="1800" dirty="0"/>
          </a:p>
        </p:txBody>
      </p:sp>
      <p:sp>
        <p:nvSpPr>
          <p:cNvPr id="6" name="Text 4"/>
          <p:cNvSpPr txBox="1"/>
          <p:nvPr/>
        </p:nvSpPr>
        <p:spPr>
          <a:xfrm>
            <a:off x="1874520" y="2066544"/>
            <a:ext cx="3931920" cy="594360"/>
          </a:xfrm>
          <a:prstGeom prst="rect">
            <a:avLst/>
          </a:prstGeom>
          <a:noFill/>
          <a:ln/>
        </p:spPr>
        <p:txBody>
          <a:bodyPr wrap="square" lIns="0" tIns="0" rIns="0" bIns="0" rtlCol="0" anchor="t"/>
          <a:lstStyle/>
          <a:p>
            <a:pPr indent="0" marL="0">
              <a:buNone/>
            </a:pPr>
            <a:r>
              <a:rPr lang="en-US" sz="1400" dirty="0">
                <a:solidFill>
                  <a:schemeClr val="tx1"/>
                </a:solidFill>
              </a:rPr>
              <a:t>Why health research is hard to see, fund and govern today</a:t>
            </a:r>
            <a:endParaRPr lang="en-US" sz="1400" dirty="0"/>
          </a:p>
        </p:txBody>
      </p:sp>
      <p:sp>
        <p:nvSpPr>
          <p:cNvPr id="7" name="Agenda 02"/>
          <p:cNvSpPr/>
          <p:nvPr/>
        </p:nvSpPr>
        <p:spPr>
          <a:xfrm>
            <a:off x="6172200" y="1463040"/>
            <a:ext cx="5440680" cy="1325880"/>
          </a:xfrm>
          <a:prstGeom prst="roundRect">
            <a:avLst>
              <a:gd name="adj" fmla="val 6897"/>
            </a:avLst>
          </a:prstGeom>
          <a:solidFill>
            <a:srgbClr val="F6F4FB"/>
          </a:solidFill>
          <a:ln w="9525">
            <a:solidFill>
              <a:srgbClr val="DDD8EC"/>
            </a:solidFill>
            <a:prstDash val="solid"/>
          </a:ln>
        </p:spPr>
      </p:sp>
      <p:sp>
        <p:nvSpPr>
          <p:cNvPr id="8" name="Text 6"/>
          <p:cNvSpPr txBox="1"/>
          <p:nvPr/>
        </p:nvSpPr>
        <p:spPr>
          <a:xfrm>
            <a:off x="6446520" y="1691640"/>
            <a:ext cx="914400" cy="822960"/>
          </a:xfrm>
          <a:prstGeom prst="rect">
            <a:avLst/>
          </a:prstGeom>
          <a:noFill/>
          <a:ln/>
        </p:spPr>
        <p:txBody>
          <a:bodyPr wrap="square" lIns="0" tIns="0" rIns="0" bIns="0" rtlCol="0" anchor="ctr"/>
          <a:lstStyle/>
          <a:p>
            <a:pPr indent="0" marL="0">
              <a:buNone/>
            </a:pPr>
            <a:r>
              <a:rPr lang="en-US" sz="3600" b="1" dirty="0">
                <a:solidFill>
                  <a:srgbClr val="2A9DC0"/>
                </a:solidFill>
                <a:latin typeface="Arial" pitchFamily="34" charset="0"/>
                <a:ea typeface="Arial" pitchFamily="34" charset="-122"/>
                <a:cs typeface="Arial" pitchFamily="34" charset="-120"/>
              </a:rPr>
              <a:t>02</a:t>
            </a:r>
            <a:endParaRPr lang="en-US" sz="3600" dirty="0"/>
          </a:p>
        </p:txBody>
      </p:sp>
      <p:sp>
        <p:nvSpPr>
          <p:cNvPr id="9" name="Text 7"/>
          <p:cNvSpPr txBox="1"/>
          <p:nvPr/>
        </p:nvSpPr>
        <p:spPr>
          <a:xfrm>
            <a:off x="7498080" y="166420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Our value proposition</a:t>
            </a:r>
            <a:endParaRPr lang="en-US" sz="1800" dirty="0"/>
          </a:p>
        </p:txBody>
      </p:sp>
      <p:sp>
        <p:nvSpPr>
          <p:cNvPr id="10" name="Text 8"/>
          <p:cNvSpPr txBox="1"/>
          <p:nvPr/>
        </p:nvSpPr>
        <p:spPr>
          <a:xfrm>
            <a:off x="7498080" y="2066544"/>
            <a:ext cx="3931920" cy="594360"/>
          </a:xfrm>
          <a:prstGeom prst="rect">
            <a:avLst/>
          </a:prstGeom>
          <a:noFill/>
          <a:ln/>
        </p:spPr>
        <p:txBody>
          <a:bodyPr wrap="square" lIns="0" tIns="0" rIns="0" bIns="0" rtlCol="0" anchor="t"/>
          <a:lstStyle/>
          <a:p>
            <a:pPr indent="0" marL="0">
              <a:buNone/>
            </a:pPr>
            <a:r>
              <a:rPr lang="en-US" sz="1400" dirty="0">
                <a:solidFill>
                  <a:schemeClr val="tx1"/>
                </a:solidFill>
              </a:rPr>
              <a:t>One platform for the full research lifecycle, built for every type of health research institution</a:t>
            </a:r>
            <a:endParaRPr lang="en-US" sz="1400" dirty="0"/>
          </a:p>
        </p:txBody>
      </p:sp>
      <p:sp>
        <p:nvSpPr>
          <p:cNvPr id="11" name="Agenda 03"/>
          <p:cNvSpPr/>
          <p:nvPr/>
        </p:nvSpPr>
        <p:spPr>
          <a:xfrm>
            <a:off x="548640" y="3017520"/>
            <a:ext cx="5440680" cy="1325880"/>
          </a:xfrm>
          <a:prstGeom prst="roundRect">
            <a:avLst>
              <a:gd name="adj" fmla="val 6897"/>
            </a:avLst>
          </a:prstGeom>
          <a:solidFill>
            <a:srgbClr val="F6F4FB"/>
          </a:solidFill>
          <a:ln w="9525">
            <a:solidFill>
              <a:srgbClr val="DDD8EC"/>
            </a:solidFill>
            <a:prstDash val="solid"/>
          </a:ln>
        </p:spPr>
      </p:sp>
      <p:sp>
        <p:nvSpPr>
          <p:cNvPr id="12" name="Text 10"/>
          <p:cNvSpPr txBox="1"/>
          <p:nvPr/>
        </p:nvSpPr>
        <p:spPr>
          <a:xfrm>
            <a:off x="822960" y="3246120"/>
            <a:ext cx="914400" cy="822960"/>
          </a:xfrm>
          <a:prstGeom prst="rect">
            <a:avLst/>
          </a:prstGeom>
          <a:noFill/>
          <a:ln/>
        </p:spPr>
        <p:txBody>
          <a:bodyPr wrap="square" lIns="0" tIns="0" rIns="0" bIns="0" rtlCol="0" anchor="ctr"/>
          <a:lstStyle/>
          <a:p>
            <a:pPr indent="0" marL="0">
              <a:buNone/>
            </a:pPr>
            <a:r>
              <a:rPr lang="en-US" sz="3600" b="1" dirty="0">
                <a:solidFill>
                  <a:srgbClr val="7E5BB5"/>
                </a:solidFill>
                <a:latin typeface="Arial" pitchFamily="34" charset="0"/>
                <a:ea typeface="Arial" pitchFamily="34" charset="-122"/>
                <a:cs typeface="Arial" pitchFamily="34" charset="-120"/>
              </a:rPr>
              <a:t>03</a:t>
            </a:r>
            <a:endParaRPr lang="en-US" sz="3600" dirty="0"/>
          </a:p>
        </p:txBody>
      </p:sp>
      <p:sp>
        <p:nvSpPr>
          <p:cNvPr id="13" name="Text 11"/>
          <p:cNvSpPr txBox="1"/>
          <p:nvPr/>
        </p:nvSpPr>
        <p:spPr>
          <a:xfrm>
            <a:off x="1874520" y="321868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Product tour</a:t>
            </a:r>
            <a:endParaRPr lang="en-US" sz="1800" dirty="0"/>
          </a:p>
        </p:txBody>
      </p:sp>
      <p:sp>
        <p:nvSpPr>
          <p:cNvPr id="14" name="Text 12"/>
          <p:cNvSpPr txBox="1"/>
          <p:nvPr/>
        </p:nvSpPr>
        <p:spPr>
          <a:xfrm>
            <a:off x="1874520" y="3621024"/>
            <a:ext cx="3931920" cy="594360"/>
          </a:xfrm>
          <a:prstGeom prst="rect">
            <a:avLst/>
          </a:prstGeom>
          <a:noFill/>
          <a:ln/>
        </p:spPr>
        <p:txBody>
          <a:bodyPr wrap="square" lIns="0" tIns="0" rIns="0" bIns="0" rtlCol="0" anchor="t"/>
          <a:lstStyle/>
          <a:p>
            <a:pPr indent="0" marL="0">
              <a:buNone/>
            </a:pPr>
            <a:r>
              <a:rPr lang="en-US" sz="1400" dirty="0">
                <a:solidFill>
                  <a:schemeClr val="tx1"/>
                </a:solidFill>
              </a:rPr>
              <a:t>Real screens: dashboards, publications, manuscripts, proposals, ethics and trials</a:t>
            </a:r>
            <a:endParaRPr lang="en-US" sz="1400" dirty="0"/>
          </a:p>
        </p:txBody>
      </p:sp>
      <p:sp>
        <p:nvSpPr>
          <p:cNvPr id="15" name="Agenda 04"/>
          <p:cNvSpPr/>
          <p:nvPr/>
        </p:nvSpPr>
        <p:spPr>
          <a:xfrm>
            <a:off x="6172200" y="3017520"/>
            <a:ext cx="5440680" cy="1325880"/>
          </a:xfrm>
          <a:prstGeom prst="roundRect">
            <a:avLst>
              <a:gd name="adj" fmla="val 6897"/>
            </a:avLst>
          </a:prstGeom>
          <a:solidFill>
            <a:srgbClr val="EFEAF8"/>
          </a:solidFill>
          <a:ln w="9525">
            <a:solidFill>
              <a:srgbClr val="C9B9E8"/>
            </a:solidFill>
            <a:prstDash val="solid"/>
          </a:ln>
        </p:spPr>
      </p:sp>
      <p:sp>
        <p:nvSpPr>
          <p:cNvPr id="16" name="Text 14"/>
          <p:cNvSpPr txBox="1"/>
          <p:nvPr/>
        </p:nvSpPr>
        <p:spPr>
          <a:xfrm>
            <a:off x="6446520" y="3246120"/>
            <a:ext cx="914400" cy="822960"/>
          </a:xfrm>
          <a:prstGeom prst="rect">
            <a:avLst/>
          </a:prstGeom>
          <a:noFill/>
          <a:ln/>
        </p:spPr>
        <p:txBody>
          <a:bodyPr wrap="square" lIns="0" tIns="0" rIns="0" bIns="0" rtlCol="0" anchor="ctr"/>
          <a:lstStyle/>
          <a:p>
            <a:pPr indent="0" marL="0">
              <a:buNone/>
            </a:pPr>
            <a:r>
              <a:rPr lang="en-US" sz="3600" b="1" dirty="0">
                <a:solidFill>
                  <a:srgbClr val="2A9DC0"/>
                </a:solidFill>
                <a:latin typeface="Arial" pitchFamily="34" charset="0"/>
                <a:ea typeface="Arial" pitchFamily="34" charset="-122"/>
                <a:cs typeface="Arial" pitchFamily="34" charset="-120"/>
              </a:rPr>
              <a:t>04</a:t>
            </a:r>
            <a:endParaRPr lang="en-US" sz="3600" dirty="0"/>
          </a:p>
        </p:txBody>
      </p:sp>
      <p:sp>
        <p:nvSpPr>
          <p:cNvPr id="17" name="Text 15"/>
          <p:cNvSpPr txBox="1"/>
          <p:nvPr/>
        </p:nvSpPr>
        <p:spPr>
          <a:xfrm>
            <a:off x="7498080" y="321868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AI integration</a:t>
            </a:r>
            <a:endParaRPr lang="en-US" sz="1800" dirty="0"/>
          </a:p>
        </p:txBody>
      </p:sp>
      <p:sp>
        <p:nvSpPr>
          <p:cNvPr id="18" name="Text 16"/>
          <p:cNvSpPr txBox="1"/>
          <p:nvPr/>
        </p:nvSpPr>
        <p:spPr>
          <a:xfrm>
            <a:off x="7498080" y="3621024"/>
            <a:ext cx="3931920" cy="594360"/>
          </a:xfrm>
          <a:prstGeom prst="rect">
            <a:avLst/>
          </a:prstGeom>
          <a:noFill/>
          <a:ln/>
        </p:spPr>
        <p:txBody>
          <a:bodyPr wrap="square" lIns="0" tIns="0" rIns="0" bIns="0" rtlCol="0" anchor="t"/>
          <a:lstStyle/>
          <a:p>
            <a:pPr indent="0" marL="0">
              <a:buNone/>
            </a:pPr>
            <a:r>
              <a:rPr lang="en-US" sz="1400" dirty="0">
                <a:solidFill>
                  <a:schemeClr val="tx1"/>
                </a:solidFill>
              </a:rPr>
              <a:t>What the built-in AI does today and how it helps every role</a:t>
            </a:r>
            <a:endParaRPr lang="en-US" sz="1400" dirty="0"/>
          </a:p>
        </p:txBody>
      </p:sp>
      <p:sp>
        <p:nvSpPr>
          <p:cNvPr id="19" name="Agenda 05"/>
          <p:cNvSpPr/>
          <p:nvPr/>
        </p:nvSpPr>
        <p:spPr>
          <a:xfrm>
            <a:off x="548640" y="4572000"/>
            <a:ext cx="5440680" cy="1325880"/>
          </a:xfrm>
          <a:prstGeom prst="roundRect">
            <a:avLst>
              <a:gd name="adj" fmla="val 6897"/>
            </a:avLst>
          </a:prstGeom>
          <a:solidFill>
            <a:srgbClr val="F6F4FB"/>
          </a:solidFill>
          <a:ln w="9525">
            <a:solidFill>
              <a:srgbClr val="DDD8EC"/>
            </a:solidFill>
            <a:prstDash val="solid"/>
          </a:ln>
        </p:spPr>
      </p:sp>
      <p:sp>
        <p:nvSpPr>
          <p:cNvPr id="20" name="Text 18"/>
          <p:cNvSpPr txBox="1"/>
          <p:nvPr/>
        </p:nvSpPr>
        <p:spPr>
          <a:xfrm>
            <a:off x="822960" y="4800600"/>
            <a:ext cx="914400" cy="822960"/>
          </a:xfrm>
          <a:prstGeom prst="rect">
            <a:avLst/>
          </a:prstGeom>
          <a:noFill/>
          <a:ln/>
        </p:spPr>
        <p:txBody>
          <a:bodyPr wrap="square" lIns="0" tIns="0" rIns="0" bIns="0" rtlCol="0" anchor="ctr"/>
          <a:lstStyle/>
          <a:p>
            <a:pPr indent="0" marL="0">
              <a:buNone/>
            </a:pPr>
            <a:r>
              <a:rPr lang="en-US" sz="3600" b="1" dirty="0">
                <a:solidFill>
                  <a:srgbClr val="7E5BB5"/>
                </a:solidFill>
                <a:latin typeface="Arial" pitchFamily="34" charset="0"/>
                <a:ea typeface="Arial" pitchFamily="34" charset="-122"/>
                <a:cs typeface="Arial" pitchFamily="34" charset="-120"/>
              </a:rPr>
              <a:t>05</a:t>
            </a:r>
            <a:endParaRPr lang="en-US" sz="3600" dirty="0"/>
          </a:p>
        </p:txBody>
      </p:sp>
      <p:sp>
        <p:nvSpPr>
          <p:cNvPr id="21" name="Text 19"/>
          <p:cNvSpPr txBox="1"/>
          <p:nvPr/>
        </p:nvSpPr>
        <p:spPr>
          <a:xfrm>
            <a:off x="1874520" y="477316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Trust &amp; deployment</a:t>
            </a:r>
            <a:endParaRPr lang="en-US" sz="1800" dirty="0"/>
          </a:p>
        </p:txBody>
      </p:sp>
      <p:sp>
        <p:nvSpPr>
          <p:cNvPr id="22" name="Text 20"/>
          <p:cNvSpPr txBox="1"/>
          <p:nvPr/>
        </p:nvSpPr>
        <p:spPr>
          <a:xfrm>
            <a:off x="1874520" y="5175504"/>
            <a:ext cx="3931920" cy="594360"/>
          </a:xfrm>
          <a:prstGeom prst="rect">
            <a:avLst/>
          </a:prstGeom>
          <a:noFill/>
          <a:ln/>
        </p:spPr>
        <p:txBody>
          <a:bodyPr wrap="square" lIns="0" tIns="0" rIns="0" bIns="0" rtlCol="0" anchor="t"/>
          <a:lstStyle/>
          <a:p>
            <a:pPr indent="0" marL="0">
              <a:buNone/>
            </a:pPr>
            <a:r>
              <a:rPr lang="en-US" sz="1400" dirty="0">
                <a:solidFill>
                  <a:schemeClr val="tx1"/>
                </a:solidFill>
              </a:rPr>
              <a:t>Integrations, security, hosting options and the change for your institution</a:t>
            </a:r>
            <a:endParaRPr lang="en-US" sz="1400" dirty="0"/>
          </a:p>
        </p:txBody>
      </p:sp>
      <p:sp>
        <p:nvSpPr>
          <p:cNvPr id="23" name="Agenda 06"/>
          <p:cNvSpPr/>
          <p:nvPr/>
        </p:nvSpPr>
        <p:spPr>
          <a:xfrm>
            <a:off x="6172200" y="4572000"/>
            <a:ext cx="5440680" cy="1325880"/>
          </a:xfrm>
          <a:prstGeom prst="roundRect">
            <a:avLst>
              <a:gd name="adj" fmla="val 6897"/>
            </a:avLst>
          </a:prstGeom>
          <a:solidFill>
            <a:srgbClr val="F6F4FB"/>
          </a:solidFill>
          <a:ln w="9525">
            <a:solidFill>
              <a:srgbClr val="DDD8EC"/>
            </a:solidFill>
            <a:prstDash val="solid"/>
          </a:ln>
        </p:spPr>
      </p:sp>
      <p:sp>
        <p:nvSpPr>
          <p:cNvPr id="24" name="Text 22"/>
          <p:cNvSpPr txBox="1"/>
          <p:nvPr/>
        </p:nvSpPr>
        <p:spPr>
          <a:xfrm>
            <a:off x="6446520" y="4800600"/>
            <a:ext cx="914400" cy="822960"/>
          </a:xfrm>
          <a:prstGeom prst="rect">
            <a:avLst/>
          </a:prstGeom>
          <a:noFill/>
          <a:ln/>
        </p:spPr>
        <p:txBody>
          <a:bodyPr wrap="square" lIns="0" tIns="0" rIns="0" bIns="0" rtlCol="0" anchor="ctr"/>
          <a:lstStyle/>
          <a:p>
            <a:pPr indent="0" marL="0">
              <a:buNone/>
            </a:pPr>
            <a:r>
              <a:rPr lang="en-US" sz="3600" b="1" dirty="0">
                <a:solidFill>
                  <a:srgbClr val="2A9DC0"/>
                </a:solidFill>
                <a:latin typeface="Arial" pitchFamily="34" charset="0"/>
                <a:ea typeface="Arial" pitchFamily="34" charset="-122"/>
                <a:cs typeface="Arial" pitchFamily="34" charset="-120"/>
              </a:rPr>
              <a:t>06</a:t>
            </a:r>
            <a:endParaRPr lang="en-US" sz="3600" dirty="0"/>
          </a:p>
        </p:txBody>
      </p:sp>
      <p:sp>
        <p:nvSpPr>
          <p:cNvPr id="25" name="Text 23"/>
          <p:cNvSpPr txBox="1"/>
          <p:nvPr/>
        </p:nvSpPr>
        <p:spPr>
          <a:xfrm>
            <a:off x="7498080" y="4773168"/>
            <a:ext cx="3931920" cy="384048"/>
          </a:xfrm>
          <a:prstGeom prst="rect">
            <a:avLst/>
          </a:prstGeom>
          <a:noFill/>
          <a:ln/>
        </p:spPr>
        <p:txBody>
          <a:bodyPr wrap="square" lIns="0" tIns="0" rIns="0" bIns="0" rtlCol="0" anchor="ctr"/>
          <a:lstStyle/>
          <a:p>
            <a:pPr indent="0" marL="0">
              <a:buNone/>
            </a:pPr>
            <a:r>
              <a:rPr lang="en-US" sz="1800" b="1" dirty="0">
                <a:solidFill>
                  <a:schemeClr val="tx2"/>
                </a:solidFill>
              </a:rPr>
              <a:t>Getting started</a:t>
            </a:r>
            <a:endParaRPr lang="en-US" sz="1800" dirty="0"/>
          </a:p>
        </p:txBody>
      </p:sp>
      <p:sp>
        <p:nvSpPr>
          <p:cNvPr id="26" name="Text 24"/>
          <p:cNvSpPr txBox="1"/>
          <p:nvPr/>
        </p:nvSpPr>
        <p:spPr>
          <a:xfrm>
            <a:off x="7498080" y="5175504"/>
            <a:ext cx="3931920" cy="594360"/>
          </a:xfrm>
          <a:prstGeom prst="rect">
            <a:avLst/>
          </a:prstGeom>
          <a:noFill/>
          <a:ln/>
        </p:spPr>
        <p:txBody>
          <a:bodyPr wrap="square" lIns="0" tIns="0" rIns="0" bIns="0" rtlCol="0" anchor="t"/>
          <a:lstStyle/>
          <a:p>
            <a:pPr indent="0" marL="0">
              <a:buNone/>
            </a:pPr>
            <a:r>
              <a:rPr lang="en-US" sz="1400" dirty="0">
                <a:solidFill>
                  <a:schemeClr val="tx1"/>
                </a:solidFill>
              </a:rPr>
              <a:t>Onboarding plan and next steps toward a pilot</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Health research is happening, but it is hard to see and hard to govern</a:t>
            </a:r>
            <a:endParaRPr lang="en-US" sz="3200" dirty="0"/>
          </a:p>
        </p:txBody>
      </p:sp>
      <p:sp>
        <p:nvSpPr>
          <p:cNvPr id="3" name="Pain card 1"/>
          <p:cNvSpPr/>
          <p:nvPr/>
        </p:nvSpPr>
        <p:spPr>
          <a:xfrm>
            <a:off x="548640" y="1737360"/>
            <a:ext cx="2103120" cy="3291840"/>
          </a:xfrm>
          <a:prstGeom prst="roundRect">
            <a:avLst>
              <a:gd name="adj" fmla="val 4348"/>
            </a:avLst>
          </a:prstGeom>
          <a:solidFill>
            <a:srgbClr val="F6F4FB"/>
          </a:solidFill>
          <a:ln w="9525">
            <a:solidFill>
              <a:srgbClr val="DDD8EC"/>
            </a:solidFill>
            <a:prstDash val="solid"/>
          </a:ln>
        </p:spPr>
      </p:sp>
      <p:sp>
        <p:nvSpPr>
          <p:cNvPr id="4" name="Shape 2"/>
          <p:cNvSpPr/>
          <p:nvPr/>
        </p:nvSpPr>
        <p:spPr>
          <a:xfrm>
            <a:off x="777240" y="2011680"/>
            <a:ext cx="640080" cy="640080"/>
          </a:xfrm>
          <a:prstGeom prst="ellipse">
            <a:avLst/>
          </a:prstGeom>
          <a:solidFill>
            <a:srgbClr val="EFEAF8"/>
          </a:solidFill>
          <a:ln w="12700">
            <a:solidFill>
              <a:srgbClr val="EFEAF8"/>
            </a:solidFill>
            <a:prstDash val="solid"/>
          </a:ln>
        </p:spPr>
      </p:sp>
      <p:pic>
        <p:nvPicPr>
          <p:cNvPr id="5" name="Image 0" descr="preencoded.png">    </p:cNvPr>
          <p:cNvPicPr>
            <a:picLocks noChangeAspect="1"/>
          </p:cNvPicPr>
          <p:nvPr/>
        </p:nvPicPr>
        <p:blipFill>
          <a:blip r:embed="rId1"/>
          <a:stretch>
            <a:fillRect/>
          </a:stretch>
        </p:blipFill>
        <p:spPr>
          <a:xfrm>
            <a:off x="930859" y="2165299"/>
            <a:ext cx="332842" cy="332842"/>
          </a:xfrm>
          <a:prstGeom prst="rect">
            <a:avLst/>
          </a:prstGeom>
        </p:spPr>
      </p:pic>
      <p:sp>
        <p:nvSpPr>
          <p:cNvPr id="6" name="Text 3"/>
          <p:cNvSpPr txBox="1"/>
          <p:nvPr/>
        </p:nvSpPr>
        <p:spPr>
          <a:xfrm>
            <a:off x="777240" y="2788920"/>
            <a:ext cx="1645920" cy="685800"/>
          </a:xfrm>
          <a:prstGeom prst="rect">
            <a:avLst/>
          </a:prstGeom>
          <a:noFill/>
          <a:ln/>
        </p:spPr>
        <p:txBody>
          <a:bodyPr wrap="square" lIns="0" tIns="0" rIns="0" bIns="0" rtlCol="0" anchor="t"/>
          <a:lstStyle/>
          <a:p>
            <a:pPr indent="0" marL="0">
              <a:buNone/>
            </a:pPr>
            <a:r>
              <a:rPr lang="en-US" sz="1600" b="1" dirty="0">
                <a:solidFill>
                  <a:schemeClr val="tx2"/>
                </a:solidFill>
              </a:rPr>
              <a:t>Fragmented data</a:t>
            </a:r>
            <a:endParaRPr lang="en-US" sz="1600" dirty="0"/>
          </a:p>
        </p:txBody>
      </p:sp>
      <p:sp>
        <p:nvSpPr>
          <p:cNvPr id="7" name="Text 4"/>
          <p:cNvSpPr txBox="1"/>
          <p:nvPr/>
        </p:nvSpPr>
        <p:spPr>
          <a:xfrm>
            <a:off x="777240" y="3474720"/>
            <a:ext cx="1645920" cy="1417320"/>
          </a:xfrm>
          <a:prstGeom prst="rect">
            <a:avLst/>
          </a:prstGeom>
          <a:noFill/>
          <a:ln/>
        </p:spPr>
        <p:txBody>
          <a:bodyPr wrap="square" lIns="0" tIns="0" rIns="0" bIns="0" rtlCol="0" anchor="t"/>
          <a:lstStyle/>
          <a:p>
            <a:pPr indent="0" marL="0">
              <a:buNone/>
            </a:pPr>
            <a:r>
              <a:rPr lang="en-US" sz="1400" dirty="0">
                <a:solidFill>
                  <a:schemeClr val="tx1"/>
                </a:solidFill>
              </a:rPr>
              <a:t>Proposals, approvals and outputs sit in spreadsheets, inboxes and departmental folders.</a:t>
            </a:r>
            <a:endParaRPr lang="en-US" sz="1400" dirty="0"/>
          </a:p>
        </p:txBody>
      </p:sp>
      <p:sp>
        <p:nvSpPr>
          <p:cNvPr id="8" name="Pain card 2"/>
          <p:cNvSpPr/>
          <p:nvPr/>
        </p:nvSpPr>
        <p:spPr>
          <a:xfrm>
            <a:off x="2788920" y="1737360"/>
            <a:ext cx="2103120" cy="3291840"/>
          </a:xfrm>
          <a:prstGeom prst="roundRect">
            <a:avLst>
              <a:gd name="adj" fmla="val 4348"/>
            </a:avLst>
          </a:prstGeom>
          <a:solidFill>
            <a:srgbClr val="F6F4FB"/>
          </a:solidFill>
          <a:ln w="9525">
            <a:solidFill>
              <a:srgbClr val="DDD8EC"/>
            </a:solidFill>
            <a:prstDash val="solid"/>
          </a:ln>
        </p:spPr>
      </p:sp>
      <p:sp>
        <p:nvSpPr>
          <p:cNvPr id="9" name="Shape 6"/>
          <p:cNvSpPr/>
          <p:nvPr/>
        </p:nvSpPr>
        <p:spPr>
          <a:xfrm>
            <a:off x="3017520" y="2011680"/>
            <a:ext cx="640080" cy="64008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3171139" y="2165299"/>
            <a:ext cx="332842" cy="332842"/>
          </a:xfrm>
          <a:prstGeom prst="rect">
            <a:avLst/>
          </a:prstGeom>
        </p:spPr>
      </p:pic>
      <p:sp>
        <p:nvSpPr>
          <p:cNvPr id="11" name="Text 7"/>
          <p:cNvSpPr txBox="1"/>
          <p:nvPr/>
        </p:nvSpPr>
        <p:spPr>
          <a:xfrm>
            <a:off x="3017520" y="2788920"/>
            <a:ext cx="1645920" cy="685800"/>
          </a:xfrm>
          <a:prstGeom prst="rect">
            <a:avLst/>
          </a:prstGeom>
          <a:noFill/>
          <a:ln/>
        </p:spPr>
        <p:txBody>
          <a:bodyPr wrap="square" lIns="0" tIns="0" rIns="0" bIns="0" rtlCol="0" anchor="t"/>
          <a:lstStyle/>
          <a:p>
            <a:pPr indent="0" marL="0">
              <a:buNone/>
            </a:pPr>
            <a:r>
              <a:rPr lang="en-US" sz="1600" b="1" dirty="0">
                <a:solidFill>
                  <a:schemeClr val="tx2"/>
                </a:solidFill>
              </a:rPr>
              <a:t>Manual, error-prone reporting</a:t>
            </a:r>
            <a:endParaRPr lang="en-US" sz="1600" dirty="0"/>
          </a:p>
        </p:txBody>
      </p:sp>
      <p:sp>
        <p:nvSpPr>
          <p:cNvPr id="12" name="Text 8"/>
          <p:cNvSpPr txBox="1"/>
          <p:nvPr/>
        </p:nvSpPr>
        <p:spPr>
          <a:xfrm>
            <a:off x="3017520" y="3474720"/>
            <a:ext cx="1645920" cy="1417320"/>
          </a:xfrm>
          <a:prstGeom prst="rect">
            <a:avLst/>
          </a:prstGeom>
          <a:noFill/>
          <a:ln/>
        </p:spPr>
        <p:txBody>
          <a:bodyPr wrap="square" lIns="0" tIns="0" rIns="0" bIns="0" rtlCol="0" anchor="t"/>
          <a:lstStyle/>
          <a:p>
            <a:pPr indent="0" marL="0">
              <a:buNone/>
            </a:pPr>
            <a:r>
              <a:rPr lang="en-US" sz="1400" dirty="0">
                <a:solidFill>
                  <a:schemeClr val="tx1"/>
                </a:solidFill>
              </a:rPr>
              <a:t>Every board report or funder update means chasing researchers for numbers.</a:t>
            </a:r>
            <a:endParaRPr lang="en-US" sz="1400" dirty="0"/>
          </a:p>
        </p:txBody>
      </p:sp>
      <p:sp>
        <p:nvSpPr>
          <p:cNvPr id="13" name="Pain card 3"/>
          <p:cNvSpPr/>
          <p:nvPr/>
        </p:nvSpPr>
        <p:spPr>
          <a:xfrm>
            <a:off x="5029200" y="1737360"/>
            <a:ext cx="2103120" cy="3291840"/>
          </a:xfrm>
          <a:prstGeom prst="roundRect">
            <a:avLst>
              <a:gd name="adj" fmla="val 4348"/>
            </a:avLst>
          </a:prstGeom>
          <a:solidFill>
            <a:srgbClr val="F6F4FB"/>
          </a:solidFill>
          <a:ln w="9525">
            <a:solidFill>
              <a:srgbClr val="DDD8EC"/>
            </a:solidFill>
            <a:prstDash val="solid"/>
          </a:ln>
        </p:spPr>
      </p:sp>
      <p:sp>
        <p:nvSpPr>
          <p:cNvPr id="14" name="Shape 10"/>
          <p:cNvSpPr/>
          <p:nvPr/>
        </p:nvSpPr>
        <p:spPr>
          <a:xfrm>
            <a:off x="5257800" y="2011680"/>
            <a:ext cx="640080" cy="640080"/>
          </a:xfrm>
          <a:prstGeom prst="ellipse">
            <a:avLst/>
          </a:prstGeom>
          <a:solidFill>
            <a:srgbClr val="EFEAF8"/>
          </a:solidFill>
          <a:ln w="12700">
            <a:solidFill>
              <a:srgbClr val="EFEAF8"/>
            </a:solidFill>
            <a:prstDash val="solid"/>
          </a:ln>
        </p:spPr>
      </p:sp>
      <p:pic>
        <p:nvPicPr>
          <p:cNvPr id="15" name="Image 2" descr="preencoded.png">    </p:cNvPr>
          <p:cNvPicPr>
            <a:picLocks noChangeAspect="1"/>
          </p:cNvPicPr>
          <p:nvPr/>
        </p:nvPicPr>
        <p:blipFill>
          <a:blip r:embed="rId3"/>
          <a:stretch>
            <a:fillRect/>
          </a:stretch>
        </p:blipFill>
        <p:spPr>
          <a:xfrm>
            <a:off x="5411419" y="2165299"/>
            <a:ext cx="332842" cy="332842"/>
          </a:xfrm>
          <a:prstGeom prst="rect">
            <a:avLst/>
          </a:prstGeom>
        </p:spPr>
      </p:pic>
      <p:sp>
        <p:nvSpPr>
          <p:cNvPr id="16" name="Text 11"/>
          <p:cNvSpPr txBox="1"/>
          <p:nvPr/>
        </p:nvSpPr>
        <p:spPr>
          <a:xfrm>
            <a:off x="5257800" y="2788920"/>
            <a:ext cx="1645920" cy="685800"/>
          </a:xfrm>
          <a:prstGeom prst="rect">
            <a:avLst/>
          </a:prstGeom>
          <a:noFill/>
          <a:ln/>
        </p:spPr>
        <p:txBody>
          <a:bodyPr wrap="square" lIns="0" tIns="0" rIns="0" bIns="0" rtlCol="0" anchor="t"/>
          <a:lstStyle/>
          <a:p>
            <a:pPr indent="0" marL="0">
              <a:buNone/>
            </a:pPr>
            <a:r>
              <a:rPr lang="en-US" sz="1600" b="1" dirty="0">
                <a:solidFill>
                  <a:schemeClr val="tx2"/>
                </a:solidFill>
              </a:rPr>
              <a:t>Low visibility</a:t>
            </a:r>
            <a:endParaRPr lang="en-US" sz="1600" dirty="0"/>
          </a:p>
        </p:txBody>
      </p:sp>
      <p:sp>
        <p:nvSpPr>
          <p:cNvPr id="17" name="Text 12"/>
          <p:cNvSpPr txBox="1"/>
          <p:nvPr/>
        </p:nvSpPr>
        <p:spPr>
          <a:xfrm>
            <a:off x="5257800" y="3474720"/>
            <a:ext cx="1645920" cy="1417320"/>
          </a:xfrm>
          <a:prstGeom prst="rect">
            <a:avLst/>
          </a:prstGeom>
          <a:noFill/>
          <a:ln/>
        </p:spPr>
        <p:txBody>
          <a:bodyPr wrap="square" lIns="0" tIns="0" rIns="0" bIns="0" rtlCol="0" anchor="t"/>
          <a:lstStyle/>
          <a:p>
            <a:pPr indent="0" marL="0">
              <a:buNone/>
            </a:pPr>
            <a:r>
              <a:rPr lang="en-US" sz="1400" dirty="0">
                <a:solidFill>
                  <a:schemeClr val="tx1"/>
                </a:solidFill>
              </a:rPr>
              <a:t>Your institution's publications and expertise are hard for funders and partners to find.</a:t>
            </a:r>
            <a:endParaRPr lang="en-US" sz="1400" dirty="0"/>
          </a:p>
        </p:txBody>
      </p:sp>
      <p:sp>
        <p:nvSpPr>
          <p:cNvPr id="18" name="Pain card 4"/>
          <p:cNvSpPr/>
          <p:nvPr/>
        </p:nvSpPr>
        <p:spPr>
          <a:xfrm>
            <a:off x="7269480" y="1737360"/>
            <a:ext cx="2103120" cy="3291840"/>
          </a:xfrm>
          <a:prstGeom prst="roundRect">
            <a:avLst>
              <a:gd name="adj" fmla="val 4348"/>
            </a:avLst>
          </a:prstGeom>
          <a:solidFill>
            <a:srgbClr val="F6F4FB"/>
          </a:solidFill>
          <a:ln w="9525">
            <a:solidFill>
              <a:srgbClr val="DDD8EC"/>
            </a:solidFill>
            <a:prstDash val="solid"/>
          </a:ln>
        </p:spPr>
      </p:sp>
      <p:sp>
        <p:nvSpPr>
          <p:cNvPr id="19" name="Shape 14"/>
          <p:cNvSpPr/>
          <p:nvPr/>
        </p:nvSpPr>
        <p:spPr>
          <a:xfrm>
            <a:off x="7498080" y="2011680"/>
            <a:ext cx="640080" cy="640080"/>
          </a:xfrm>
          <a:prstGeom prst="ellipse">
            <a:avLst/>
          </a:prstGeom>
          <a:solidFill>
            <a:srgbClr val="EFEAF8"/>
          </a:solidFill>
          <a:ln w="12700">
            <a:solidFill>
              <a:srgbClr val="EFEAF8"/>
            </a:solidFill>
            <a:prstDash val="solid"/>
          </a:ln>
        </p:spPr>
      </p:sp>
      <p:pic>
        <p:nvPicPr>
          <p:cNvPr id="20" name="Image 3" descr="preencoded.png">    </p:cNvPr>
          <p:cNvPicPr>
            <a:picLocks noChangeAspect="1"/>
          </p:cNvPicPr>
          <p:nvPr/>
        </p:nvPicPr>
        <p:blipFill>
          <a:blip r:embed="rId4"/>
          <a:stretch>
            <a:fillRect/>
          </a:stretch>
        </p:blipFill>
        <p:spPr>
          <a:xfrm>
            <a:off x="7651699" y="2165299"/>
            <a:ext cx="332842" cy="332842"/>
          </a:xfrm>
          <a:prstGeom prst="rect">
            <a:avLst/>
          </a:prstGeom>
        </p:spPr>
      </p:pic>
      <p:sp>
        <p:nvSpPr>
          <p:cNvPr id="21" name="Text 15"/>
          <p:cNvSpPr txBox="1"/>
          <p:nvPr/>
        </p:nvSpPr>
        <p:spPr>
          <a:xfrm>
            <a:off x="7498080" y="2788920"/>
            <a:ext cx="1645920" cy="685800"/>
          </a:xfrm>
          <a:prstGeom prst="rect">
            <a:avLst/>
          </a:prstGeom>
          <a:noFill/>
          <a:ln/>
        </p:spPr>
        <p:txBody>
          <a:bodyPr wrap="square" lIns="0" tIns="0" rIns="0" bIns="0" rtlCol="0" anchor="t"/>
          <a:lstStyle/>
          <a:p>
            <a:pPr indent="0" marL="0">
              <a:buNone/>
            </a:pPr>
            <a:r>
              <a:rPr lang="en-US" sz="1600" b="1" dirty="0">
                <a:solidFill>
                  <a:schemeClr val="tx2"/>
                </a:solidFill>
              </a:rPr>
              <a:t>Compliance pressure</a:t>
            </a:r>
            <a:endParaRPr lang="en-US" sz="1600" dirty="0"/>
          </a:p>
        </p:txBody>
      </p:sp>
      <p:sp>
        <p:nvSpPr>
          <p:cNvPr id="22" name="Text 16"/>
          <p:cNvSpPr txBox="1"/>
          <p:nvPr/>
        </p:nvSpPr>
        <p:spPr>
          <a:xfrm>
            <a:off x="7498080" y="3474720"/>
            <a:ext cx="1645920" cy="1417320"/>
          </a:xfrm>
          <a:prstGeom prst="rect">
            <a:avLst/>
          </a:prstGeom>
          <a:noFill/>
          <a:ln/>
        </p:spPr>
        <p:txBody>
          <a:bodyPr wrap="square" lIns="0" tIns="0" rIns="0" bIns="0" rtlCol="0" anchor="t"/>
          <a:lstStyle/>
          <a:p>
            <a:pPr indent="0" marL="0">
              <a:buNone/>
            </a:pPr>
            <a:r>
              <a:rPr lang="en-US" sz="1400" dirty="0">
                <a:solidFill>
                  <a:schemeClr val="tx1"/>
                </a:solidFill>
              </a:rPr>
              <a:t>Ethics approvals, trial registrations and audit trails are tracked by hand.</a:t>
            </a:r>
            <a:endParaRPr lang="en-US" sz="1400" dirty="0"/>
          </a:p>
        </p:txBody>
      </p:sp>
      <p:sp>
        <p:nvSpPr>
          <p:cNvPr id="23" name="Pain card 5"/>
          <p:cNvSpPr/>
          <p:nvPr/>
        </p:nvSpPr>
        <p:spPr>
          <a:xfrm>
            <a:off x="9509760" y="1737360"/>
            <a:ext cx="2103120" cy="3291840"/>
          </a:xfrm>
          <a:prstGeom prst="roundRect">
            <a:avLst>
              <a:gd name="adj" fmla="val 4348"/>
            </a:avLst>
          </a:prstGeom>
          <a:solidFill>
            <a:srgbClr val="F6F4FB"/>
          </a:solidFill>
          <a:ln w="9525">
            <a:solidFill>
              <a:srgbClr val="DDD8EC"/>
            </a:solidFill>
            <a:prstDash val="solid"/>
          </a:ln>
        </p:spPr>
      </p:sp>
      <p:sp>
        <p:nvSpPr>
          <p:cNvPr id="24" name="Shape 18"/>
          <p:cNvSpPr/>
          <p:nvPr/>
        </p:nvSpPr>
        <p:spPr>
          <a:xfrm>
            <a:off x="9738360" y="2011680"/>
            <a:ext cx="640080" cy="640080"/>
          </a:xfrm>
          <a:prstGeom prst="ellipse">
            <a:avLst/>
          </a:prstGeom>
          <a:solidFill>
            <a:srgbClr val="EFEAF8"/>
          </a:solidFill>
          <a:ln w="12700">
            <a:solidFill>
              <a:srgbClr val="EFEAF8"/>
            </a:solidFill>
            <a:prstDash val="solid"/>
          </a:ln>
        </p:spPr>
      </p:sp>
      <p:pic>
        <p:nvPicPr>
          <p:cNvPr id="25" name="Image 4" descr="preencoded.png">    </p:cNvPr>
          <p:cNvPicPr>
            <a:picLocks noChangeAspect="1"/>
          </p:cNvPicPr>
          <p:nvPr/>
        </p:nvPicPr>
        <p:blipFill>
          <a:blip r:embed="rId5"/>
          <a:stretch>
            <a:fillRect/>
          </a:stretch>
        </p:blipFill>
        <p:spPr>
          <a:xfrm>
            <a:off x="9891979" y="2165299"/>
            <a:ext cx="332842" cy="332842"/>
          </a:xfrm>
          <a:prstGeom prst="rect">
            <a:avLst/>
          </a:prstGeom>
        </p:spPr>
      </p:pic>
      <p:sp>
        <p:nvSpPr>
          <p:cNvPr id="26" name="Text 19"/>
          <p:cNvSpPr txBox="1"/>
          <p:nvPr/>
        </p:nvSpPr>
        <p:spPr>
          <a:xfrm>
            <a:off x="9738360" y="2788920"/>
            <a:ext cx="1645920" cy="685800"/>
          </a:xfrm>
          <a:prstGeom prst="rect">
            <a:avLst/>
          </a:prstGeom>
          <a:noFill/>
          <a:ln/>
        </p:spPr>
        <p:txBody>
          <a:bodyPr wrap="square" lIns="0" tIns="0" rIns="0" bIns="0" rtlCol="0" anchor="t"/>
          <a:lstStyle/>
          <a:p>
            <a:pPr indent="0" marL="0">
              <a:buNone/>
            </a:pPr>
            <a:r>
              <a:rPr lang="en-US" sz="1600" b="1" dirty="0">
                <a:solidFill>
                  <a:schemeClr val="tx2"/>
                </a:solidFill>
              </a:rPr>
              <a:t>No central researcher profiles</a:t>
            </a:r>
            <a:endParaRPr lang="en-US" sz="1600" dirty="0"/>
          </a:p>
        </p:txBody>
      </p:sp>
      <p:sp>
        <p:nvSpPr>
          <p:cNvPr id="27" name="Text 20"/>
          <p:cNvSpPr txBox="1"/>
          <p:nvPr/>
        </p:nvSpPr>
        <p:spPr>
          <a:xfrm>
            <a:off x="9738360" y="3474720"/>
            <a:ext cx="1645920" cy="1417320"/>
          </a:xfrm>
          <a:prstGeom prst="rect">
            <a:avLst/>
          </a:prstGeom>
          <a:noFill/>
          <a:ln/>
        </p:spPr>
        <p:txBody>
          <a:bodyPr wrap="square" lIns="0" tIns="0" rIns="0" bIns="0" rtlCol="0" anchor="t"/>
          <a:lstStyle/>
          <a:p>
            <a:pPr indent="0" marL="0">
              <a:buNone/>
            </a:pPr>
            <a:r>
              <a:rPr lang="en-US" sz="1400" dirty="0">
                <a:solidFill>
                  <a:schemeClr val="tx1"/>
                </a:solidFill>
              </a:rPr>
              <a:t>Nobody has one up-to-date view of who does what, with whom, and with what impact.</a:t>
            </a:r>
            <a:endParaRPr lang="en-US" sz="1400" dirty="0"/>
          </a:p>
        </p:txBody>
      </p:sp>
      <p:sp>
        <p:nvSpPr>
          <p:cNvPr id="28" name="Text 21"/>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800" b="1" dirty="0">
                <a:solidFill>
                  <a:srgbClr val="7E5BB5"/>
                </a:solidFill>
              </a:rPr>
              <a:t>The result: </a:t>
            </a:r>
            <a:pPr indent="0" marL="0">
              <a:buNone/>
            </a:pPr>
            <a:r>
              <a:rPr lang="en-US" sz="1800" dirty="0">
                <a:solidFill>
                  <a:schemeClr val="tx2"/>
                </a:solidFill>
              </a:rPr>
              <a:t>slower approvals, missed funding, and research output that never gets the credit it deserves.</a:t>
            </a:r>
            <a:endParaRPr lang="en-US" sz="18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200" b="1" spc="200" kern="0" dirty="0">
                <a:solidFill>
                  <a:srgbClr val="9FD8EA"/>
                </a:solidFill>
              </a:rPr>
              <a:t>OUR VALUE PROPOSITION</a:t>
            </a:r>
            <a:endParaRPr lang="en-US" sz="1200" dirty="0"/>
          </a:p>
        </p:txBody>
      </p:sp>
      <p:sp>
        <p:nvSpPr>
          <p:cNvPr id="3" name="Text 1"/>
          <p:cNvSpPr txBox="1"/>
          <p:nvPr/>
        </p:nvSpPr>
        <p:spPr>
          <a:xfrm>
            <a:off x="548640" y="960120"/>
            <a:ext cx="10607040" cy="14630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One secure platform for the entire research lifecycle — so your institution can run research faster, stay compliant, and show its impact.</a:t>
            </a:r>
            <a:endParaRPr lang="en-US" sz="3000" dirty="0"/>
          </a:p>
        </p:txBody>
      </p:sp>
      <p:sp>
        <p:nvSpPr>
          <p:cNvPr id="4" name="Shape 2"/>
          <p:cNvSpPr/>
          <p:nvPr/>
        </p:nvSpPr>
        <p:spPr>
          <a:xfrm>
            <a:off x="982980" y="3314700"/>
            <a:ext cx="10195560" cy="0"/>
          </a:xfrm>
          <a:prstGeom prst="line">
            <a:avLst/>
          </a:prstGeom>
          <a:noFill/>
          <a:ln w="25400">
            <a:solidFill>
              <a:srgbClr val="4A4775"/>
            </a:solidFill>
            <a:prstDash val="dash"/>
          </a:ln>
        </p:spPr>
      </p:sp>
      <p:sp>
        <p:nvSpPr>
          <p:cNvPr id="5" name="Shape 3"/>
          <p:cNvSpPr/>
          <p:nvPr/>
        </p:nvSpPr>
        <p:spPr>
          <a:xfrm>
            <a:off x="548640" y="2880360"/>
            <a:ext cx="868680" cy="868680"/>
          </a:xfrm>
          <a:prstGeom prst="ellipse">
            <a:avLst/>
          </a:prstGeom>
          <a:solidFill>
            <a:srgbClr val="7E5BB5"/>
          </a:solidFill>
          <a:ln w="12700">
            <a:solidFill>
              <a:srgbClr val="7E5BB5"/>
            </a:solidFill>
            <a:prstDash val="solid"/>
          </a:ln>
        </p:spPr>
      </p:sp>
      <p:pic>
        <p:nvPicPr>
          <p:cNvPr id="6" name="Image 0" descr="preencoded.png">    </p:cNvPr>
          <p:cNvPicPr>
            <a:picLocks noChangeAspect="1"/>
          </p:cNvPicPr>
          <p:nvPr/>
        </p:nvPicPr>
        <p:blipFill>
          <a:blip r:embed="rId1"/>
          <a:stretch>
            <a:fillRect/>
          </a:stretch>
        </p:blipFill>
        <p:spPr>
          <a:xfrm>
            <a:off x="757123" y="3088843"/>
            <a:ext cx="451714" cy="451714"/>
          </a:xfrm>
          <a:prstGeom prst="rect">
            <a:avLst/>
          </a:prstGeom>
        </p:spPr>
      </p:pic>
      <p:sp>
        <p:nvSpPr>
          <p:cNvPr id="7" name="Text 4"/>
          <p:cNvSpPr txBox="1"/>
          <p:nvPr/>
        </p:nvSpPr>
        <p:spPr>
          <a:xfrm>
            <a:off x="18288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Propose</a:t>
            </a:r>
            <a:endParaRPr lang="en-US" sz="1500" dirty="0"/>
          </a:p>
        </p:txBody>
      </p:sp>
      <p:sp>
        <p:nvSpPr>
          <p:cNvPr id="8" name="Shape 5"/>
          <p:cNvSpPr/>
          <p:nvPr/>
        </p:nvSpPr>
        <p:spPr>
          <a:xfrm>
            <a:off x="2247900" y="2880360"/>
            <a:ext cx="868680" cy="868680"/>
          </a:xfrm>
          <a:prstGeom prst="ellipse">
            <a:avLst/>
          </a:prstGeom>
          <a:solidFill>
            <a:srgbClr val="2A9DC0"/>
          </a:solidFill>
          <a:ln w="12700">
            <a:solidFill>
              <a:srgbClr val="2A9DC0"/>
            </a:solidFill>
            <a:prstDash val="solid"/>
          </a:ln>
        </p:spPr>
      </p:sp>
      <p:pic>
        <p:nvPicPr>
          <p:cNvPr id="9" name="Image 1" descr="preencoded.png">    </p:cNvPr>
          <p:cNvPicPr>
            <a:picLocks noChangeAspect="1"/>
          </p:cNvPicPr>
          <p:nvPr/>
        </p:nvPicPr>
        <p:blipFill>
          <a:blip r:embed="rId2"/>
          <a:stretch>
            <a:fillRect/>
          </a:stretch>
        </p:blipFill>
        <p:spPr>
          <a:xfrm>
            <a:off x="2456383" y="3088843"/>
            <a:ext cx="451714" cy="451714"/>
          </a:xfrm>
          <a:prstGeom prst="rect">
            <a:avLst/>
          </a:prstGeom>
        </p:spPr>
      </p:pic>
      <p:sp>
        <p:nvSpPr>
          <p:cNvPr id="10" name="Text 6"/>
          <p:cNvSpPr txBox="1"/>
          <p:nvPr/>
        </p:nvSpPr>
        <p:spPr>
          <a:xfrm>
            <a:off x="188214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Ethics</a:t>
            </a:r>
            <a:endParaRPr lang="en-US" sz="1500" dirty="0"/>
          </a:p>
        </p:txBody>
      </p:sp>
      <p:sp>
        <p:nvSpPr>
          <p:cNvPr id="11" name="Shape 7"/>
          <p:cNvSpPr/>
          <p:nvPr/>
        </p:nvSpPr>
        <p:spPr>
          <a:xfrm>
            <a:off x="3947160" y="2880360"/>
            <a:ext cx="868680" cy="868680"/>
          </a:xfrm>
          <a:prstGeom prst="ellipse">
            <a:avLst/>
          </a:prstGeom>
          <a:solidFill>
            <a:srgbClr val="7E5BB5"/>
          </a:solidFill>
          <a:ln w="12700">
            <a:solidFill>
              <a:srgbClr val="7E5BB5"/>
            </a:solidFill>
            <a:prstDash val="solid"/>
          </a:ln>
        </p:spPr>
      </p:sp>
      <p:pic>
        <p:nvPicPr>
          <p:cNvPr id="12" name="Image 2" descr="preencoded.png">    </p:cNvPr>
          <p:cNvPicPr>
            <a:picLocks noChangeAspect="1"/>
          </p:cNvPicPr>
          <p:nvPr/>
        </p:nvPicPr>
        <p:blipFill>
          <a:blip r:embed="rId3"/>
          <a:stretch>
            <a:fillRect/>
          </a:stretch>
        </p:blipFill>
        <p:spPr>
          <a:xfrm>
            <a:off x="4155643" y="3088843"/>
            <a:ext cx="451714" cy="451714"/>
          </a:xfrm>
          <a:prstGeom prst="rect">
            <a:avLst/>
          </a:prstGeom>
        </p:spPr>
      </p:pic>
      <p:sp>
        <p:nvSpPr>
          <p:cNvPr id="13" name="Text 8"/>
          <p:cNvSpPr txBox="1"/>
          <p:nvPr/>
        </p:nvSpPr>
        <p:spPr>
          <a:xfrm>
            <a:off x="358140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Fund</a:t>
            </a:r>
            <a:endParaRPr lang="en-US" sz="1500" dirty="0"/>
          </a:p>
        </p:txBody>
      </p:sp>
      <p:sp>
        <p:nvSpPr>
          <p:cNvPr id="14" name="Shape 9"/>
          <p:cNvSpPr/>
          <p:nvPr/>
        </p:nvSpPr>
        <p:spPr>
          <a:xfrm>
            <a:off x="5646420" y="2880360"/>
            <a:ext cx="868680" cy="868680"/>
          </a:xfrm>
          <a:prstGeom prst="ellipse">
            <a:avLst/>
          </a:prstGeom>
          <a:solidFill>
            <a:srgbClr val="2A9DC0"/>
          </a:solidFill>
          <a:ln w="12700">
            <a:solidFill>
              <a:srgbClr val="2A9DC0"/>
            </a:solidFill>
            <a:prstDash val="solid"/>
          </a:ln>
        </p:spPr>
      </p:sp>
      <p:pic>
        <p:nvPicPr>
          <p:cNvPr id="15" name="Image 3" descr="preencoded.png">    </p:cNvPr>
          <p:cNvPicPr>
            <a:picLocks noChangeAspect="1"/>
          </p:cNvPicPr>
          <p:nvPr/>
        </p:nvPicPr>
        <p:blipFill>
          <a:blip r:embed="rId4"/>
          <a:stretch>
            <a:fillRect/>
          </a:stretch>
        </p:blipFill>
        <p:spPr>
          <a:xfrm>
            <a:off x="5854903" y="3088843"/>
            <a:ext cx="451714" cy="451714"/>
          </a:xfrm>
          <a:prstGeom prst="rect">
            <a:avLst/>
          </a:prstGeom>
        </p:spPr>
      </p:pic>
      <p:sp>
        <p:nvSpPr>
          <p:cNvPr id="16" name="Text 10"/>
          <p:cNvSpPr txBox="1"/>
          <p:nvPr/>
        </p:nvSpPr>
        <p:spPr>
          <a:xfrm>
            <a:off x="528066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Run &amp; trial</a:t>
            </a:r>
            <a:endParaRPr lang="en-US" sz="1500" dirty="0"/>
          </a:p>
        </p:txBody>
      </p:sp>
      <p:sp>
        <p:nvSpPr>
          <p:cNvPr id="17" name="Shape 11"/>
          <p:cNvSpPr/>
          <p:nvPr/>
        </p:nvSpPr>
        <p:spPr>
          <a:xfrm>
            <a:off x="7345680" y="2880360"/>
            <a:ext cx="868680" cy="868680"/>
          </a:xfrm>
          <a:prstGeom prst="ellipse">
            <a:avLst/>
          </a:prstGeom>
          <a:solidFill>
            <a:srgbClr val="7E5BB5"/>
          </a:solidFill>
          <a:ln w="12700">
            <a:solidFill>
              <a:srgbClr val="7E5BB5"/>
            </a:solidFill>
            <a:prstDash val="solid"/>
          </a:ln>
        </p:spPr>
      </p:sp>
      <p:pic>
        <p:nvPicPr>
          <p:cNvPr id="18" name="Image 4" descr="preencoded.png">    </p:cNvPr>
          <p:cNvPicPr>
            <a:picLocks noChangeAspect="1"/>
          </p:cNvPicPr>
          <p:nvPr/>
        </p:nvPicPr>
        <p:blipFill>
          <a:blip r:embed="rId5"/>
          <a:stretch>
            <a:fillRect/>
          </a:stretch>
        </p:blipFill>
        <p:spPr>
          <a:xfrm>
            <a:off x="7554163" y="3088843"/>
            <a:ext cx="451714" cy="451714"/>
          </a:xfrm>
          <a:prstGeom prst="rect">
            <a:avLst/>
          </a:prstGeom>
        </p:spPr>
      </p:pic>
      <p:sp>
        <p:nvSpPr>
          <p:cNvPr id="19" name="Text 12"/>
          <p:cNvSpPr txBox="1"/>
          <p:nvPr/>
        </p:nvSpPr>
        <p:spPr>
          <a:xfrm>
            <a:off x="697992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Write</a:t>
            </a:r>
            <a:endParaRPr lang="en-US" sz="1500" dirty="0"/>
          </a:p>
        </p:txBody>
      </p:sp>
      <p:sp>
        <p:nvSpPr>
          <p:cNvPr id="20" name="Shape 13"/>
          <p:cNvSpPr/>
          <p:nvPr/>
        </p:nvSpPr>
        <p:spPr>
          <a:xfrm>
            <a:off x="9044940" y="2880360"/>
            <a:ext cx="868680" cy="868680"/>
          </a:xfrm>
          <a:prstGeom prst="ellipse">
            <a:avLst/>
          </a:prstGeom>
          <a:solidFill>
            <a:srgbClr val="2A9DC0"/>
          </a:solidFill>
          <a:ln w="12700">
            <a:solidFill>
              <a:srgbClr val="2A9DC0"/>
            </a:solidFill>
            <a:prstDash val="solid"/>
          </a:ln>
        </p:spPr>
      </p:sp>
      <p:pic>
        <p:nvPicPr>
          <p:cNvPr id="21" name="Image 5" descr="preencoded.png">    </p:cNvPr>
          <p:cNvPicPr>
            <a:picLocks noChangeAspect="1"/>
          </p:cNvPicPr>
          <p:nvPr/>
        </p:nvPicPr>
        <p:blipFill>
          <a:blip r:embed="rId6"/>
          <a:stretch>
            <a:fillRect/>
          </a:stretch>
        </p:blipFill>
        <p:spPr>
          <a:xfrm>
            <a:off x="9253423" y="3088843"/>
            <a:ext cx="451714" cy="451714"/>
          </a:xfrm>
          <a:prstGeom prst="rect">
            <a:avLst/>
          </a:prstGeom>
        </p:spPr>
      </p:pic>
      <p:sp>
        <p:nvSpPr>
          <p:cNvPr id="22" name="Text 14"/>
          <p:cNvSpPr txBox="1"/>
          <p:nvPr/>
        </p:nvSpPr>
        <p:spPr>
          <a:xfrm>
            <a:off x="867918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Publish</a:t>
            </a:r>
            <a:endParaRPr lang="en-US" sz="1500" dirty="0"/>
          </a:p>
        </p:txBody>
      </p:sp>
      <p:sp>
        <p:nvSpPr>
          <p:cNvPr id="23" name="Shape 15"/>
          <p:cNvSpPr/>
          <p:nvPr/>
        </p:nvSpPr>
        <p:spPr>
          <a:xfrm>
            <a:off x="10744200" y="2880360"/>
            <a:ext cx="868680" cy="868680"/>
          </a:xfrm>
          <a:prstGeom prst="ellipse">
            <a:avLst/>
          </a:prstGeom>
          <a:solidFill>
            <a:srgbClr val="7E5BB5"/>
          </a:solidFill>
          <a:ln w="12700">
            <a:solidFill>
              <a:srgbClr val="7E5BB5"/>
            </a:solidFill>
            <a:prstDash val="solid"/>
          </a:ln>
        </p:spPr>
      </p:sp>
      <p:pic>
        <p:nvPicPr>
          <p:cNvPr id="24" name="Image 6" descr="preencoded.png">    </p:cNvPr>
          <p:cNvPicPr>
            <a:picLocks noChangeAspect="1"/>
          </p:cNvPicPr>
          <p:nvPr/>
        </p:nvPicPr>
        <p:blipFill>
          <a:blip r:embed="rId7"/>
          <a:stretch>
            <a:fillRect/>
          </a:stretch>
        </p:blipFill>
        <p:spPr>
          <a:xfrm>
            <a:off x="10952683" y="3088843"/>
            <a:ext cx="451714" cy="451714"/>
          </a:xfrm>
          <a:prstGeom prst="rect">
            <a:avLst/>
          </a:prstGeom>
        </p:spPr>
      </p:pic>
      <p:sp>
        <p:nvSpPr>
          <p:cNvPr id="25" name="Text 16"/>
          <p:cNvSpPr txBox="1"/>
          <p:nvPr/>
        </p:nvSpPr>
        <p:spPr>
          <a:xfrm>
            <a:off x="10378440" y="3858768"/>
            <a:ext cx="1600200" cy="365760"/>
          </a:xfrm>
          <a:prstGeom prst="rect">
            <a:avLst/>
          </a:prstGeom>
          <a:noFill/>
          <a:ln/>
        </p:spPr>
        <p:txBody>
          <a:bodyPr wrap="square" lIns="0" tIns="0" rIns="0" bIns="0" rtlCol="0" anchor="ctr"/>
          <a:lstStyle/>
          <a:p>
            <a:pPr algn="ctr" indent="0" marL="0">
              <a:buNone/>
            </a:pPr>
            <a:r>
              <a:rPr lang="en-US" sz="1500" b="1" dirty="0">
                <a:solidFill>
                  <a:srgbClr val="FFFFFF"/>
                </a:solidFill>
              </a:rPr>
              <a:t>Measure</a:t>
            </a:r>
            <a:endParaRPr lang="en-US" sz="1500" dirty="0"/>
          </a:p>
        </p:txBody>
      </p:sp>
      <p:sp>
        <p:nvSpPr>
          <p:cNvPr id="26" name="Pillar Centralised"/>
          <p:cNvSpPr/>
          <p:nvPr/>
        </p:nvSpPr>
        <p:spPr>
          <a:xfrm>
            <a:off x="548640" y="4617720"/>
            <a:ext cx="3566160" cy="1600200"/>
          </a:xfrm>
          <a:prstGeom prst="roundRect">
            <a:avLst>
              <a:gd name="adj" fmla="val 5714"/>
            </a:avLst>
          </a:prstGeom>
          <a:solidFill>
            <a:srgbClr val="2A2852"/>
          </a:solidFill>
          <a:ln w="9525">
            <a:solidFill>
              <a:srgbClr val="3A3768"/>
            </a:solidFill>
            <a:prstDash val="solid"/>
          </a:ln>
        </p:spPr>
      </p:sp>
      <p:sp>
        <p:nvSpPr>
          <p:cNvPr id="27" name="Text 18"/>
          <p:cNvSpPr txBox="1"/>
          <p:nvPr/>
        </p:nvSpPr>
        <p:spPr>
          <a:xfrm>
            <a:off x="777240" y="4754880"/>
            <a:ext cx="3108960" cy="365760"/>
          </a:xfrm>
          <a:prstGeom prst="rect">
            <a:avLst/>
          </a:prstGeom>
          <a:noFill/>
          <a:ln/>
        </p:spPr>
        <p:txBody>
          <a:bodyPr wrap="square" lIns="0" tIns="0" rIns="0" bIns="0" rtlCol="0" anchor="ctr"/>
          <a:lstStyle/>
          <a:p>
            <a:pPr indent="0" marL="0">
              <a:buNone/>
            </a:pPr>
            <a:r>
              <a:rPr lang="en-US" sz="1800" b="1" dirty="0">
                <a:solidFill>
                  <a:srgbClr val="9FD8EA"/>
                </a:solidFill>
              </a:rPr>
              <a:t>Centralised</a:t>
            </a:r>
            <a:endParaRPr lang="en-US" sz="1800" dirty="0"/>
          </a:p>
        </p:txBody>
      </p:sp>
      <p:sp>
        <p:nvSpPr>
          <p:cNvPr id="28" name="Text 19"/>
          <p:cNvSpPr txBox="1"/>
          <p:nvPr/>
        </p:nvSpPr>
        <p:spPr>
          <a:xfrm>
            <a:off x="777240" y="5138928"/>
            <a:ext cx="3154680" cy="1005840"/>
          </a:xfrm>
          <a:prstGeom prst="rect">
            <a:avLst/>
          </a:prstGeom>
          <a:noFill/>
          <a:ln/>
        </p:spPr>
        <p:txBody>
          <a:bodyPr wrap="square" lIns="0" tIns="0" rIns="0" bIns="0" rtlCol="0" anchor="t"/>
          <a:lstStyle/>
          <a:p>
            <a:pPr indent="0" marL="0">
              <a:buNone/>
            </a:pPr>
            <a:r>
              <a:rPr lang="en-US" sz="1400" dirty="0">
                <a:solidFill>
                  <a:srgbClr val="E4E1F3"/>
                </a:solidFill>
              </a:rPr>
              <a:t>Every proposal, approval, grant, trial and paper in one place, with a single researcher profile.</a:t>
            </a:r>
            <a:endParaRPr lang="en-US" sz="1400" dirty="0"/>
          </a:p>
        </p:txBody>
      </p:sp>
      <p:sp>
        <p:nvSpPr>
          <p:cNvPr id="29" name="Pillar Compliant"/>
          <p:cNvSpPr/>
          <p:nvPr/>
        </p:nvSpPr>
        <p:spPr>
          <a:xfrm>
            <a:off x="4297680" y="4617720"/>
            <a:ext cx="3566160" cy="1600200"/>
          </a:xfrm>
          <a:prstGeom prst="roundRect">
            <a:avLst>
              <a:gd name="adj" fmla="val 5714"/>
            </a:avLst>
          </a:prstGeom>
          <a:solidFill>
            <a:srgbClr val="2A2852"/>
          </a:solidFill>
          <a:ln w="9525">
            <a:solidFill>
              <a:srgbClr val="3A3768"/>
            </a:solidFill>
            <a:prstDash val="solid"/>
          </a:ln>
        </p:spPr>
      </p:sp>
      <p:sp>
        <p:nvSpPr>
          <p:cNvPr id="30" name="Text 21"/>
          <p:cNvSpPr txBox="1"/>
          <p:nvPr/>
        </p:nvSpPr>
        <p:spPr>
          <a:xfrm>
            <a:off x="4526280" y="4754880"/>
            <a:ext cx="3108960" cy="365760"/>
          </a:xfrm>
          <a:prstGeom prst="rect">
            <a:avLst/>
          </a:prstGeom>
          <a:noFill/>
          <a:ln/>
        </p:spPr>
        <p:txBody>
          <a:bodyPr wrap="square" lIns="0" tIns="0" rIns="0" bIns="0" rtlCol="0" anchor="ctr"/>
          <a:lstStyle/>
          <a:p>
            <a:pPr indent="0" marL="0">
              <a:buNone/>
            </a:pPr>
            <a:r>
              <a:rPr lang="en-US" sz="1800" b="1" dirty="0">
                <a:solidFill>
                  <a:srgbClr val="9FD8EA"/>
                </a:solidFill>
              </a:rPr>
              <a:t>Compliant</a:t>
            </a:r>
            <a:endParaRPr lang="en-US" sz="1800" dirty="0"/>
          </a:p>
        </p:txBody>
      </p:sp>
      <p:sp>
        <p:nvSpPr>
          <p:cNvPr id="31" name="Text 22"/>
          <p:cNvSpPr txBox="1"/>
          <p:nvPr/>
        </p:nvSpPr>
        <p:spPr>
          <a:xfrm>
            <a:off x="4526280" y="5138928"/>
            <a:ext cx="3154680" cy="1005840"/>
          </a:xfrm>
          <a:prstGeom prst="rect">
            <a:avLst/>
          </a:prstGeom>
          <a:noFill/>
          <a:ln/>
        </p:spPr>
        <p:txBody>
          <a:bodyPr wrap="square" lIns="0" tIns="0" rIns="0" bIns="0" rtlCol="0" anchor="t"/>
          <a:lstStyle/>
          <a:p>
            <a:pPr indent="0" marL="0">
              <a:buNone/>
            </a:pPr>
            <a:r>
              <a:rPr lang="en-US" sz="1400" dirty="0">
                <a:solidFill>
                  <a:srgbClr val="E4E1F3"/>
                </a:solidFill>
              </a:rPr>
              <a:t>Built-in ethics review, trial registry exports, image integrity checks and audit trails.</a:t>
            </a:r>
            <a:endParaRPr lang="en-US" sz="1400" dirty="0"/>
          </a:p>
        </p:txBody>
      </p:sp>
      <p:sp>
        <p:nvSpPr>
          <p:cNvPr id="32" name="Pillar Visible"/>
          <p:cNvSpPr/>
          <p:nvPr/>
        </p:nvSpPr>
        <p:spPr>
          <a:xfrm>
            <a:off x="8046720" y="4617720"/>
            <a:ext cx="3566160" cy="1600200"/>
          </a:xfrm>
          <a:prstGeom prst="roundRect">
            <a:avLst>
              <a:gd name="adj" fmla="val 5714"/>
            </a:avLst>
          </a:prstGeom>
          <a:solidFill>
            <a:srgbClr val="2A2852"/>
          </a:solidFill>
          <a:ln w="9525">
            <a:solidFill>
              <a:srgbClr val="3A3768"/>
            </a:solidFill>
            <a:prstDash val="solid"/>
          </a:ln>
        </p:spPr>
      </p:sp>
      <p:sp>
        <p:nvSpPr>
          <p:cNvPr id="33" name="Text 24"/>
          <p:cNvSpPr txBox="1"/>
          <p:nvPr/>
        </p:nvSpPr>
        <p:spPr>
          <a:xfrm>
            <a:off x="8275320" y="4754880"/>
            <a:ext cx="3108960" cy="365760"/>
          </a:xfrm>
          <a:prstGeom prst="rect">
            <a:avLst/>
          </a:prstGeom>
          <a:noFill/>
          <a:ln/>
        </p:spPr>
        <p:txBody>
          <a:bodyPr wrap="square" lIns="0" tIns="0" rIns="0" bIns="0" rtlCol="0" anchor="ctr"/>
          <a:lstStyle/>
          <a:p>
            <a:pPr indent="0" marL="0">
              <a:buNone/>
            </a:pPr>
            <a:r>
              <a:rPr lang="en-US" sz="1800" b="1" dirty="0">
                <a:solidFill>
                  <a:srgbClr val="9FD8EA"/>
                </a:solidFill>
              </a:rPr>
              <a:t>Visible</a:t>
            </a:r>
            <a:endParaRPr lang="en-US" sz="1800" dirty="0"/>
          </a:p>
        </p:txBody>
      </p:sp>
      <p:sp>
        <p:nvSpPr>
          <p:cNvPr id="34" name="Text 25"/>
          <p:cNvSpPr txBox="1"/>
          <p:nvPr/>
        </p:nvSpPr>
        <p:spPr>
          <a:xfrm>
            <a:off x="8275320" y="5138928"/>
            <a:ext cx="3154680" cy="1005840"/>
          </a:xfrm>
          <a:prstGeom prst="rect">
            <a:avLst/>
          </a:prstGeom>
          <a:noFill/>
          <a:ln/>
        </p:spPr>
        <p:txBody>
          <a:bodyPr wrap="square" lIns="0" tIns="0" rIns="0" bIns="0" rtlCol="0" anchor="t"/>
          <a:lstStyle/>
          <a:p>
            <a:pPr indent="0" marL="0">
              <a:buNone/>
            </a:pPr>
            <a:r>
              <a:rPr lang="en-US" sz="1400" dirty="0">
                <a:solidFill>
                  <a:srgbClr val="E4E1F3"/>
                </a:solidFill>
              </a:rPr>
              <a:t>ORCID, Crossref and DataCite links plus AI-powered analytics that turn activity into reportable impact.</a:t>
            </a:r>
            <a:endParaRPr lang="en-US" sz="1400" dirty="0"/>
          </a:p>
        </p:txBody>
      </p:sp>
      <p:sp>
        <p:nvSpPr>
          <p:cNvPr id="36"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Who uses HospitiumRIS?</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600" dirty="0">
                <a:solidFill>
                  <a:schemeClr val="tx1"/>
                </a:solidFill>
              </a:rPr>
              <a:t>Built for the full spectrum of health research institutions — from small research units to national referral hospitals.</a:t>
            </a:r>
            <a:endParaRPr lang="en-US" sz="1600" dirty="0"/>
          </a:p>
        </p:txBody>
      </p:sp>
      <p:sp>
        <p:nvSpPr>
          <p:cNvPr id="4" name="University Teaching Hospitals"/>
          <p:cNvSpPr/>
          <p:nvPr/>
        </p:nvSpPr>
        <p:spPr>
          <a:xfrm>
            <a:off x="548640" y="1783080"/>
            <a:ext cx="2628900" cy="2103120"/>
          </a:xfrm>
          <a:prstGeom prst="roundRect">
            <a:avLst>
              <a:gd name="adj" fmla="val 4348"/>
            </a:avLst>
          </a:prstGeom>
          <a:solidFill>
            <a:srgbClr val="F6F4FB"/>
          </a:solidFill>
          <a:ln w="9525">
            <a:solidFill>
              <a:srgbClr val="DDD8EC"/>
            </a:solidFill>
            <a:prstDash val="solid"/>
          </a:ln>
        </p:spPr>
      </p:sp>
      <p:sp>
        <p:nvSpPr>
          <p:cNvPr id="5" name="Shape 3"/>
          <p:cNvSpPr/>
          <p:nvPr/>
        </p:nvSpPr>
        <p:spPr>
          <a:xfrm>
            <a:off x="777240" y="2011680"/>
            <a:ext cx="640080" cy="640080"/>
          </a:xfrm>
          <a:prstGeom prst="ellipse">
            <a:avLst/>
          </a:prstGeom>
          <a:solidFill>
            <a:srgbClr val="7E5BB5"/>
          </a:solidFill>
          <a:ln w="12700">
            <a:solidFill>
              <a:srgbClr val="7E5BB5"/>
            </a:solidFill>
            <a:prstDash val="solid"/>
          </a:ln>
        </p:spPr>
      </p:sp>
      <p:pic>
        <p:nvPicPr>
          <p:cNvPr id="6" name="Image 0" descr="preencoded.png">    </p:cNvPr>
          <p:cNvPicPr>
            <a:picLocks noChangeAspect="1"/>
          </p:cNvPicPr>
          <p:nvPr/>
        </p:nvPicPr>
        <p:blipFill>
          <a:blip r:embed="rId1"/>
          <a:stretch>
            <a:fillRect/>
          </a:stretch>
        </p:blipFill>
        <p:spPr>
          <a:xfrm>
            <a:off x="930859" y="2165299"/>
            <a:ext cx="332842" cy="332842"/>
          </a:xfrm>
          <a:prstGeom prst="rect">
            <a:avLst/>
          </a:prstGeom>
        </p:spPr>
      </p:pic>
      <p:sp>
        <p:nvSpPr>
          <p:cNvPr id="7" name="Text 4"/>
          <p:cNvSpPr txBox="1"/>
          <p:nvPr/>
        </p:nvSpPr>
        <p:spPr>
          <a:xfrm>
            <a:off x="777240" y="2743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University Teaching Hospitals</a:t>
            </a:r>
            <a:endParaRPr lang="en-US" sz="1500" dirty="0"/>
          </a:p>
        </p:txBody>
      </p:sp>
      <p:sp>
        <p:nvSpPr>
          <p:cNvPr id="8" name="Text 5"/>
          <p:cNvSpPr txBox="1"/>
          <p:nvPr/>
        </p:nvSpPr>
        <p:spPr>
          <a:xfrm>
            <a:off x="777240" y="3355848"/>
            <a:ext cx="2217420" cy="457200"/>
          </a:xfrm>
          <a:prstGeom prst="rect">
            <a:avLst/>
          </a:prstGeom>
          <a:noFill/>
          <a:ln/>
        </p:spPr>
        <p:txBody>
          <a:bodyPr wrap="square" lIns="0" tIns="0" rIns="0" bIns="0" rtlCol="0" anchor="t"/>
          <a:lstStyle/>
          <a:p>
            <a:pPr indent="0" marL="0">
              <a:buNone/>
            </a:pPr>
            <a:r>
              <a:rPr lang="en-US" sz="1250" dirty="0">
                <a:solidFill>
                  <a:schemeClr val="tx1"/>
                </a:solidFill>
              </a:rPr>
              <a:t>Run research, ethics and trials alongside clinical care.</a:t>
            </a:r>
            <a:endParaRPr lang="en-US" sz="1250" dirty="0"/>
          </a:p>
        </p:txBody>
      </p:sp>
      <p:sp>
        <p:nvSpPr>
          <p:cNvPr id="9" name="Medical Schools"/>
          <p:cNvSpPr/>
          <p:nvPr/>
        </p:nvSpPr>
        <p:spPr>
          <a:xfrm>
            <a:off x="3360420" y="1783080"/>
            <a:ext cx="2628900" cy="2103120"/>
          </a:xfrm>
          <a:prstGeom prst="roundRect">
            <a:avLst>
              <a:gd name="adj" fmla="val 4348"/>
            </a:avLst>
          </a:prstGeom>
          <a:solidFill>
            <a:srgbClr val="F6F4FB"/>
          </a:solidFill>
          <a:ln w="9525">
            <a:solidFill>
              <a:srgbClr val="DDD8EC"/>
            </a:solidFill>
            <a:prstDash val="solid"/>
          </a:ln>
        </p:spPr>
      </p:sp>
      <p:sp>
        <p:nvSpPr>
          <p:cNvPr id="10" name="Shape 7"/>
          <p:cNvSpPr/>
          <p:nvPr/>
        </p:nvSpPr>
        <p:spPr>
          <a:xfrm>
            <a:off x="3589020" y="2011680"/>
            <a:ext cx="640080" cy="640080"/>
          </a:xfrm>
          <a:prstGeom prst="ellipse">
            <a:avLst/>
          </a:prstGeom>
          <a:solidFill>
            <a:srgbClr val="2A9DC0"/>
          </a:solidFill>
          <a:ln w="12700">
            <a:solidFill>
              <a:srgbClr val="2A9DC0"/>
            </a:solidFill>
            <a:prstDash val="solid"/>
          </a:ln>
        </p:spPr>
      </p:sp>
      <p:pic>
        <p:nvPicPr>
          <p:cNvPr id="11" name="Image 1" descr="preencoded.png">    </p:cNvPr>
          <p:cNvPicPr>
            <a:picLocks noChangeAspect="1"/>
          </p:cNvPicPr>
          <p:nvPr/>
        </p:nvPicPr>
        <p:blipFill>
          <a:blip r:embed="rId2"/>
          <a:stretch>
            <a:fillRect/>
          </a:stretch>
        </p:blipFill>
        <p:spPr>
          <a:xfrm>
            <a:off x="3742639" y="2165299"/>
            <a:ext cx="332842" cy="332842"/>
          </a:xfrm>
          <a:prstGeom prst="rect">
            <a:avLst/>
          </a:prstGeom>
        </p:spPr>
      </p:pic>
      <p:sp>
        <p:nvSpPr>
          <p:cNvPr id="12" name="Text 8"/>
          <p:cNvSpPr txBox="1"/>
          <p:nvPr/>
        </p:nvSpPr>
        <p:spPr>
          <a:xfrm>
            <a:off x="3589020" y="2743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Medical Schools</a:t>
            </a:r>
            <a:endParaRPr lang="en-US" sz="1500" dirty="0"/>
          </a:p>
        </p:txBody>
      </p:sp>
      <p:sp>
        <p:nvSpPr>
          <p:cNvPr id="13" name="Text 9"/>
          <p:cNvSpPr txBox="1"/>
          <p:nvPr/>
        </p:nvSpPr>
        <p:spPr>
          <a:xfrm>
            <a:off x="3589020" y="3355848"/>
            <a:ext cx="2217420" cy="457200"/>
          </a:xfrm>
          <a:prstGeom prst="rect">
            <a:avLst/>
          </a:prstGeom>
          <a:noFill/>
          <a:ln/>
        </p:spPr>
        <p:txBody>
          <a:bodyPr wrap="square" lIns="0" tIns="0" rIns="0" bIns="0" rtlCol="0" anchor="t"/>
          <a:lstStyle/>
          <a:p>
            <a:pPr indent="0" marL="0">
              <a:buNone/>
            </a:pPr>
            <a:r>
              <a:rPr lang="en-US" sz="1250" dirty="0">
                <a:solidFill>
                  <a:schemeClr val="tx1"/>
                </a:solidFill>
              </a:rPr>
              <a:t>Track faculty output, proposals and student research.</a:t>
            </a:r>
            <a:endParaRPr lang="en-US" sz="1250" dirty="0"/>
          </a:p>
        </p:txBody>
      </p:sp>
      <p:sp>
        <p:nvSpPr>
          <p:cNvPr id="14" name="Clinical Trial Centres"/>
          <p:cNvSpPr/>
          <p:nvPr/>
        </p:nvSpPr>
        <p:spPr>
          <a:xfrm>
            <a:off x="6172200" y="1783080"/>
            <a:ext cx="2628900" cy="2103120"/>
          </a:xfrm>
          <a:prstGeom prst="roundRect">
            <a:avLst>
              <a:gd name="adj" fmla="val 4348"/>
            </a:avLst>
          </a:prstGeom>
          <a:solidFill>
            <a:srgbClr val="F6F4FB"/>
          </a:solidFill>
          <a:ln w="9525">
            <a:solidFill>
              <a:srgbClr val="DDD8EC"/>
            </a:solidFill>
            <a:prstDash val="solid"/>
          </a:ln>
        </p:spPr>
      </p:sp>
      <p:sp>
        <p:nvSpPr>
          <p:cNvPr id="15" name="Shape 11"/>
          <p:cNvSpPr/>
          <p:nvPr/>
        </p:nvSpPr>
        <p:spPr>
          <a:xfrm>
            <a:off x="6400800" y="2011680"/>
            <a:ext cx="640080" cy="640080"/>
          </a:xfrm>
          <a:prstGeom prst="ellipse">
            <a:avLst/>
          </a:prstGeom>
          <a:solidFill>
            <a:srgbClr val="7E5BB5"/>
          </a:solidFill>
          <a:ln w="12700">
            <a:solidFill>
              <a:srgbClr val="7E5BB5"/>
            </a:solidFill>
            <a:prstDash val="solid"/>
          </a:ln>
        </p:spPr>
      </p:sp>
      <p:pic>
        <p:nvPicPr>
          <p:cNvPr id="16" name="Image 2" descr="preencoded.png">    </p:cNvPr>
          <p:cNvPicPr>
            <a:picLocks noChangeAspect="1"/>
          </p:cNvPicPr>
          <p:nvPr/>
        </p:nvPicPr>
        <p:blipFill>
          <a:blip r:embed="rId3"/>
          <a:stretch>
            <a:fillRect/>
          </a:stretch>
        </p:blipFill>
        <p:spPr>
          <a:xfrm>
            <a:off x="6554419" y="2165299"/>
            <a:ext cx="332842" cy="332842"/>
          </a:xfrm>
          <a:prstGeom prst="rect">
            <a:avLst/>
          </a:prstGeom>
        </p:spPr>
      </p:pic>
      <p:sp>
        <p:nvSpPr>
          <p:cNvPr id="17" name="Text 12"/>
          <p:cNvSpPr txBox="1"/>
          <p:nvPr/>
        </p:nvSpPr>
        <p:spPr>
          <a:xfrm>
            <a:off x="6400800" y="2743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Clinical Trial Centres</a:t>
            </a:r>
            <a:endParaRPr lang="en-US" sz="1500" dirty="0"/>
          </a:p>
        </p:txBody>
      </p:sp>
      <p:sp>
        <p:nvSpPr>
          <p:cNvPr id="18" name="Text 13"/>
          <p:cNvSpPr txBox="1"/>
          <p:nvPr/>
        </p:nvSpPr>
        <p:spPr>
          <a:xfrm>
            <a:off x="6400800" y="3355848"/>
            <a:ext cx="2217420" cy="457200"/>
          </a:xfrm>
          <a:prstGeom prst="rect">
            <a:avLst/>
          </a:prstGeom>
          <a:noFill/>
          <a:ln/>
        </p:spPr>
        <p:txBody>
          <a:bodyPr wrap="square" lIns="0" tIns="0" rIns="0" bIns="0" rtlCol="0" anchor="t"/>
          <a:lstStyle/>
          <a:p>
            <a:pPr indent="0" marL="0">
              <a:buNone/>
            </a:pPr>
            <a:r>
              <a:rPr lang="en-US" sz="1250" dirty="0">
                <a:solidFill>
                  <a:schemeClr val="tx1"/>
                </a:solidFill>
              </a:rPr>
              <a:t>Registry-ready trials, recruitment and safety reporting.</a:t>
            </a:r>
            <a:endParaRPr lang="en-US" sz="1250" dirty="0"/>
          </a:p>
        </p:txBody>
      </p:sp>
      <p:sp>
        <p:nvSpPr>
          <p:cNvPr id="19" name="Ethics Review Boards"/>
          <p:cNvSpPr/>
          <p:nvPr/>
        </p:nvSpPr>
        <p:spPr>
          <a:xfrm>
            <a:off x="8983980" y="1783080"/>
            <a:ext cx="2628900" cy="2103120"/>
          </a:xfrm>
          <a:prstGeom prst="roundRect">
            <a:avLst>
              <a:gd name="adj" fmla="val 4348"/>
            </a:avLst>
          </a:prstGeom>
          <a:solidFill>
            <a:srgbClr val="F6F4FB"/>
          </a:solidFill>
          <a:ln w="9525">
            <a:solidFill>
              <a:srgbClr val="DDD8EC"/>
            </a:solidFill>
            <a:prstDash val="solid"/>
          </a:ln>
        </p:spPr>
      </p:sp>
      <p:sp>
        <p:nvSpPr>
          <p:cNvPr id="20" name="Shape 15"/>
          <p:cNvSpPr/>
          <p:nvPr/>
        </p:nvSpPr>
        <p:spPr>
          <a:xfrm>
            <a:off x="9212580" y="2011680"/>
            <a:ext cx="640080" cy="640080"/>
          </a:xfrm>
          <a:prstGeom prst="ellipse">
            <a:avLst/>
          </a:prstGeom>
          <a:solidFill>
            <a:srgbClr val="2A9DC0"/>
          </a:solidFill>
          <a:ln w="12700">
            <a:solidFill>
              <a:srgbClr val="2A9DC0"/>
            </a:solidFill>
            <a:prstDash val="solid"/>
          </a:ln>
        </p:spPr>
      </p:sp>
      <p:pic>
        <p:nvPicPr>
          <p:cNvPr id="21" name="Image 3" descr="preencoded.png">    </p:cNvPr>
          <p:cNvPicPr>
            <a:picLocks noChangeAspect="1"/>
          </p:cNvPicPr>
          <p:nvPr/>
        </p:nvPicPr>
        <p:blipFill>
          <a:blip r:embed="rId4"/>
          <a:stretch>
            <a:fillRect/>
          </a:stretch>
        </p:blipFill>
        <p:spPr>
          <a:xfrm>
            <a:off x="9366199" y="2165299"/>
            <a:ext cx="332842" cy="332842"/>
          </a:xfrm>
          <a:prstGeom prst="rect">
            <a:avLst/>
          </a:prstGeom>
        </p:spPr>
      </p:pic>
      <p:sp>
        <p:nvSpPr>
          <p:cNvPr id="22" name="Text 16"/>
          <p:cNvSpPr txBox="1"/>
          <p:nvPr/>
        </p:nvSpPr>
        <p:spPr>
          <a:xfrm>
            <a:off x="9212580" y="2743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Ethics Review Boards</a:t>
            </a:r>
            <a:endParaRPr lang="en-US" sz="1500" dirty="0"/>
          </a:p>
        </p:txBody>
      </p:sp>
      <p:sp>
        <p:nvSpPr>
          <p:cNvPr id="23" name="Text 17"/>
          <p:cNvSpPr txBox="1"/>
          <p:nvPr/>
        </p:nvSpPr>
        <p:spPr>
          <a:xfrm>
            <a:off x="9212580" y="3355848"/>
            <a:ext cx="2217420" cy="457200"/>
          </a:xfrm>
          <a:prstGeom prst="rect">
            <a:avLst/>
          </a:prstGeom>
          <a:noFill/>
          <a:ln/>
        </p:spPr>
        <p:txBody>
          <a:bodyPr wrap="square" lIns="0" tIns="0" rIns="0" bIns="0" rtlCol="0" anchor="t"/>
          <a:lstStyle/>
          <a:p>
            <a:pPr indent="0" marL="0">
              <a:buNone/>
            </a:pPr>
            <a:r>
              <a:rPr lang="en-US" sz="1250" dirty="0">
                <a:solidFill>
                  <a:schemeClr val="tx1"/>
                </a:solidFill>
              </a:rPr>
              <a:t>Online applications, committee review and approval tracking.</a:t>
            </a:r>
            <a:endParaRPr lang="en-US" sz="1250" dirty="0"/>
          </a:p>
        </p:txBody>
      </p:sp>
      <p:sp>
        <p:nvSpPr>
          <p:cNvPr id="24" name="Health Research Institutes"/>
          <p:cNvSpPr/>
          <p:nvPr/>
        </p:nvSpPr>
        <p:spPr>
          <a:xfrm>
            <a:off x="548640" y="4069080"/>
            <a:ext cx="2628900" cy="2103120"/>
          </a:xfrm>
          <a:prstGeom prst="roundRect">
            <a:avLst>
              <a:gd name="adj" fmla="val 4348"/>
            </a:avLst>
          </a:prstGeom>
          <a:solidFill>
            <a:srgbClr val="F6F4FB"/>
          </a:solidFill>
          <a:ln w="9525">
            <a:solidFill>
              <a:srgbClr val="DDD8EC"/>
            </a:solidFill>
            <a:prstDash val="solid"/>
          </a:ln>
        </p:spPr>
      </p:sp>
      <p:sp>
        <p:nvSpPr>
          <p:cNvPr id="25" name="Shape 19"/>
          <p:cNvSpPr/>
          <p:nvPr/>
        </p:nvSpPr>
        <p:spPr>
          <a:xfrm>
            <a:off x="777240" y="4297680"/>
            <a:ext cx="640080" cy="640080"/>
          </a:xfrm>
          <a:prstGeom prst="ellipse">
            <a:avLst/>
          </a:prstGeom>
          <a:solidFill>
            <a:srgbClr val="2A9DC0"/>
          </a:solidFill>
          <a:ln w="12700">
            <a:solidFill>
              <a:srgbClr val="2A9DC0"/>
            </a:solidFill>
            <a:prstDash val="solid"/>
          </a:ln>
        </p:spPr>
      </p:sp>
      <p:pic>
        <p:nvPicPr>
          <p:cNvPr id="26" name="Image 4" descr="preencoded.png">    </p:cNvPr>
          <p:cNvPicPr>
            <a:picLocks noChangeAspect="1"/>
          </p:cNvPicPr>
          <p:nvPr/>
        </p:nvPicPr>
        <p:blipFill>
          <a:blip r:embed="rId5"/>
          <a:stretch>
            <a:fillRect/>
          </a:stretch>
        </p:blipFill>
        <p:spPr>
          <a:xfrm>
            <a:off x="930859" y="4451299"/>
            <a:ext cx="332842" cy="332842"/>
          </a:xfrm>
          <a:prstGeom prst="rect">
            <a:avLst/>
          </a:prstGeom>
        </p:spPr>
      </p:pic>
      <p:sp>
        <p:nvSpPr>
          <p:cNvPr id="27" name="Text 20"/>
          <p:cNvSpPr txBox="1"/>
          <p:nvPr/>
        </p:nvSpPr>
        <p:spPr>
          <a:xfrm>
            <a:off x="777240" y="5029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Health Research Institutes</a:t>
            </a:r>
            <a:endParaRPr lang="en-US" sz="1500" dirty="0"/>
          </a:p>
        </p:txBody>
      </p:sp>
      <p:sp>
        <p:nvSpPr>
          <p:cNvPr id="28" name="Text 21"/>
          <p:cNvSpPr txBox="1"/>
          <p:nvPr/>
        </p:nvSpPr>
        <p:spPr>
          <a:xfrm>
            <a:off x="777240" y="5641848"/>
            <a:ext cx="2217420" cy="457200"/>
          </a:xfrm>
          <a:prstGeom prst="rect">
            <a:avLst/>
          </a:prstGeom>
          <a:noFill/>
          <a:ln/>
        </p:spPr>
        <p:txBody>
          <a:bodyPr wrap="square" lIns="0" tIns="0" rIns="0" bIns="0" rtlCol="0" anchor="t"/>
          <a:lstStyle/>
          <a:p>
            <a:pPr indent="0" marL="0">
              <a:buNone/>
            </a:pPr>
            <a:r>
              <a:rPr lang="en-US" sz="1250" dirty="0">
                <a:solidFill>
                  <a:schemeClr val="tx1"/>
                </a:solidFill>
              </a:rPr>
              <a:t>Manage projects, grants, datasets and publications.</a:t>
            </a:r>
            <a:endParaRPr lang="en-US" sz="1250" dirty="0"/>
          </a:p>
        </p:txBody>
      </p:sp>
      <p:sp>
        <p:nvSpPr>
          <p:cNvPr id="29" name="Health Ministries"/>
          <p:cNvSpPr/>
          <p:nvPr/>
        </p:nvSpPr>
        <p:spPr>
          <a:xfrm>
            <a:off x="3360420" y="4069080"/>
            <a:ext cx="2628900" cy="2103120"/>
          </a:xfrm>
          <a:prstGeom prst="roundRect">
            <a:avLst>
              <a:gd name="adj" fmla="val 4348"/>
            </a:avLst>
          </a:prstGeom>
          <a:solidFill>
            <a:srgbClr val="F6F4FB"/>
          </a:solidFill>
          <a:ln w="9525">
            <a:solidFill>
              <a:srgbClr val="DDD8EC"/>
            </a:solidFill>
            <a:prstDash val="solid"/>
          </a:ln>
        </p:spPr>
      </p:sp>
      <p:sp>
        <p:nvSpPr>
          <p:cNvPr id="30" name="Shape 23"/>
          <p:cNvSpPr/>
          <p:nvPr/>
        </p:nvSpPr>
        <p:spPr>
          <a:xfrm>
            <a:off x="3589020" y="4297680"/>
            <a:ext cx="640080" cy="640080"/>
          </a:xfrm>
          <a:prstGeom prst="ellipse">
            <a:avLst/>
          </a:prstGeom>
          <a:solidFill>
            <a:srgbClr val="7E5BB5"/>
          </a:solidFill>
          <a:ln w="12700">
            <a:solidFill>
              <a:srgbClr val="7E5BB5"/>
            </a:solidFill>
            <a:prstDash val="solid"/>
          </a:ln>
        </p:spPr>
      </p:sp>
      <p:pic>
        <p:nvPicPr>
          <p:cNvPr id="31" name="Image 5" descr="preencoded.png">    </p:cNvPr>
          <p:cNvPicPr>
            <a:picLocks noChangeAspect="1"/>
          </p:cNvPicPr>
          <p:nvPr/>
        </p:nvPicPr>
        <p:blipFill>
          <a:blip r:embed="rId6"/>
          <a:stretch>
            <a:fillRect/>
          </a:stretch>
        </p:blipFill>
        <p:spPr>
          <a:xfrm>
            <a:off x="3742639" y="4451299"/>
            <a:ext cx="332842" cy="332842"/>
          </a:xfrm>
          <a:prstGeom prst="rect">
            <a:avLst/>
          </a:prstGeom>
        </p:spPr>
      </p:pic>
      <p:sp>
        <p:nvSpPr>
          <p:cNvPr id="32" name="Text 24"/>
          <p:cNvSpPr txBox="1"/>
          <p:nvPr/>
        </p:nvSpPr>
        <p:spPr>
          <a:xfrm>
            <a:off x="3589020" y="5029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Health Ministries</a:t>
            </a:r>
            <a:endParaRPr lang="en-US" sz="1500" dirty="0"/>
          </a:p>
        </p:txBody>
      </p:sp>
      <p:sp>
        <p:nvSpPr>
          <p:cNvPr id="33" name="Text 25"/>
          <p:cNvSpPr txBox="1"/>
          <p:nvPr/>
        </p:nvSpPr>
        <p:spPr>
          <a:xfrm>
            <a:off x="3589020" y="5641848"/>
            <a:ext cx="2217420" cy="457200"/>
          </a:xfrm>
          <a:prstGeom prst="rect">
            <a:avLst/>
          </a:prstGeom>
          <a:noFill/>
          <a:ln/>
        </p:spPr>
        <p:txBody>
          <a:bodyPr wrap="square" lIns="0" tIns="0" rIns="0" bIns="0" rtlCol="0" anchor="t"/>
          <a:lstStyle/>
          <a:p>
            <a:pPr indent="0" marL="0">
              <a:buNone/>
            </a:pPr>
            <a:r>
              <a:rPr lang="en-US" sz="1250" dirty="0">
                <a:solidFill>
                  <a:schemeClr val="tx1"/>
                </a:solidFill>
              </a:rPr>
              <a:t>National view of research activity, compliance and impact.</a:t>
            </a:r>
            <a:endParaRPr lang="en-US" sz="1250" dirty="0"/>
          </a:p>
        </p:txBody>
      </p:sp>
      <p:sp>
        <p:nvSpPr>
          <p:cNvPr id="34" name="Research Support Offices"/>
          <p:cNvSpPr/>
          <p:nvPr/>
        </p:nvSpPr>
        <p:spPr>
          <a:xfrm>
            <a:off x="6172200" y="4069080"/>
            <a:ext cx="2628900" cy="2103120"/>
          </a:xfrm>
          <a:prstGeom prst="roundRect">
            <a:avLst>
              <a:gd name="adj" fmla="val 4348"/>
            </a:avLst>
          </a:prstGeom>
          <a:solidFill>
            <a:srgbClr val="F6F4FB"/>
          </a:solidFill>
          <a:ln w="9525">
            <a:solidFill>
              <a:srgbClr val="DDD8EC"/>
            </a:solidFill>
            <a:prstDash val="solid"/>
          </a:ln>
        </p:spPr>
      </p:sp>
      <p:sp>
        <p:nvSpPr>
          <p:cNvPr id="35" name="Shape 27"/>
          <p:cNvSpPr/>
          <p:nvPr/>
        </p:nvSpPr>
        <p:spPr>
          <a:xfrm>
            <a:off x="6400800" y="4297680"/>
            <a:ext cx="640080" cy="640080"/>
          </a:xfrm>
          <a:prstGeom prst="ellipse">
            <a:avLst/>
          </a:prstGeom>
          <a:solidFill>
            <a:srgbClr val="2A9DC0"/>
          </a:solidFill>
          <a:ln w="12700">
            <a:solidFill>
              <a:srgbClr val="2A9DC0"/>
            </a:solidFill>
            <a:prstDash val="solid"/>
          </a:ln>
        </p:spPr>
      </p:sp>
      <p:pic>
        <p:nvPicPr>
          <p:cNvPr id="36" name="Image 6" descr="preencoded.png">    </p:cNvPr>
          <p:cNvPicPr>
            <a:picLocks noChangeAspect="1"/>
          </p:cNvPicPr>
          <p:nvPr/>
        </p:nvPicPr>
        <p:blipFill>
          <a:blip r:embed="rId7"/>
          <a:stretch>
            <a:fillRect/>
          </a:stretch>
        </p:blipFill>
        <p:spPr>
          <a:xfrm>
            <a:off x="6554419" y="4451299"/>
            <a:ext cx="332842" cy="332842"/>
          </a:xfrm>
          <a:prstGeom prst="rect">
            <a:avLst/>
          </a:prstGeom>
        </p:spPr>
      </p:pic>
      <p:sp>
        <p:nvSpPr>
          <p:cNvPr id="37" name="Text 28"/>
          <p:cNvSpPr txBox="1"/>
          <p:nvPr/>
        </p:nvSpPr>
        <p:spPr>
          <a:xfrm>
            <a:off x="6400800" y="5029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Research Support Offices</a:t>
            </a:r>
            <a:endParaRPr lang="en-US" sz="1500" dirty="0"/>
          </a:p>
        </p:txBody>
      </p:sp>
      <p:sp>
        <p:nvSpPr>
          <p:cNvPr id="38" name="Text 29"/>
          <p:cNvSpPr txBox="1"/>
          <p:nvPr/>
        </p:nvSpPr>
        <p:spPr>
          <a:xfrm>
            <a:off x="6400800" y="5641848"/>
            <a:ext cx="2217420" cy="457200"/>
          </a:xfrm>
          <a:prstGeom prst="rect">
            <a:avLst/>
          </a:prstGeom>
          <a:noFill/>
          <a:ln/>
        </p:spPr>
        <p:txBody>
          <a:bodyPr wrap="square" lIns="0" tIns="0" rIns="0" bIns="0" rtlCol="0" anchor="t"/>
          <a:lstStyle/>
          <a:p>
            <a:pPr indent="0" marL="0">
              <a:buNone/>
            </a:pPr>
            <a:r>
              <a:rPr lang="en-US" sz="1250" dirty="0">
                <a:solidFill>
                  <a:schemeClr val="tx1"/>
                </a:solidFill>
              </a:rPr>
              <a:t>Review pipelines, grant tracking and reporting on demand.</a:t>
            </a:r>
            <a:endParaRPr lang="en-US" sz="1250" dirty="0"/>
          </a:p>
        </p:txBody>
      </p:sp>
      <p:sp>
        <p:nvSpPr>
          <p:cNvPr id="39" name="International Research Partners"/>
          <p:cNvSpPr/>
          <p:nvPr/>
        </p:nvSpPr>
        <p:spPr>
          <a:xfrm>
            <a:off x="8983980" y="4069080"/>
            <a:ext cx="2628900" cy="2103120"/>
          </a:xfrm>
          <a:prstGeom prst="roundRect">
            <a:avLst>
              <a:gd name="adj" fmla="val 4348"/>
            </a:avLst>
          </a:prstGeom>
          <a:solidFill>
            <a:srgbClr val="F6F4FB"/>
          </a:solidFill>
          <a:ln w="9525">
            <a:solidFill>
              <a:srgbClr val="DDD8EC"/>
            </a:solidFill>
            <a:prstDash val="solid"/>
          </a:ln>
        </p:spPr>
      </p:sp>
      <p:sp>
        <p:nvSpPr>
          <p:cNvPr id="40" name="Shape 31"/>
          <p:cNvSpPr/>
          <p:nvPr/>
        </p:nvSpPr>
        <p:spPr>
          <a:xfrm>
            <a:off x="9212580" y="4297680"/>
            <a:ext cx="640080" cy="640080"/>
          </a:xfrm>
          <a:prstGeom prst="ellipse">
            <a:avLst/>
          </a:prstGeom>
          <a:solidFill>
            <a:srgbClr val="7E5BB5"/>
          </a:solidFill>
          <a:ln w="12700">
            <a:solidFill>
              <a:srgbClr val="7E5BB5"/>
            </a:solidFill>
            <a:prstDash val="solid"/>
          </a:ln>
        </p:spPr>
      </p:sp>
      <p:pic>
        <p:nvPicPr>
          <p:cNvPr id="41" name="Image 7" descr="preencoded.png">    </p:cNvPr>
          <p:cNvPicPr>
            <a:picLocks noChangeAspect="1"/>
          </p:cNvPicPr>
          <p:nvPr/>
        </p:nvPicPr>
        <p:blipFill>
          <a:blip r:embed="rId8"/>
          <a:stretch>
            <a:fillRect/>
          </a:stretch>
        </p:blipFill>
        <p:spPr>
          <a:xfrm>
            <a:off x="9366199" y="4451299"/>
            <a:ext cx="332842" cy="332842"/>
          </a:xfrm>
          <a:prstGeom prst="rect">
            <a:avLst/>
          </a:prstGeom>
        </p:spPr>
      </p:pic>
      <p:sp>
        <p:nvSpPr>
          <p:cNvPr id="42" name="Text 32"/>
          <p:cNvSpPr txBox="1"/>
          <p:nvPr/>
        </p:nvSpPr>
        <p:spPr>
          <a:xfrm>
            <a:off x="9212580" y="5029200"/>
            <a:ext cx="2217420" cy="548640"/>
          </a:xfrm>
          <a:prstGeom prst="rect">
            <a:avLst/>
          </a:prstGeom>
          <a:noFill/>
          <a:ln/>
        </p:spPr>
        <p:txBody>
          <a:bodyPr wrap="square" lIns="0" tIns="0" rIns="0" bIns="0" rtlCol="0" anchor="t"/>
          <a:lstStyle/>
          <a:p>
            <a:pPr indent="0" marL="0">
              <a:buNone/>
            </a:pPr>
            <a:r>
              <a:rPr lang="en-US" sz="1500" b="1" dirty="0">
                <a:solidFill>
                  <a:schemeClr val="tx2"/>
                </a:solidFill>
              </a:rPr>
              <a:t>International Research Partners</a:t>
            </a:r>
            <a:endParaRPr lang="en-US" sz="1500" dirty="0"/>
          </a:p>
        </p:txBody>
      </p:sp>
      <p:sp>
        <p:nvSpPr>
          <p:cNvPr id="43" name="Text 33"/>
          <p:cNvSpPr txBox="1"/>
          <p:nvPr/>
        </p:nvSpPr>
        <p:spPr>
          <a:xfrm>
            <a:off x="9212580" y="5641848"/>
            <a:ext cx="2217420" cy="457200"/>
          </a:xfrm>
          <a:prstGeom prst="rect">
            <a:avLst/>
          </a:prstGeom>
          <a:noFill/>
          <a:ln/>
        </p:spPr>
        <p:txBody>
          <a:bodyPr wrap="square" lIns="0" tIns="0" rIns="0" bIns="0" rtlCol="0" anchor="t"/>
          <a:lstStyle/>
          <a:p>
            <a:pPr indent="0" marL="0">
              <a:buNone/>
            </a:pPr>
            <a:r>
              <a:rPr lang="en-US" sz="1250" dirty="0">
                <a:solidFill>
                  <a:schemeClr val="tx1"/>
                </a:solidFill>
              </a:rPr>
              <a:t>Collaborate across institutions on shared projects and outputs.</a:t>
            </a:r>
            <a:endParaRPr lang="en-US" sz="12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How it fits together: one data core, four workspaces</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600" dirty="0">
                <a:solidFill>
                  <a:schemeClr val="tx1"/>
                </a:solidFill>
              </a:rPr>
              <a:t>Every user works in a portal designed for their role, on the same shared, permissioned research record.</a:t>
            </a:r>
            <a:endParaRPr lang="en-US" sz="1600" dirty="0"/>
          </a:p>
        </p:txBody>
      </p:sp>
      <p:sp>
        <p:nvSpPr>
          <p:cNvPr id="4" name="Data core"/>
          <p:cNvSpPr/>
          <p:nvPr/>
        </p:nvSpPr>
        <p:spPr>
          <a:xfrm>
            <a:off x="4251960" y="2880360"/>
            <a:ext cx="3657600" cy="1737360"/>
          </a:xfrm>
          <a:prstGeom prst="roundRect">
            <a:avLst>
              <a:gd name="adj" fmla="val 7895"/>
            </a:avLst>
          </a:prstGeom>
          <a:solidFill>
            <a:srgbClr val="1C1B3A"/>
          </a:solidFill>
          <a:ln w="12700">
            <a:solidFill>
              <a:srgbClr val="1C1B3A"/>
            </a:solidFill>
            <a:prstDash val="solid"/>
          </a:ln>
          <a:effectLst>
            <a:outerShdw sx="100000" sy="100000" kx="0" ky="0" algn="bl" rotWithShape="0" blurRad="152400" dist="50800" dir="5400000">
              <a:srgbClr val="000000">
                <a:alpha val="18000"/>
              </a:srgbClr>
            </a:outerShdw>
          </a:effectLst>
        </p:spPr>
      </p:sp>
      <p:sp>
        <p:nvSpPr>
          <p:cNvPr id="5" name="Text 3"/>
          <p:cNvSpPr txBox="1"/>
          <p:nvPr/>
        </p:nvSpPr>
        <p:spPr>
          <a:xfrm>
            <a:off x="4480560" y="3063240"/>
            <a:ext cx="3200400" cy="1371600"/>
          </a:xfrm>
          <a:prstGeom prst="rect">
            <a:avLst/>
          </a:prstGeom>
          <a:noFill/>
          <a:ln/>
        </p:spPr>
        <p:txBody>
          <a:bodyPr wrap="square" lIns="0" tIns="0" rIns="0" bIns="0" rtlCol="0" anchor="ctr"/>
          <a:lstStyle/>
          <a:p>
            <a:pPr algn="ctr" indent="0" marL="0">
              <a:buNone/>
            </a:pPr>
            <a:r>
              <a:rPr lang="en-US" sz="1800" b="1" dirty="0">
                <a:solidFill>
                  <a:srgbClr val="FFFFFF"/>
                </a:solidFill>
              </a:rPr>
              <a:t>HospitiumRIS research record</a:t>
            </a:r>
            <a:endParaRPr lang="en-US" sz="1800" dirty="0"/>
          </a:p>
          <a:p>
            <a:pPr algn="ctr" indent="0" marL="0">
              <a:buNone/>
            </a:pPr>
            <a:r>
              <a:rPr lang="en-US" sz="1300" dirty="0">
                <a:solidFill>
                  <a:srgbClr val="CFCBE6"/>
                </a:solidFill>
              </a:rPr>
              <a:t>People · projects · proposals · ethics · trials · grants · manuscripts · publications · datasets</a:t>
            </a:r>
            <a:endParaRPr lang="en-US" sz="1800" dirty="0"/>
          </a:p>
        </p:txBody>
      </p:sp>
      <p:sp>
        <p:nvSpPr>
          <p:cNvPr id="6" name="AI layer"/>
          <p:cNvSpPr/>
          <p:nvPr/>
        </p:nvSpPr>
        <p:spPr>
          <a:xfrm>
            <a:off x="4800600" y="4846320"/>
            <a:ext cx="2560320" cy="457200"/>
          </a:xfrm>
          <a:prstGeom prst="roundRect">
            <a:avLst>
              <a:gd name="adj" fmla="val 50000"/>
            </a:avLst>
          </a:prstGeom>
          <a:solidFill>
            <a:srgbClr val="EFEAF8"/>
          </a:solidFill>
          <a:ln w="9525">
            <a:solidFill>
              <a:srgbClr val="C9B9E8"/>
            </a:solidFill>
            <a:prstDash val="solid"/>
          </a:ln>
        </p:spPr>
      </p:sp>
      <p:sp>
        <p:nvSpPr>
          <p:cNvPr id="7" name="Text 5"/>
          <p:cNvSpPr txBox="1"/>
          <p:nvPr/>
        </p:nvSpPr>
        <p:spPr>
          <a:xfrm>
            <a:off x="4800600" y="4846320"/>
            <a:ext cx="2560320" cy="457200"/>
          </a:xfrm>
          <a:prstGeom prst="rect">
            <a:avLst/>
          </a:prstGeom>
          <a:noFill/>
          <a:ln/>
        </p:spPr>
        <p:txBody>
          <a:bodyPr wrap="square" lIns="0" tIns="0" rIns="0" bIns="0" rtlCol="0" anchor="ctr"/>
          <a:lstStyle/>
          <a:p>
            <a:pPr algn="ctr" indent="0" marL="0">
              <a:buNone/>
            </a:pPr>
            <a:r>
              <a:rPr lang="en-US" sz="1400" b="1" dirty="0">
                <a:solidFill>
                  <a:srgbClr val="7E5BB5"/>
                </a:solidFill>
              </a:rPr>
              <a:t>AI insight layer</a:t>
            </a:r>
            <a:endParaRPr lang="en-US" sz="1400" dirty="0"/>
          </a:p>
        </p:txBody>
      </p:sp>
      <p:sp>
        <p:nvSpPr>
          <p:cNvPr id="8" name="Researcher portal"/>
          <p:cNvSpPr/>
          <p:nvPr/>
        </p:nvSpPr>
        <p:spPr>
          <a:xfrm>
            <a:off x="548640" y="1874520"/>
            <a:ext cx="3474720" cy="1783080"/>
          </a:xfrm>
          <a:prstGeom prst="roundRect">
            <a:avLst>
              <a:gd name="adj" fmla="val 5128"/>
            </a:avLst>
          </a:prstGeom>
          <a:solidFill>
            <a:srgbClr val="F6F4FB"/>
          </a:solidFill>
          <a:ln w="9525">
            <a:solidFill>
              <a:srgbClr val="DDD8EC"/>
            </a:solidFill>
            <a:prstDash val="solid"/>
          </a:ln>
        </p:spPr>
      </p:sp>
      <p:sp>
        <p:nvSpPr>
          <p:cNvPr id="9" name="Shape 7"/>
          <p:cNvSpPr/>
          <p:nvPr/>
        </p:nvSpPr>
        <p:spPr>
          <a:xfrm>
            <a:off x="777240" y="2103120"/>
            <a:ext cx="548640" cy="548640"/>
          </a:xfrm>
          <a:prstGeom prst="ellipse">
            <a:avLst/>
          </a:prstGeom>
          <a:solidFill>
            <a:srgbClr val="7E5BB5"/>
          </a:solidFill>
          <a:ln w="12700">
            <a:solidFill>
              <a:srgbClr val="7E5BB5"/>
            </a:solidFill>
            <a:prstDash val="solid"/>
          </a:ln>
        </p:spPr>
      </p:sp>
      <p:pic>
        <p:nvPicPr>
          <p:cNvPr id="10" name="Image 0" descr="preencoded.png">    </p:cNvPr>
          <p:cNvPicPr>
            <a:picLocks noChangeAspect="1"/>
          </p:cNvPicPr>
          <p:nvPr/>
        </p:nvPicPr>
        <p:blipFill>
          <a:blip r:embed="rId1"/>
          <a:stretch>
            <a:fillRect/>
          </a:stretch>
        </p:blipFill>
        <p:spPr>
          <a:xfrm>
            <a:off x="908914" y="2234794"/>
            <a:ext cx="285293" cy="285293"/>
          </a:xfrm>
          <a:prstGeom prst="rect">
            <a:avLst/>
          </a:prstGeom>
        </p:spPr>
      </p:pic>
      <p:sp>
        <p:nvSpPr>
          <p:cNvPr id="11" name="Text 8"/>
          <p:cNvSpPr txBox="1"/>
          <p:nvPr/>
        </p:nvSpPr>
        <p:spPr>
          <a:xfrm>
            <a:off x="1463040" y="214884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Researcher portal</a:t>
            </a:r>
            <a:endParaRPr lang="en-US" sz="1600" dirty="0"/>
          </a:p>
        </p:txBody>
      </p:sp>
      <p:sp>
        <p:nvSpPr>
          <p:cNvPr id="12" name="Text 9"/>
          <p:cNvSpPr txBox="1"/>
          <p:nvPr/>
        </p:nvSpPr>
        <p:spPr>
          <a:xfrm>
            <a:off x="777240" y="2788920"/>
            <a:ext cx="3063240" cy="777240"/>
          </a:xfrm>
          <a:prstGeom prst="rect">
            <a:avLst/>
          </a:prstGeom>
          <a:noFill/>
          <a:ln/>
        </p:spPr>
        <p:txBody>
          <a:bodyPr wrap="square" lIns="0" tIns="0" rIns="0" bIns="0" rtlCol="0" anchor="t"/>
          <a:lstStyle/>
          <a:p>
            <a:pPr indent="0" marL="0">
              <a:buNone/>
            </a:pPr>
            <a:r>
              <a:rPr lang="en-US" sz="1300" dirty="0">
                <a:solidFill>
                  <a:schemeClr val="tx1"/>
                </a:solidFill>
              </a:rPr>
              <a:t>Profile, publications, manuscripts, proposals, ethics, trials, training</a:t>
            </a:r>
            <a:endParaRPr lang="en-US" sz="1300" dirty="0"/>
          </a:p>
        </p:txBody>
      </p:sp>
      <p:sp>
        <p:nvSpPr>
          <p:cNvPr id="13" name="Shape 10"/>
          <p:cNvSpPr/>
          <p:nvPr/>
        </p:nvSpPr>
        <p:spPr>
          <a:xfrm>
            <a:off x="4023360" y="2761488"/>
            <a:ext cx="228600" cy="0"/>
          </a:xfrm>
          <a:prstGeom prst="line">
            <a:avLst/>
          </a:prstGeom>
          <a:noFill/>
          <a:ln w="19050">
            <a:solidFill>
              <a:srgbClr val="B9AEDB"/>
            </a:solidFill>
            <a:prstDash val="dash"/>
          </a:ln>
        </p:spPr>
      </p:sp>
      <p:sp>
        <p:nvSpPr>
          <p:cNvPr id="14" name="Institution portal"/>
          <p:cNvSpPr/>
          <p:nvPr/>
        </p:nvSpPr>
        <p:spPr>
          <a:xfrm>
            <a:off x="8183880" y="1874520"/>
            <a:ext cx="3474720" cy="1783080"/>
          </a:xfrm>
          <a:prstGeom prst="roundRect">
            <a:avLst>
              <a:gd name="adj" fmla="val 5128"/>
            </a:avLst>
          </a:prstGeom>
          <a:solidFill>
            <a:srgbClr val="F6F4FB"/>
          </a:solidFill>
          <a:ln w="9525">
            <a:solidFill>
              <a:srgbClr val="DDD8EC"/>
            </a:solidFill>
            <a:prstDash val="solid"/>
          </a:ln>
        </p:spPr>
      </p:sp>
      <p:sp>
        <p:nvSpPr>
          <p:cNvPr id="15" name="Shape 12"/>
          <p:cNvSpPr/>
          <p:nvPr/>
        </p:nvSpPr>
        <p:spPr>
          <a:xfrm>
            <a:off x="8412480" y="2103120"/>
            <a:ext cx="548640" cy="548640"/>
          </a:xfrm>
          <a:prstGeom prst="ellipse">
            <a:avLst/>
          </a:prstGeom>
          <a:solidFill>
            <a:srgbClr val="7E5BB5"/>
          </a:solidFill>
          <a:ln w="12700">
            <a:solidFill>
              <a:srgbClr val="7E5BB5"/>
            </a:solidFill>
            <a:prstDash val="solid"/>
          </a:ln>
        </p:spPr>
      </p:sp>
      <p:pic>
        <p:nvPicPr>
          <p:cNvPr id="16" name="Image 1" descr="preencoded.png">    </p:cNvPr>
          <p:cNvPicPr>
            <a:picLocks noChangeAspect="1"/>
          </p:cNvPicPr>
          <p:nvPr/>
        </p:nvPicPr>
        <p:blipFill>
          <a:blip r:embed="rId2"/>
          <a:stretch>
            <a:fillRect/>
          </a:stretch>
        </p:blipFill>
        <p:spPr>
          <a:xfrm>
            <a:off x="8544154" y="2234794"/>
            <a:ext cx="285293" cy="285293"/>
          </a:xfrm>
          <a:prstGeom prst="rect">
            <a:avLst/>
          </a:prstGeom>
        </p:spPr>
      </p:pic>
      <p:sp>
        <p:nvSpPr>
          <p:cNvPr id="17" name="Text 13"/>
          <p:cNvSpPr txBox="1"/>
          <p:nvPr/>
        </p:nvSpPr>
        <p:spPr>
          <a:xfrm>
            <a:off x="9098280" y="214884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Institution portal</a:t>
            </a:r>
            <a:endParaRPr lang="en-US" sz="1600" dirty="0"/>
          </a:p>
        </p:txBody>
      </p:sp>
      <p:sp>
        <p:nvSpPr>
          <p:cNvPr id="18" name="Text 14"/>
          <p:cNvSpPr txBox="1"/>
          <p:nvPr/>
        </p:nvSpPr>
        <p:spPr>
          <a:xfrm>
            <a:off x="8412480" y="2788920"/>
            <a:ext cx="3063240" cy="777240"/>
          </a:xfrm>
          <a:prstGeom prst="rect">
            <a:avLst/>
          </a:prstGeom>
          <a:noFill/>
          <a:ln/>
        </p:spPr>
        <p:txBody>
          <a:bodyPr wrap="square" lIns="0" tIns="0" rIns="0" bIns="0" rtlCol="0" anchor="t"/>
          <a:lstStyle/>
          <a:p>
            <a:pPr indent="0" marL="0">
              <a:buNone/>
            </a:pPr>
            <a:r>
              <a:rPr lang="en-US" sz="1300" dirty="0">
                <a:solidFill>
                  <a:schemeClr val="tx1"/>
                </a:solidFill>
              </a:rPr>
              <a:t>Review pipelines, ethics boards, trial oversight, analytics, users</a:t>
            </a:r>
            <a:endParaRPr lang="en-US" sz="1300" dirty="0"/>
          </a:p>
        </p:txBody>
      </p:sp>
      <p:sp>
        <p:nvSpPr>
          <p:cNvPr id="19" name="Shape 15"/>
          <p:cNvSpPr/>
          <p:nvPr/>
        </p:nvSpPr>
        <p:spPr>
          <a:xfrm>
            <a:off x="7909560" y="2761488"/>
            <a:ext cx="274320" cy="0"/>
          </a:xfrm>
          <a:prstGeom prst="line">
            <a:avLst/>
          </a:prstGeom>
          <a:noFill/>
          <a:ln w="19050">
            <a:solidFill>
              <a:srgbClr val="B9AEDB"/>
            </a:solidFill>
            <a:prstDash val="dash"/>
          </a:ln>
        </p:spPr>
      </p:sp>
      <p:sp>
        <p:nvSpPr>
          <p:cNvPr id="20" name="Foundation portal"/>
          <p:cNvSpPr/>
          <p:nvPr/>
        </p:nvSpPr>
        <p:spPr>
          <a:xfrm>
            <a:off x="548640" y="4251960"/>
            <a:ext cx="3474720" cy="1783080"/>
          </a:xfrm>
          <a:prstGeom prst="roundRect">
            <a:avLst>
              <a:gd name="adj" fmla="val 5128"/>
            </a:avLst>
          </a:prstGeom>
          <a:solidFill>
            <a:srgbClr val="F6F4FB"/>
          </a:solidFill>
          <a:ln w="9525">
            <a:solidFill>
              <a:srgbClr val="DDD8EC"/>
            </a:solidFill>
            <a:prstDash val="solid"/>
          </a:ln>
        </p:spPr>
      </p:sp>
      <p:sp>
        <p:nvSpPr>
          <p:cNvPr id="21" name="Shape 17"/>
          <p:cNvSpPr/>
          <p:nvPr/>
        </p:nvSpPr>
        <p:spPr>
          <a:xfrm>
            <a:off x="777240" y="4480560"/>
            <a:ext cx="548640" cy="548640"/>
          </a:xfrm>
          <a:prstGeom prst="ellipse">
            <a:avLst/>
          </a:prstGeom>
          <a:solidFill>
            <a:srgbClr val="7E5BB5"/>
          </a:solidFill>
          <a:ln w="12700">
            <a:solidFill>
              <a:srgbClr val="7E5BB5"/>
            </a:solidFill>
            <a:prstDash val="solid"/>
          </a:ln>
        </p:spPr>
      </p:sp>
      <p:pic>
        <p:nvPicPr>
          <p:cNvPr id="22" name="Image 2" descr="preencoded.png">    </p:cNvPr>
          <p:cNvPicPr>
            <a:picLocks noChangeAspect="1"/>
          </p:cNvPicPr>
          <p:nvPr/>
        </p:nvPicPr>
        <p:blipFill>
          <a:blip r:embed="rId3"/>
          <a:stretch>
            <a:fillRect/>
          </a:stretch>
        </p:blipFill>
        <p:spPr>
          <a:xfrm>
            <a:off x="908914" y="4612234"/>
            <a:ext cx="285293" cy="285293"/>
          </a:xfrm>
          <a:prstGeom prst="rect">
            <a:avLst/>
          </a:prstGeom>
        </p:spPr>
      </p:pic>
      <p:sp>
        <p:nvSpPr>
          <p:cNvPr id="23" name="Text 18"/>
          <p:cNvSpPr txBox="1"/>
          <p:nvPr/>
        </p:nvSpPr>
        <p:spPr>
          <a:xfrm>
            <a:off x="1463040" y="452628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Foundation portal</a:t>
            </a:r>
            <a:endParaRPr lang="en-US" sz="1600" dirty="0"/>
          </a:p>
        </p:txBody>
      </p:sp>
      <p:sp>
        <p:nvSpPr>
          <p:cNvPr id="24" name="Text 19"/>
          <p:cNvSpPr txBox="1"/>
          <p:nvPr/>
        </p:nvSpPr>
        <p:spPr>
          <a:xfrm>
            <a:off x="777240" y="5166360"/>
            <a:ext cx="3063240" cy="777240"/>
          </a:xfrm>
          <a:prstGeom prst="rect">
            <a:avLst/>
          </a:prstGeom>
          <a:noFill/>
          <a:ln/>
        </p:spPr>
        <p:txBody>
          <a:bodyPr wrap="square" lIns="0" tIns="0" rIns="0" bIns="0" rtlCol="0" anchor="t"/>
          <a:lstStyle/>
          <a:p>
            <a:pPr indent="0" marL="0">
              <a:buNone/>
            </a:pPr>
            <a:r>
              <a:rPr lang="en-US" sz="1300" dirty="0">
                <a:solidFill>
                  <a:schemeClr val="tx1"/>
                </a:solidFill>
              </a:rPr>
              <a:t>Grant calls, internal requests, tracking, campaigns, donors, reports</a:t>
            </a:r>
            <a:endParaRPr lang="en-US" sz="1300" dirty="0"/>
          </a:p>
        </p:txBody>
      </p:sp>
      <p:sp>
        <p:nvSpPr>
          <p:cNvPr id="25" name="Shape 20"/>
          <p:cNvSpPr/>
          <p:nvPr/>
        </p:nvSpPr>
        <p:spPr>
          <a:xfrm>
            <a:off x="4023360" y="5138928"/>
            <a:ext cx="228600" cy="0"/>
          </a:xfrm>
          <a:prstGeom prst="line">
            <a:avLst/>
          </a:prstGeom>
          <a:noFill/>
          <a:ln w="19050">
            <a:solidFill>
              <a:srgbClr val="B9AEDB"/>
            </a:solidFill>
            <a:prstDash val="dash"/>
          </a:ln>
        </p:spPr>
      </p:sp>
      <p:sp>
        <p:nvSpPr>
          <p:cNvPr id="26" name="Platform administration"/>
          <p:cNvSpPr/>
          <p:nvPr/>
        </p:nvSpPr>
        <p:spPr>
          <a:xfrm>
            <a:off x="8183880" y="4251960"/>
            <a:ext cx="3474720" cy="1783080"/>
          </a:xfrm>
          <a:prstGeom prst="roundRect">
            <a:avLst>
              <a:gd name="adj" fmla="val 5128"/>
            </a:avLst>
          </a:prstGeom>
          <a:solidFill>
            <a:srgbClr val="F6F4FB"/>
          </a:solidFill>
          <a:ln w="9525">
            <a:solidFill>
              <a:srgbClr val="DDD8EC"/>
            </a:solidFill>
            <a:prstDash val="solid"/>
          </a:ln>
        </p:spPr>
      </p:sp>
      <p:sp>
        <p:nvSpPr>
          <p:cNvPr id="27" name="Shape 22"/>
          <p:cNvSpPr/>
          <p:nvPr/>
        </p:nvSpPr>
        <p:spPr>
          <a:xfrm>
            <a:off x="8412480" y="4480560"/>
            <a:ext cx="548640" cy="548640"/>
          </a:xfrm>
          <a:prstGeom prst="ellipse">
            <a:avLst/>
          </a:prstGeom>
          <a:solidFill>
            <a:srgbClr val="7E5BB5"/>
          </a:solidFill>
          <a:ln w="12700">
            <a:solidFill>
              <a:srgbClr val="7E5BB5"/>
            </a:solidFill>
            <a:prstDash val="solid"/>
          </a:ln>
        </p:spPr>
      </p:sp>
      <p:pic>
        <p:nvPicPr>
          <p:cNvPr id="28" name="Image 3" descr="preencoded.png">    </p:cNvPr>
          <p:cNvPicPr>
            <a:picLocks noChangeAspect="1"/>
          </p:cNvPicPr>
          <p:nvPr/>
        </p:nvPicPr>
        <p:blipFill>
          <a:blip r:embed="rId4"/>
          <a:stretch>
            <a:fillRect/>
          </a:stretch>
        </p:blipFill>
        <p:spPr>
          <a:xfrm>
            <a:off x="8544154" y="4612234"/>
            <a:ext cx="285293" cy="285293"/>
          </a:xfrm>
          <a:prstGeom prst="rect">
            <a:avLst/>
          </a:prstGeom>
        </p:spPr>
      </p:pic>
      <p:sp>
        <p:nvSpPr>
          <p:cNvPr id="29" name="Text 23"/>
          <p:cNvSpPr txBox="1"/>
          <p:nvPr/>
        </p:nvSpPr>
        <p:spPr>
          <a:xfrm>
            <a:off x="9098280" y="452628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Platform administration</a:t>
            </a:r>
            <a:endParaRPr lang="en-US" sz="1600" dirty="0"/>
          </a:p>
        </p:txBody>
      </p:sp>
      <p:sp>
        <p:nvSpPr>
          <p:cNvPr id="30" name="Text 24"/>
          <p:cNvSpPr txBox="1"/>
          <p:nvPr/>
        </p:nvSpPr>
        <p:spPr>
          <a:xfrm>
            <a:off x="8412480" y="5166360"/>
            <a:ext cx="3063240" cy="777240"/>
          </a:xfrm>
          <a:prstGeom prst="rect">
            <a:avLst/>
          </a:prstGeom>
          <a:noFill/>
          <a:ln/>
        </p:spPr>
        <p:txBody>
          <a:bodyPr wrap="square" lIns="0" tIns="0" rIns="0" bIns="0" rtlCol="0" anchor="t"/>
          <a:lstStyle/>
          <a:p>
            <a:pPr indent="0" marL="0">
              <a:buNone/>
            </a:pPr>
            <a:r>
              <a:rPr lang="en-US" sz="1300" dirty="0">
                <a:solidFill>
                  <a:schemeClr val="tx1"/>
                </a:solidFill>
              </a:rPr>
              <a:t>Institutions, verified domains, security, logs, system health</a:t>
            </a:r>
            <a:endParaRPr lang="en-US" sz="1300" dirty="0"/>
          </a:p>
        </p:txBody>
      </p:sp>
      <p:sp>
        <p:nvSpPr>
          <p:cNvPr id="31" name="Shape 25"/>
          <p:cNvSpPr/>
          <p:nvPr/>
        </p:nvSpPr>
        <p:spPr>
          <a:xfrm>
            <a:off x="7909560" y="5138928"/>
            <a:ext cx="274320" cy="0"/>
          </a:xfrm>
          <a:prstGeom prst="line">
            <a:avLst/>
          </a:prstGeom>
          <a:noFill/>
          <a:ln w="19050">
            <a:solidFill>
              <a:srgbClr val="B9AEDB"/>
            </a:solidFill>
            <a:prstDash val="dash"/>
          </a:ln>
        </p:spPr>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personal command centre for every researcher</a:t>
            </a:r>
            <a:endParaRPr lang="en-US" sz="3200" dirty="0"/>
          </a:p>
        </p:txBody>
      </p:sp>
      <p:sp>
        <p:nvSpPr>
          <p:cNvPr id="3" name="Researcher dashboard frame"/>
          <p:cNvSpPr/>
          <p:nvPr/>
        </p:nvSpPr>
        <p:spPr>
          <a:xfrm>
            <a:off x="548640" y="1371600"/>
            <a:ext cx="7315200" cy="4540803"/>
          </a:xfrm>
          <a:prstGeom prst="roundRect">
            <a:avLst>
              <a:gd name="adj" fmla="val 161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Researcher dashboard screenshot" descr="/home/claude/deck/img/r_dash.png">    </p:cNvPr>
          <p:cNvPicPr>
            <a:picLocks noChangeAspect="1"/>
          </p:cNvPicPr>
          <p:nvPr/>
        </p:nvPicPr>
        <p:blipFill>
          <a:blip r:embed="rId1"/>
          <a:stretch>
            <a:fillRect/>
          </a:stretch>
        </p:blipFill>
        <p:spPr>
          <a:xfrm>
            <a:off x="576072" y="1609344"/>
            <a:ext cx="7260336" cy="4270786"/>
          </a:xfrm>
          <a:prstGeom prst="rect">
            <a:avLst/>
          </a:prstGeom>
        </p:spPr>
      </p:pic>
      <p:sp>
        <p:nvSpPr>
          <p:cNvPr id="8" name="Text 5"/>
          <p:cNvSpPr txBox="1"/>
          <p:nvPr/>
        </p:nvSpPr>
        <p:spPr>
          <a:xfrm>
            <a:off x="8229600" y="1417320"/>
            <a:ext cx="3429000" cy="822960"/>
          </a:xfrm>
          <a:prstGeom prst="rect">
            <a:avLst/>
          </a:prstGeom>
          <a:noFill/>
          <a:ln/>
        </p:spPr>
        <p:txBody>
          <a:bodyPr wrap="square" lIns="0" tIns="0" rIns="0" bIns="0" rtlCol="0" anchor="t"/>
          <a:lstStyle/>
          <a:p>
            <a:pPr indent="0" marL="0">
              <a:buNone/>
            </a:pPr>
            <a:r>
              <a:rPr lang="en-US" sz="1600" b="1" dirty="0">
                <a:solidFill>
                  <a:srgbClr val="7E5BB5"/>
                </a:solidFill>
              </a:rPr>
              <a:t>Everything a researcher needs, the moment they log in.</a:t>
            </a:r>
            <a:endParaRPr lang="en-US" sz="1600" dirty="0"/>
          </a:p>
        </p:txBody>
      </p:sp>
      <p:sp>
        <p:nvSpPr>
          <p:cNvPr id="9" name="Shape 6"/>
          <p:cNvSpPr/>
          <p:nvPr/>
        </p:nvSpPr>
        <p:spPr>
          <a:xfrm>
            <a:off x="8229600" y="2286000"/>
            <a:ext cx="457200" cy="45720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8339328" y="2395728"/>
            <a:ext cx="237744" cy="237744"/>
          </a:xfrm>
          <a:prstGeom prst="rect">
            <a:avLst/>
          </a:prstGeom>
        </p:spPr>
      </p:pic>
      <p:sp>
        <p:nvSpPr>
          <p:cNvPr id="11" name="Text 7"/>
          <p:cNvSpPr txBox="1"/>
          <p:nvPr/>
        </p:nvSpPr>
        <p:spPr>
          <a:xfrm>
            <a:off x="8823960" y="2267712"/>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Live research analytics</a:t>
            </a:r>
            <a:endParaRPr lang="en-US" sz="1500" dirty="0"/>
          </a:p>
        </p:txBody>
      </p:sp>
      <p:sp>
        <p:nvSpPr>
          <p:cNvPr id="12" name="Text 8"/>
          <p:cNvSpPr txBox="1"/>
          <p:nvPr/>
        </p:nvSpPr>
        <p:spPr>
          <a:xfrm>
            <a:off x="8823960" y="2587752"/>
            <a:ext cx="2834640" cy="640080"/>
          </a:xfrm>
          <a:prstGeom prst="rect">
            <a:avLst/>
          </a:prstGeom>
          <a:noFill/>
          <a:ln/>
        </p:spPr>
        <p:txBody>
          <a:bodyPr wrap="square" lIns="0" tIns="0" rIns="0" bIns="0" rtlCol="0" anchor="t"/>
          <a:lstStyle/>
          <a:p>
            <a:pPr indent="0" marL="0">
              <a:buNone/>
            </a:pPr>
            <a:r>
              <a:rPr lang="en-US" sz="1300" dirty="0">
                <a:solidFill>
                  <a:schemeClr val="tx1"/>
                </a:solidFill>
              </a:rPr>
              <a:t>Output trends across publications, projects and trials.</a:t>
            </a:r>
            <a:endParaRPr lang="en-US" sz="1300" dirty="0"/>
          </a:p>
        </p:txBody>
      </p:sp>
      <p:sp>
        <p:nvSpPr>
          <p:cNvPr id="13" name="Shape 9"/>
          <p:cNvSpPr/>
          <p:nvPr/>
        </p:nvSpPr>
        <p:spPr>
          <a:xfrm>
            <a:off x="8229600" y="3273552"/>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339328" y="3383280"/>
            <a:ext cx="237744" cy="237744"/>
          </a:xfrm>
          <a:prstGeom prst="rect">
            <a:avLst/>
          </a:prstGeom>
        </p:spPr>
      </p:pic>
      <p:sp>
        <p:nvSpPr>
          <p:cNvPr id="15" name="Text 10"/>
          <p:cNvSpPr txBox="1"/>
          <p:nvPr/>
        </p:nvSpPr>
        <p:spPr>
          <a:xfrm>
            <a:off x="8823960" y="3255264"/>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Project health at a glance</a:t>
            </a:r>
            <a:endParaRPr lang="en-US" sz="1500" dirty="0"/>
          </a:p>
        </p:txBody>
      </p:sp>
      <p:sp>
        <p:nvSpPr>
          <p:cNvPr id="16" name="Text 11"/>
          <p:cNvSpPr txBox="1"/>
          <p:nvPr/>
        </p:nvSpPr>
        <p:spPr>
          <a:xfrm>
            <a:off x="8823960" y="3575304"/>
            <a:ext cx="2834640" cy="640080"/>
          </a:xfrm>
          <a:prstGeom prst="rect">
            <a:avLst/>
          </a:prstGeom>
          <a:noFill/>
          <a:ln/>
        </p:spPr>
        <p:txBody>
          <a:bodyPr wrap="square" lIns="0" tIns="0" rIns="0" bIns="0" rtlCol="0" anchor="t"/>
          <a:lstStyle/>
          <a:p>
            <a:pPr indent="0" marL="0">
              <a:buNone/>
            </a:pPr>
            <a:r>
              <a:rPr lang="en-US" sz="1300" dirty="0">
                <a:solidFill>
                  <a:schemeClr val="tx1"/>
                </a:solidFill>
              </a:rPr>
              <a:t>On-track, needs-attention and at-risk projects, with progress.</a:t>
            </a:r>
            <a:endParaRPr lang="en-US" sz="1300" dirty="0"/>
          </a:p>
        </p:txBody>
      </p:sp>
      <p:sp>
        <p:nvSpPr>
          <p:cNvPr id="17" name="Shape 12"/>
          <p:cNvSpPr/>
          <p:nvPr/>
        </p:nvSpPr>
        <p:spPr>
          <a:xfrm>
            <a:off x="8229600" y="4261104"/>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339328" y="4370832"/>
            <a:ext cx="237744" cy="237744"/>
          </a:xfrm>
          <a:prstGeom prst="rect">
            <a:avLst/>
          </a:prstGeom>
        </p:spPr>
      </p:pic>
      <p:sp>
        <p:nvSpPr>
          <p:cNvPr id="19" name="Text 13"/>
          <p:cNvSpPr txBox="1"/>
          <p:nvPr/>
        </p:nvSpPr>
        <p:spPr>
          <a:xfrm>
            <a:off x="8823960" y="4242816"/>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Customisable layout</a:t>
            </a:r>
            <a:endParaRPr lang="en-US" sz="1500" dirty="0"/>
          </a:p>
        </p:txBody>
      </p:sp>
      <p:sp>
        <p:nvSpPr>
          <p:cNvPr id="20" name="Text 14"/>
          <p:cNvSpPr txBox="1"/>
          <p:nvPr/>
        </p:nvSpPr>
        <p:spPr>
          <a:xfrm>
            <a:off x="8823960" y="4562856"/>
            <a:ext cx="2834640" cy="640080"/>
          </a:xfrm>
          <a:prstGeom prst="rect">
            <a:avLst/>
          </a:prstGeom>
          <a:noFill/>
          <a:ln/>
        </p:spPr>
        <p:txBody>
          <a:bodyPr wrap="square" lIns="0" tIns="0" rIns="0" bIns="0" rtlCol="0" anchor="t"/>
          <a:lstStyle/>
          <a:p>
            <a:pPr indent="0" marL="0">
              <a:buNone/>
            </a:pPr>
            <a:r>
              <a:rPr lang="en-US" sz="1300" dirty="0">
                <a:solidFill>
                  <a:schemeClr val="tx1"/>
                </a:solidFill>
              </a:rPr>
              <a:t>Drag-and-drop widgets; the layout is saved per user.</a:t>
            </a:r>
            <a:endParaRPr lang="en-US" sz="1300" dirty="0"/>
          </a:p>
        </p:txBody>
      </p:sp>
      <p:sp>
        <p:nvSpPr>
          <p:cNvPr id="21" name="Shape 15"/>
          <p:cNvSpPr/>
          <p:nvPr/>
        </p:nvSpPr>
        <p:spPr>
          <a:xfrm>
            <a:off x="8229600" y="5248656"/>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339328" y="5358384"/>
            <a:ext cx="237744" cy="237744"/>
          </a:xfrm>
          <a:prstGeom prst="rect">
            <a:avLst/>
          </a:prstGeom>
        </p:spPr>
      </p:pic>
      <p:sp>
        <p:nvSpPr>
          <p:cNvPr id="23" name="Text 16"/>
          <p:cNvSpPr txBox="1"/>
          <p:nvPr/>
        </p:nvSpPr>
        <p:spPr>
          <a:xfrm>
            <a:off x="8823960" y="5230368"/>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19 languages</a:t>
            </a:r>
            <a:endParaRPr lang="en-US" sz="1500" dirty="0"/>
          </a:p>
        </p:txBody>
      </p:sp>
      <p:sp>
        <p:nvSpPr>
          <p:cNvPr id="24" name="Text 17"/>
          <p:cNvSpPr txBox="1"/>
          <p:nvPr/>
        </p:nvSpPr>
        <p:spPr>
          <a:xfrm>
            <a:off x="8823960" y="5550408"/>
            <a:ext cx="2834640" cy="640080"/>
          </a:xfrm>
          <a:prstGeom prst="rect">
            <a:avLst/>
          </a:prstGeom>
          <a:noFill/>
          <a:ln/>
        </p:spPr>
        <p:txBody>
          <a:bodyPr wrap="square" lIns="0" tIns="0" rIns="0" bIns="0" rtlCol="0" anchor="t"/>
          <a:lstStyle/>
          <a:p>
            <a:pPr indent="0" marL="0">
              <a:buNone/>
            </a:pPr>
            <a:r>
              <a:rPr lang="en-US" sz="1300" dirty="0">
                <a:solidFill>
                  <a:schemeClr val="tx1"/>
                </a:solidFill>
              </a:rPr>
              <a:t>Including English, Swahili, French, Arabic and Portuguese.</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Researcher profiles that build themselves</a:t>
            </a:r>
            <a:endParaRPr lang="en-US" sz="3200" dirty="0"/>
          </a:p>
        </p:txBody>
      </p:sp>
      <p:sp>
        <p:nvSpPr>
          <p:cNvPr id="3" name="Researcher profile frame"/>
          <p:cNvSpPr/>
          <p:nvPr/>
        </p:nvSpPr>
        <p:spPr>
          <a:xfrm>
            <a:off x="548640" y="1371600"/>
            <a:ext cx="7315200" cy="4540803"/>
          </a:xfrm>
          <a:prstGeom prst="roundRect">
            <a:avLst>
              <a:gd name="adj" fmla="val 161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Researcher profile screenshot" descr="/home/claude/deck/img/r_profile.png">    </p:cNvPr>
          <p:cNvPicPr>
            <a:picLocks noChangeAspect="1"/>
          </p:cNvPicPr>
          <p:nvPr/>
        </p:nvPicPr>
        <p:blipFill>
          <a:blip r:embed="rId1"/>
          <a:stretch>
            <a:fillRect/>
          </a:stretch>
        </p:blipFill>
        <p:spPr>
          <a:xfrm>
            <a:off x="576072" y="1609344"/>
            <a:ext cx="7260336" cy="4270786"/>
          </a:xfrm>
          <a:prstGeom prst="rect">
            <a:avLst/>
          </a:prstGeom>
        </p:spPr>
      </p:pic>
      <p:sp>
        <p:nvSpPr>
          <p:cNvPr id="8" name="Text 5"/>
          <p:cNvSpPr txBox="1"/>
          <p:nvPr/>
        </p:nvSpPr>
        <p:spPr>
          <a:xfrm>
            <a:off x="8229600" y="1417320"/>
            <a:ext cx="3429000" cy="822960"/>
          </a:xfrm>
          <a:prstGeom prst="rect">
            <a:avLst/>
          </a:prstGeom>
          <a:noFill/>
          <a:ln/>
        </p:spPr>
        <p:txBody>
          <a:bodyPr wrap="square" lIns="0" tIns="0" rIns="0" bIns="0" rtlCol="0" anchor="t"/>
          <a:lstStyle/>
          <a:p>
            <a:pPr indent="0" marL="0">
              <a:buNone/>
            </a:pPr>
            <a:r>
              <a:rPr lang="en-US" sz="1600" b="1" dirty="0">
                <a:solidFill>
                  <a:srgbClr val="7E5BB5"/>
                </a:solidFill>
              </a:rPr>
              <a:t>A living CV for every researcher, kept current by the platform.</a:t>
            </a:r>
            <a:endParaRPr lang="en-US" sz="1600" dirty="0"/>
          </a:p>
        </p:txBody>
      </p:sp>
      <p:sp>
        <p:nvSpPr>
          <p:cNvPr id="9" name="Shape 6"/>
          <p:cNvSpPr/>
          <p:nvPr/>
        </p:nvSpPr>
        <p:spPr>
          <a:xfrm>
            <a:off x="8229600" y="2286000"/>
            <a:ext cx="457200" cy="45720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8339328" y="2395728"/>
            <a:ext cx="237744" cy="237744"/>
          </a:xfrm>
          <a:prstGeom prst="rect">
            <a:avLst/>
          </a:prstGeom>
        </p:spPr>
      </p:pic>
      <p:sp>
        <p:nvSpPr>
          <p:cNvPr id="11" name="Text 7"/>
          <p:cNvSpPr txBox="1"/>
          <p:nvPr/>
        </p:nvSpPr>
        <p:spPr>
          <a:xfrm>
            <a:off x="8823960" y="2267712"/>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ORCID-linked identity</a:t>
            </a:r>
            <a:endParaRPr lang="en-US" sz="1500" dirty="0"/>
          </a:p>
        </p:txBody>
      </p:sp>
      <p:sp>
        <p:nvSpPr>
          <p:cNvPr id="12" name="Text 8"/>
          <p:cNvSpPr txBox="1"/>
          <p:nvPr/>
        </p:nvSpPr>
        <p:spPr>
          <a:xfrm>
            <a:off x="8823960" y="2587752"/>
            <a:ext cx="2834640" cy="640080"/>
          </a:xfrm>
          <a:prstGeom prst="rect">
            <a:avLst/>
          </a:prstGeom>
          <a:noFill/>
          <a:ln/>
        </p:spPr>
        <p:txBody>
          <a:bodyPr wrap="square" lIns="0" tIns="0" rIns="0" bIns="0" rtlCol="0" anchor="t"/>
          <a:lstStyle/>
          <a:p>
            <a:pPr indent="0" marL="0">
              <a:buNone/>
            </a:pPr>
            <a:r>
              <a:rPr lang="en-US" sz="1300" dirty="0">
                <a:solidFill>
                  <a:schemeClr val="tx1"/>
                </a:solidFill>
              </a:rPr>
              <a:t>Profiles connect to ORCID so names, affiliations and works stay accurate.</a:t>
            </a:r>
            <a:endParaRPr lang="en-US" sz="1300" dirty="0"/>
          </a:p>
        </p:txBody>
      </p:sp>
      <p:sp>
        <p:nvSpPr>
          <p:cNvPr id="13" name="Shape 9"/>
          <p:cNvSpPr/>
          <p:nvPr/>
        </p:nvSpPr>
        <p:spPr>
          <a:xfrm>
            <a:off x="8229600" y="3273552"/>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339328" y="3383280"/>
            <a:ext cx="237744" cy="237744"/>
          </a:xfrm>
          <a:prstGeom prst="rect">
            <a:avLst/>
          </a:prstGeom>
        </p:spPr>
      </p:pic>
      <p:sp>
        <p:nvSpPr>
          <p:cNvPr id="15" name="Text 10"/>
          <p:cNvSpPr txBox="1"/>
          <p:nvPr/>
        </p:nvSpPr>
        <p:spPr>
          <a:xfrm>
            <a:off x="8823960" y="3255264"/>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One-click CV export</a:t>
            </a:r>
            <a:endParaRPr lang="en-US" sz="1500" dirty="0"/>
          </a:p>
        </p:txBody>
      </p:sp>
      <p:sp>
        <p:nvSpPr>
          <p:cNvPr id="16" name="Text 11"/>
          <p:cNvSpPr txBox="1"/>
          <p:nvPr/>
        </p:nvSpPr>
        <p:spPr>
          <a:xfrm>
            <a:off x="8823960" y="3575304"/>
            <a:ext cx="2834640" cy="640080"/>
          </a:xfrm>
          <a:prstGeom prst="rect">
            <a:avLst/>
          </a:prstGeom>
          <a:noFill/>
          <a:ln/>
        </p:spPr>
        <p:txBody>
          <a:bodyPr wrap="square" lIns="0" tIns="0" rIns="0" bIns="0" rtlCol="0" anchor="t"/>
          <a:lstStyle/>
          <a:p>
            <a:pPr indent="0" marL="0">
              <a:buNone/>
            </a:pPr>
            <a:r>
              <a:rPr lang="en-US" sz="1300" dirty="0">
                <a:solidFill>
                  <a:schemeClr val="tx1"/>
                </a:solidFill>
              </a:rPr>
              <a:t>Academic CV, skills and awards ready for grant applications.</a:t>
            </a:r>
            <a:endParaRPr lang="en-US" sz="1300" dirty="0"/>
          </a:p>
        </p:txBody>
      </p:sp>
      <p:sp>
        <p:nvSpPr>
          <p:cNvPr id="17" name="Shape 12"/>
          <p:cNvSpPr/>
          <p:nvPr/>
        </p:nvSpPr>
        <p:spPr>
          <a:xfrm>
            <a:off x="8229600" y="4261104"/>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339328" y="4370832"/>
            <a:ext cx="237744" cy="237744"/>
          </a:xfrm>
          <a:prstGeom prst="rect">
            <a:avLst/>
          </a:prstGeom>
        </p:spPr>
      </p:pic>
      <p:sp>
        <p:nvSpPr>
          <p:cNvPr id="19" name="Text 13"/>
          <p:cNvSpPr txBox="1"/>
          <p:nvPr/>
        </p:nvSpPr>
        <p:spPr>
          <a:xfrm>
            <a:off x="8823960" y="4242816"/>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Public profile link</a:t>
            </a:r>
            <a:endParaRPr lang="en-US" sz="1500" dirty="0"/>
          </a:p>
        </p:txBody>
      </p:sp>
      <p:sp>
        <p:nvSpPr>
          <p:cNvPr id="20" name="Text 14"/>
          <p:cNvSpPr txBox="1"/>
          <p:nvPr/>
        </p:nvSpPr>
        <p:spPr>
          <a:xfrm>
            <a:off x="8823960" y="4562856"/>
            <a:ext cx="2834640" cy="640080"/>
          </a:xfrm>
          <a:prstGeom prst="rect">
            <a:avLst/>
          </a:prstGeom>
          <a:noFill/>
          <a:ln/>
        </p:spPr>
        <p:txBody>
          <a:bodyPr wrap="square" lIns="0" tIns="0" rIns="0" bIns="0" rtlCol="0" anchor="t"/>
          <a:lstStyle/>
          <a:p>
            <a:pPr indent="0" marL="0">
              <a:buNone/>
            </a:pPr>
            <a:r>
              <a:rPr lang="en-US" sz="1300" dirty="0">
                <a:solidFill>
                  <a:schemeClr val="tx1"/>
                </a:solidFill>
              </a:rPr>
              <a:t>Share expertise with funders and partners to raise visibility.</a:t>
            </a:r>
            <a:endParaRPr lang="en-US" sz="1300" dirty="0"/>
          </a:p>
        </p:txBody>
      </p:sp>
      <p:sp>
        <p:nvSpPr>
          <p:cNvPr id="21" name="Shape 15"/>
          <p:cNvSpPr/>
          <p:nvPr/>
        </p:nvSpPr>
        <p:spPr>
          <a:xfrm>
            <a:off x="8229600" y="5248656"/>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339328" y="5358384"/>
            <a:ext cx="237744" cy="237744"/>
          </a:xfrm>
          <a:prstGeom prst="rect">
            <a:avLst/>
          </a:prstGeom>
        </p:spPr>
      </p:pic>
      <p:sp>
        <p:nvSpPr>
          <p:cNvPr id="23" name="Text 16"/>
          <p:cNvSpPr txBox="1"/>
          <p:nvPr/>
        </p:nvSpPr>
        <p:spPr>
          <a:xfrm>
            <a:off x="8823960" y="5230368"/>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Impact summary</a:t>
            </a:r>
            <a:endParaRPr lang="en-US" sz="1500" dirty="0"/>
          </a:p>
        </p:txBody>
      </p:sp>
      <p:sp>
        <p:nvSpPr>
          <p:cNvPr id="24" name="Text 17"/>
          <p:cNvSpPr txBox="1"/>
          <p:nvPr/>
        </p:nvSpPr>
        <p:spPr>
          <a:xfrm>
            <a:off x="8823960" y="5550408"/>
            <a:ext cx="2834640" cy="640080"/>
          </a:xfrm>
          <a:prstGeom prst="rect">
            <a:avLst/>
          </a:prstGeom>
          <a:noFill/>
          <a:ln/>
        </p:spPr>
        <p:txBody>
          <a:bodyPr wrap="square" lIns="0" tIns="0" rIns="0" bIns="0" rtlCol="0" anchor="t"/>
          <a:lstStyle/>
          <a:p>
            <a:pPr indent="0" marL="0">
              <a:buNone/>
            </a:pPr>
            <a:r>
              <a:rPr lang="en-US" sz="1300" dirty="0">
                <a:solidFill>
                  <a:schemeClr val="tx1"/>
                </a:solidFill>
              </a:rPr>
              <a:t>Publications and citations roll up automatically from the library.</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Publications and citations, without the busywork</a:t>
            </a:r>
            <a:endParaRPr lang="en-US" sz="3200" dirty="0"/>
          </a:p>
        </p:txBody>
      </p:sp>
      <p:sp>
        <p:nvSpPr>
          <p:cNvPr id="3" name="Import publications frame"/>
          <p:cNvSpPr/>
          <p:nvPr/>
        </p:nvSpPr>
        <p:spPr>
          <a:xfrm>
            <a:off x="548640" y="1371600"/>
            <a:ext cx="5669280" cy="3572615"/>
          </a:xfrm>
          <a:prstGeom prst="roundRect">
            <a:avLst>
              <a:gd name="adj" fmla="val 2048"/>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Import publications screenshot" descr="/home/claude/deck/img/r_import.png">    </p:cNvPr>
          <p:cNvPicPr>
            <a:picLocks noChangeAspect="1"/>
          </p:cNvPicPr>
          <p:nvPr/>
        </p:nvPicPr>
        <p:blipFill>
          <a:blip r:embed="rId1"/>
          <a:stretch>
            <a:fillRect/>
          </a:stretch>
        </p:blipFill>
        <p:spPr>
          <a:xfrm>
            <a:off x="576072" y="1609344"/>
            <a:ext cx="5614416" cy="3302598"/>
          </a:xfrm>
          <a:prstGeom prst="rect">
            <a:avLst/>
          </a:prstGeom>
        </p:spPr>
      </p:pic>
      <p:sp>
        <p:nvSpPr>
          <p:cNvPr id="8" name="Manage publications frame"/>
          <p:cNvSpPr/>
          <p:nvPr/>
        </p:nvSpPr>
        <p:spPr>
          <a:xfrm>
            <a:off x="3108960" y="3063240"/>
            <a:ext cx="5120640" cy="3249885"/>
          </a:xfrm>
          <a:prstGeom prst="roundRect">
            <a:avLst>
              <a:gd name="adj" fmla="val 225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9" name="Shape 6"/>
          <p:cNvSpPr/>
          <p:nvPr/>
        </p:nvSpPr>
        <p:spPr>
          <a:xfrm>
            <a:off x="3236976" y="3136392"/>
            <a:ext cx="91440" cy="91440"/>
          </a:xfrm>
          <a:prstGeom prst="ellipse">
            <a:avLst/>
          </a:prstGeom>
          <a:solidFill>
            <a:srgbClr val="E86B6B"/>
          </a:solidFill>
          <a:ln w="12700">
            <a:solidFill>
              <a:srgbClr val="E86B6B"/>
            </a:solidFill>
            <a:prstDash val="solid"/>
          </a:ln>
        </p:spPr>
      </p:sp>
      <p:sp>
        <p:nvSpPr>
          <p:cNvPr id="10" name="Shape 7"/>
          <p:cNvSpPr/>
          <p:nvPr/>
        </p:nvSpPr>
        <p:spPr>
          <a:xfrm>
            <a:off x="3383280" y="3136392"/>
            <a:ext cx="91440" cy="91440"/>
          </a:xfrm>
          <a:prstGeom prst="ellipse">
            <a:avLst/>
          </a:prstGeom>
          <a:solidFill>
            <a:srgbClr val="F2C14E"/>
          </a:solidFill>
          <a:ln w="12700">
            <a:solidFill>
              <a:srgbClr val="F2C14E"/>
            </a:solidFill>
            <a:prstDash val="solid"/>
          </a:ln>
        </p:spPr>
      </p:sp>
      <p:sp>
        <p:nvSpPr>
          <p:cNvPr id="11" name="Shape 8"/>
          <p:cNvSpPr/>
          <p:nvPr/>
        </p:nvSpPr>
        <p:spPr>
          <a:xfrm>
            <a:off x="3529584" y="3136392"/>
            <a:ext cx="91440" cy="91440"/>
          </a:xfrm>
          <a:prstGeom prst="ellipse">
            <a:avLst/>
          </a:prstGeom>
          <a:solidFill>
            <a:srgbClr val="5DBB7A"/>
          </a:solidFill>
          <a:ln w="12700">
            <a:solidFill>
              <a:srgbClr val="5DBB7A"/>
            </a:solidFill>
            <a:prstDash val="solid"/>
          </a:ln>
        </p:spPr>
      </p:sp>
      <p:pic>
        <p:nvPicPr>
          <p:cNvPr id="12" name="Manage publications screenshot" descr="/home/claude/deck/img/r_pubs.png">    </p:cNvPr>
          <p:cNvPicPr>
            <a:picLocks noChangeAspect="1"/>
          </p:cNvPicPr>
          <p:nvPr/>
        </p:nvPicPr>
        <p:blipFill>
          <a:blip r:embed="rId2"/>
          <a:stretch>
            <a:fillRect/>
          </a:stretch>
        </p:blipFill>
        <p:spPr>
          <a:xfrm>
            <a:off x="3136392" y="3300984"/>
            <a:ext cx="5065776" cy="2979868"/>
          </a:xfrm>
          <a:prstGeom prst="rect">
            <a:avLst/>
          </a:prstGeom>
        </p:spPr>
      </p:pic>
      <p:sp>
        <p:nvSpPr>
          <p:cNvPr id="13" name="Shape 9"/>
          <p:cNvSpPr/>
          <p:nvPr/>
        </p:nvSpPr>
        <p:spPr>
          <a:xfrm>
            <a:off x="8641080" y="1463040"/>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750808" y="1572768"/>
            <a:ext cx="237744" cy="237744"/>
          </a:xfrm>
          <a:prstGeom prst="rect">
            <a:avLst/>
          </a:prstGeom>
        </p:spPr>
      </p:pic>
      <p:sp>
        <p:nvSpPr>
          <p:cNvPr id="15" name="Text 10"/>
          <p:cNvSpPr txBox="1"/>
          <p:nvPr/>
        </p:nvSpPr>
        <p:spPr>
          <a:xfrm>
            <a:off x="9235440" y="1444752"/>
            <a:ext cx="2423160" cy="320040"/>
          </a:xfrm>
          <a:prstGeom prst="rect">
            <a:avLst/>
          </a:prstGeom>
          <a:noFill/>
          <a:ln/>
        </p:spPr>
        <p:txBody>
          <a:bodyPr wrap="square" lIns="0" tIns="0" rIns="0" bIns="0" rtlCol="0" anchor="ctr"/>
          <a:lstStyle/>
          <a:p>
            <a:pPr indent="0" marL="0">
              <a:buNone/>
            </a:pPr>
            <a:r>
              <a:rPr lang="en-US" sz="1500" b="1" dirty="0">
                <a:solidFill>
                  <a:schemeClr val="tx2"/>
                </a:solidFill>
              </a:rPr>
              <a:t>One-click import</a:t>
            </a:r>
            <a:endParaRPr lang="en-US" sz="1500" dirty="0"/>
          </a:p>
        </p:txBody>
      </p:sp>
      <p:sp>
        <p:nvSpPr>
          <p:cNvPr id="16" name="Text 11"/>
          <p:cNvSpPr txBox="1"/>
          <p:nvPr/>
        </p:nvSpPr>
        <p:spPr>
          <a:xfrm>
            <a:off x="9235440" y="1764792"/>
            <a:ext cx="2423160" cy="777240"/>
          </a:xfrm>
          <a:prstGeom prst="rect">
            <a:avLst/>
          </a:prstGeom>
          <a:noFill/>
          <a:ln/>
        </p:spPr>
        <p:txBody>
          <a:bodyPr wrap="square" lIns="0" tIns="0" rIns="0" bIns="0" rtlCol="0" anchor="t"/>
          <a:lstStyle/>
          <a:p>
            <a:pPr indent="0" marL="0">
              <a:buNone/>
            </a:pPr>
            <a:r>
              <a:rPr lang="en-US" sz="1300" dirty="0">
                <a:solidFill>
                  <a:schemeClr val="tx1"/>
                </a:solidFill>
              </a:rPr>
              <a:t>PubMed, Crossref/DOI, OpenAlex and Research4Life.</a:t>
            </a:r>
            <a:endParaRPr lang="en-US" sz="1300" dirty="0"/>
          </a:p>
        </p:txBody>
      </p:sp>
      <p:sp>
        <p:nvSpPr>
          <p:cNvPr id="17" name="Shape 12"/>
          <p:cNvSpPr/>
          <p:nvPr/>
        </p:nvSpPr>
        <p:spPr>
          <a:xfrm>
            <a:off x="8641080" y="2651760"/>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750808" y="2761488"/>
            <a:ext cx="237744" cy="237744"/>
          </a:xfrm>
          <a:prstGeom prst="rect">
            <a:avLst/>
          </a:prstGeom>
        </p:spPr>
      </p:pic>
      <p:sp>
        <p:nvSpPr>
          <p:cNvPr id="19" name="Text 13"/>
          <p:cNvSpPr txBox="1"/>
          <p:nvPr/>
        </p:nvSpPr>
        <p:spPr>
          <a:xfrm>
            <a:off x="9235440" y="2633472"/>
            <a:ext cx="2423160" cy="320040"/>
          </a:xfrm>
          <a:prstGeom prst="rect">
            <a:avLst/>
          </a:prstGeom>
          <a:noFill/>
          <a:ln/>
        </p:spPr>
        <p:txBody>
          <a:bodyPr wrap="square" lIns="0" tIns="0" rIns="0" bIns="0" rtlCol="0" anchor="ctr"/>
          <a:lstStyle/>
          <a:p>
            <a:pPr indent="0" marL="0">
              <a:buNone/>
            </a:pPr>
            <a:r>
              <a:rPr lang="en-US" sz="1500" b="1" dirty="0">
                <a:solidFill>
                  <a:schemeClr val="tx2"/>
                </a:solidFill>
              </a:rPr>
              <a:t>Bring existing libraries</a:t>
            </a:r>
            <a:endParaRPr lang="en-US" sz="1500" dirty="0"/>
          </a:p>
        </p:txBody>
      </p:sp>
      <p:sp>
        <p:nvSpPr>
          <p:cNvPr id="20" name="Text 14"/>
          <p:cNvSpPr txBox="1"/>
          <p:nvPr/>
        </p:nvSpPr>
        <p:spPr>
          <a:xfrm>
            <a:off x="9235440" y="2953512"/>
            <a:ext cx="2423160" cy="777240"/>
          </a:xfrm>
          <a:prstGeom prst="rect">
            <a:avLst/>
          </a:prstGeom>
          <a:noFill/>
          <a:ln/>
        </p:spPr>
        <p:txBody>
          <a:bodyPr wrap="square" lIns="0" tIns="0" rIns="0" bIns="0" rtlCol="0" anchor="t"/>
          <a:lstStyle/>
          <a:p>
            <a:pPr indent="0" marL="0">
              <a:buNone/>
            </a:pPr>
            <a:r>
              <a:rPr lang="en-US" sz="1300" dirty="0">
                <a:solidFill>
                  <a:schemeClr val="tx1"/>
                </a:solidFill>
              </a:rPr>
              <a:t>BibTeX, RIS/EndNote, Mendeley, Zotero and CSV.</a:t>
            </a:r>
            <a:endParaRPr lang="en-US" sz="1300" dirty="0"/>
          </a:p>
        </p:txBody>
      </p:sp>
      <p:sp>
        <p:nvSpPr>
          <p:cNvPr id="21" name="Shape 15"/>
          <p:cNvSpPr/>
          <p:nvPr/>
        </p:nvSpPr>
        <p:spPr>
          <a:xfrm>
            <a:off x="8641080" y="3840480"/>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750808" y="3950208"/>
            <a:ext cx="237744" cy="237744"/>
          </a:xfrm>
          <a:prstGeom prst="rect">
            <a:avLst/>
          </a:prstGeom>
        </p:spPr>
      </p:pic>
      <p:sp>
        <p:nvSpPr>
          <p:cNvPr id="23" name="Text 16"/>
          <p:cNvSpPr txBox="1"/>
          <p:nvPr/>
        </p:nvSpPr>
        <p:spPr>
          <a:xfrm>
            <a:off x="9235440" y="3822192"/>
            <a:ext cx="2423160" cy="320040"/>
          </a:xfrm>
          <a:prstGeom prst="rect">
            <a:avLst/>
          </a:prstGeom>
          <a:noFill/>
          <a:ln/>
        </p:spPr>
        <p:txBody>
          <a:bodyPr wrap="square" lIns="0" tIns="0" rIns="0" bIns="0" rtlCol="0" anchor="ctr"/>
          <a:lstStyle/>
          <a:p>
            <a:pPr indent="0" marL="0">
              <a:buNone/>
            </a:pPr>
            <a:r>
              <a:rPr lang="en-US" sz="1500" b="1" dirty="0">
                <a:solidFill>
                  <a:schemeClr val="tx2"/>
                </a:solidFill>
              </a:rPr>
              <a:t>Cite as you write</a:t>
            </a:r>
            <a:endParaRPr lang="en-US" sz="1500" dirty="0"/>
          </a:p>
        </p:txBody>
      </p:sp>
      <p:sp>
        <p:nvSpPr>
          <p:cNvPr id="24" name="Text 17"/>
          <p:cNvSpPr txBox="1"/>
          <p:nvPr/>
        </p:nvSpPr>
        <p:spPr>
          <a:xfrm>
            <a:off x="9235440" y="4142232"/>
            <a:ext cx="2423160" cy="777240"/>
          </a:xfrm>
          <a:prstGeom prst="rect">
            <a:avLst/>
          </a:prstGeom>
          <a:noFill/>
          <a:ln/>
        </p:spPr>
        <p:txBody>
          <a:bodyPr wrap="square" lIns="0" tIns="0" rIns="0" bIns="0" rtlCol="0" anchor="t"/>
          <a:lstStyle/>
          <a:p>
            <a:pPr indent="0" marL="0">
              <a:buNone/>
            </a:pPr>
            <a:r>
              <a:rPr lang="en-US" sz="1300" dirty="0">
                <a:solidFill>
                  <a:schemeClr val="tx1"/>
                </a:solidFill>
              </a:rPr>
              <a:t>APA, MLA, Chicago, Harvard, Vancouver, IEEE and AMA.</a:t>
            </a:r>
            <a:endParaRPr lang="en-US" sz="1300" dirty="0"/>
          </a:p>
        </p:txBody>
      </p:sp>
      <p:sp>
        <p:nvSpPr>
          <p:cNvPr id="25" name="Shape 18"/>
          <p:cNvSpPr/>
          <p:nvPr/>
        </p:nvSpPr>
        <p:spPr>
          <a:xfrm>
            <a:off x="8641080" y="5029200"/>
            <a:ext cx="457200" cy="457200"/>
          </a:xfrm>
          <a:prstGeom prst="ellipse">
            <a:avLst/>
          </a:prstGeom>
          <a:solidFill>
            <a:srgbClr val="EFEAF8"/>
          </a:solidFill>
          <a:ln w="12700">
            <a:solidFill>
              <a:srgbClr val="EFEAF8"/>
            </a:solidFill>
            <a:prstDash val="solid"/>
          </a:ln>
        </p:spPr>
      </p:sp>
      <p:pic>
        <p:nvPicPr>
          <p:cNvPr id="26" name="Image 5" descr="preencoded.png">    </p:cNvPr>
          <p:cNvPicPr>
            <a:picLocks noChangeAspect="1"/>
          </p:cNvPicPr>
          <p:nvPr/>
        </p:nvPicPr>
        <p:blipFill>
          <a:blip r:embed="rId6"/>
          <a:stretch>
            <a:fillRect/>
          </a:stretch>
        </p:blipFill>
        <p:spPr>
          <a:xfrm>
            <a:off x="8750808" y="5138928"/>
            <a:ext cx="237744" cy="237744"/>
          </a:xfrm>
          <a:prstGeom prst="rect">
            <a:avLst/>
          </a:prstGeom>
        </p:spPr>
      </p:pic>
      <p:sp>
        <p:nvSpPr>
          <p:cNvPr id="27" name="Text 19"/>
          <p:cNvSpPr txBox="1"/>
          <p:nvPr/>
        </p:nvSpPr>
        <p:spPr>
          <a:xfrm>
            <a:off x="9235440" y="5010912"/>
            <a:ext cx="2423160" cy="320040"/>
          </a:xfrm>
          <a:prstGeom prst="rect">
            <a:avLst/>
          </a:prstGeom>
          <a:noFill/>
          <a:ln/>
        </p:spPr>
        <p:txBody>
          <a:bodyPr wrap="square" lIns="0" tIns="0" rIns="0" bIns="0" rtlCol="0" anchor="ctr"/>
          <a:lstStyle/>
          <a:p>
            <a:pPr indent="0" marL="0">
              <a:buNone/>
            </a:pPr>
            <a:r>
              <a:rPr lang="en-US" sz="1500" b="1" dirty="0">
                <a:solidFill>
                  <a:schemeClr val="tx2"/>
                </a:solidFill>
              </a:rPr>
              <a:t>Organised and deduplicated</a:t>
            </a:r>
            <a:endParaRPr lang="en-US" sz="1500" dirty="0"/>
          </a:p>
        </p:txBody>
      </p:sp>
      <p:sp>
        <p:nvSpPr>
          <p:cNvPr id="28" name="Text 20"/>
          <p:cNvSpPr txBox="1"/>
          <p:nvPr/>
        </p:nvSpPr>
        <p:spPr>
          <a:xfrm>
            <a:off x="9235440" y="5330952"/>
            <a:ext cx="2423160" cy="777240"/>
          </a:xfrm>
          <a:prstGeom prst="rect">
            <a:avLst/>
          </a:prstGeom>
          <a:noFill/>
          <a:ln/>
        </p:spPr>
        <p:txBody>
          <a:bodyPr wrap="square" lIns="0" tIns="0" rIns="0" bIns="0" rtlCol="0" anchor="t"/>
          <a:lstStyle/>
          <a:p>
            <a:pPr indent="0" marL="0">
              <a:buNone/>
            </a:pPr>
            <a:r>
              <a:rPr lang="en-US" sz="1300" dirty="0">
                <a:solidFill>
                  <a:schemeClr val="tx1"/>
                </a:solidFill>
              </a:rPr>
              <a:t>Folders, filters and DOI matching keep libraries clean.</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Write together, in real time, inside the platform</a:t>
            </a:r>
            <a:endParaRPr lang="en-US" sz="3200" dirty="0"/>
          </a:p>
        </p:txBody>
      </p:sp>
      <p:sp>
        <p:nvSpPr>
          <p:cNvPr id="3" name="Manuscript editor frame"/>
          <p:cNvSpPr/>
          <p:nvPr/>
        </p:nvSpPr>
        <p:spPr>
          <a:xfrm>
            <a:off x="548640" y="1371600"/>
            <a:ext cx="7315200" cy="4540803"/>
          </a:xfrm>
          <a:prstGeom prst="roundRect">
            <a:avLst>
              <a:gd name="adj" fmla="val 161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Manuscript editor screenshot" descr="/home/claude/deck/img/r_editor.png">    </p:cNvPr>
          <p:cNvPicPr>
            <a:picLocks noChangeAspect="1"/>
          </p:cNvPicPr>
          <p:nvPr/>
        </p:nvPicPr>
        <p:blipFill>
          <a:blip r:embed="rId1"/>
          <a:stretch>
            <a:fillRect/>
          </a:stretch>
        </p:blipFill>
        <p:spPr>
          <a:xfrm>
            <a:off x="576072" y="1609344"/>
            <a:ext cx="7260336" cy="4270786"/>
          </a:xfrm>
          <a:prstGeom prst="rect">
            <a:avLst/>
          </a:prstGeom>
        </p:spPr>
      </p:pic>
      <p:sp>
        <p:nvSpPr>
          <p:cNvPr id="8" name="Text 5"/>
          <p:cNvSpPr txBox="1"/>
          <p:nvPr/>
        </p:nvSpPr>
        <p:spPr>
          <a:xfrm>
            <a:off x="8229600" y="1417320"/>
            <a:ext cx="3429000" cy="822960"/>
          </a:xfrm>
          <a:prstGeom prst="rect">
            <a:avLst/>
          </a:prstGeom>
          <a:noFill/>
          <a:ln/>
        </p:spPr>
        <p:txBody>
          <a:bodyPr wrap="square" lIns="0" tIns="0" rIns="0" bIns="0" rtlCol="0" anchor="t"/>
          <a:lstStyle/>
          <a:p>
            <a:pPr indent="0" marL="0">
              <a:buNone/>
            </a:pPr>
            <a:r>
              <a:rPr lang="en-US" sz="1600" b="1" dirty="0">
                <a:solidFill>
                  <a:srgbClr val="7E5BB5"/>
                </a:solidFill>
              </a:rPr>
              <a:t>A full manuscript editor with collaboration built in.</a:t>
            </a:r>
            <a:endParaRPr lang="en-US" sz="1600" dirty="0"/>
          </a:p>
        </p:txBody>
      </p:sp>
      <p:sp>
        <p:nvSpPr>
          <p:cNvPr id="9" name="Shape 6"/>
          <p:cNvSpPr/>
          <p:nvPr/>
        </p:nvSpPr>
        <p:spPr>
          <a:xfrm>
            <a:off x="8229600" y="2286000"/>
            <a:ext cx="457200" cy="45720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8339328" y="2395728"/>
            <a:ext cx="237744" cy="237744"/>
          </a:xfrm>
          <a:prstGeom prst="rect">
            <a:avLst/>
          </a:prstGeom>
        </p:spPr>
      </p:pic>
      <p:sp>
        <p:nvSpPr>
          <p:cNvPr id="11" name="Text 7"/>
          <p:cNvSpPr txBox="1"/>
          <p:nvPr/>
        </p:nvSpPr>
        <p:spPr>
          <a:xfrm>
            <a:off x="8823960" y="2267712"/>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Invite by ORCID or email</a:t>
            </a:r>
            <a:endParaRPr lang="en-US" sz="1500" dirty="0"/>
          </a:p>
        </p:txBody>
      </p:sp>
      <p:sp>
        <p:nvSpPr>
          <p:cNvPr id="12" name="Text 8"/>
          <p:cNvSpPr txBox="1"/>
          <p:nvPr/>
        </p:nvSpPr>
        <p:spPr>
          <a:xfrm>
            <a:off x="8823960" y="2587752"/>
            <a:ext cx="2834640" cy="640080"/>
          </a:xfrm>
          <a:prstGeom prst="rect">
            <a:avLst/>
          </a:prstGeom>
          <a:noFill/>
          <a:ln/>
        </p:spPr>
        <p:txBody>
          <a:bodyPr wrap="square" lIns="0" tIns="0" rIns="0" bIns="0" rtlCol="0" anchor="t"/>
          <a:lstStyle/>
          <a:p>
            <a:pPr indent="0" marL="0">
              <a:buNone/>
            </a:pPr>
            <a:r>
              <a:rPr lang="en-US" sz="1300" dirty="0">
                <a:solidFill>
                  <a:schemeClr val="tx1"/>
                </a:solidFill>
              </a:rPr>
              <a:t>Owner, admin, editor, contributor and reviewer roles.</a:t>
            </a:r>
            <a:endParaRPr lang="en-US" sz="1300" dirty="0"/>
          </a:p>
        </p:txBody>
      </p:sp>
      <p:sp>
        <p:nvSpPr>
          <p:cNvPr id="13" name="Shape 9"/>
          <p:cNvSpPr/>
          <p:nvPr/>
        </p:nvSpPr>
        <p:spPr>
          <a:xfrm>
            <a:off x="8229600" y="3273552"/>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339328" y="3383280"/>
            <a:ext cx="237744" cy="237744"/>
          </a:xfrm>
          <a:prstGeom prst="rect">
            <a:avLst/>
          </a:prstGeom>
        </p:spPr>
      </p:pic>
      <p:sp>
        <p:nvSpPr>
          <p:cNvPr id="15" name="Text 10"/>
          <p:cNvSpPr txBox="1"/>
          <p:nvPr/>
        </p:nvSpPr>
        <p:spPr>
          <a:xfrm>
            <a:off x="8823960" y="3255264"/>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Track changes &amp; comments</a:t>
            </a:r>
            <a:endParaRPr lang="en-US" sz="1500" dirty="0"/>
          </a:p>
        </p:txBody>
      </p:sp>
      <p:sp>
        <p:nvSpPr>
          <p:cNvPr id="16" name="Text 11"/>
          <p:cNvSpPr txBox="1"/>
          <p:nvPr/>
        </p:nvSpPr>
        <p:spPr>
          <a:xfrm>
            <a:off x="8823960" y="3575304"/>
            <a:ext cx="2834640" cy="640080"/>
          </a:xfrm>
          <a:prstGeom prst="rect">
            <a:avLst/>
          </a:prstGeom>
          <a:noFill/>
          <a:ln/>
        </p:spPr>
        <p:txBody>
          <a:bodyPr wrap="square" lIns="0" tIns="0" rIns="0" bIns="0" rtlCol="0" anchor="t"/>
          <a:lstStyle/>
          <a:p>
            <a:pPr indent="0" marL="0">
              <a:buNone/>
            </a:pPr>
            <a:r>
              <a:rPr lang="en-US" sz="1300" dirty="0">
                <a:solidFill>
                  <a:schemeClr val="tx1"/>
                </a:solidFill>
              </a:rPr>
              <a:t>Accept or reject edits; threaded comments and suggestions.</a:t>
            </a:r>
            <a:endParaRPr lang="en-US" sz="1300" dirty="0"/>
          </a:p>
        </p:txBody>
      </p:sp>
      <p:sp>
        <p:nvSpPr>
          <p:cNvPr id="17" name="Shape 12"/>
          <p:cNvSpPr/>
          <p:nvPr/>
        </p:nvSpPr>
        <p:spPr>
          <a:xfrm>
            <a:off x="8229600" y="4261104"/>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339328" y="4370832"/>
            <a:ext cx="237744" cy="237744"/>
          </a:xfrm>
          <a:prstGeom prst="rect">
            <a:avLst/>
          </a:prstGeom>
        </p:spPr>
      </p:pic>
      <p:sp>
        <p:nvSpPr>
          <p:cNvPr id="19" name="Text 13"/>
          <p:cNvSpPr txBox="1"/>
          <p:nvPr/>
        </p:nvSpPr>
        <p:spPr>
          <a:xfrm>
            <a:off x="8823960" y="4242816"/>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Version history</a:t>
            </a:r>
            <a:endParaRPr lang="en-US" sz="1500" dirty="0"/>
          </a:p>
        </p:txBody>
      </p:sp>
      <p:sp>
        <p:nvSpPr>
          <p:cNvPr id="20" name="Text 14"/>
          <p:cNvSpPr txBox="1"/>
          <p:nvPr/>
        </p:nvSpPr>
        <p:spPr>
          <a:xfrm>
            <a:off x="8823960" y="4562856"/>
            <a:ext cx="2834640" cy="640080"/>
          </a:xfrm>
          <a:prstGeom prst="rect">
            <a:avLst/>
          </a:prstGeom>
          <a:noFill/>
          <a:ln/>
        </p:spPr>
        <p:txBody>
          <a:bodyPr wrap="square" lIns="0" tIns="0" rIns="0" bIns="0" rtlCol="0" anchor="t"/>
          <a:lstStyle/>
          <a:p>
            <a:pPr indent="0" marL="0">
              <a:buNone/>
            </a:pPr>
            <a:r>
              <a:rPr lang="en-US" sz="1300" dirty="0">
                <a:solidFill>
                  <a:schemeClr val="tx1"/>
                </a:solidFill>
              </a:rPr>
              <a:t>Automatic and manual snapshots you can restore.</a:t>
            </a:r>
            <a:endParaRPr lang="en-US" sz="1300" dirty="0"/>
          </a:p>
        </p:txBody>
      </p:sp>
      <p:sp>
        <p:nvSpPr>
          <p:cNvPr id="21" name="Shape 15"/>
          <p:cNvSpPr/>
          <p:nvPr/>
        </p:nvSpPr>
        <p:spPr>
          <a:xfrm>
            <a:off x="8229600" y="5248656"/>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339328" y="5358384"/>
            <a:ext cx="237744" cy="237744"/>
          </a:xfrm>
          <a:prstGeom prst="rect">
            <a:avLst/>
          </a:prstGeom>
        </p:spPr>
      </p:pic>
      <p:sp>
        <p:nvSpPr>
          <p:cNvPr id="23" name="Text 16"/>
          <p:cNvSpPr txBox="1"/>
          <p:nvPr/>
        </p:nvSpPr>
        <p:spPr>
          <a:xfrm>
            <a:off x="8823960" y="5230368"/>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Integrated citations</a:t>
            </a:r>
            <a:endParaRPr lang="en-US" sz="1500" dirty="0"/>
          </a:p>
        </p:txBody>
      </p:sp>
      <p:sp>
        <p:nvSpPr>
          <p:cNvPr id="24" name="Text 17"/>
          <p:cNvSpPr txBox="1"/>
          <p:nvPr/>
        </p:nvSpPr>
        <p:spPr>
          <a:xfrm>
            <a:off x="8823960" y="5550408"/>
            <a:ext cx="2834640" cy="640080"/>
          </a:xfrm>
          <a:prstGeom prst="rect">
            <a:avLst/>
          </a:prstGeom>
          <a:noFill/>
          <a:ln/>
        </p:spPr>
        <p:txBody>
          <a:bodyPr wrap="square" lIns="0" tIns="0" rIns="0" bIns="0" rtlCol="0" anchor="t"/>
          <a:lstStyle/>
          <a:p>
            <a:pPr indent="0" marL="0">
              <a:buNone/>
            </a:pPr>
            <a:r>
              <a:rPr lang="en-US" sz="1300" dirty="0">
                <a:solidFill>
                  <a:schemeClr val="tx1"/>
                </a:solidFill>
              </a:rPr>
              <a:t>Insert from your library; bibliography builds itself.</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From proposal to funded project, with a clear audit trail</a:t>
            </a:r>
            <a:endParaRPr lang="en-US" sz="3200" dirty="0"/>
          </a:p>
        </p:txBody>
      </p:sp>
      <p:sp>
        <p:nvSpPr>
          <p:cNvPr id="3" name="Research proposals frame"/>
          <p:cNvSpPr/>
          <p:nvPr/>
        </p:nvSpPr>
        <p:spPr>
          <a:xfrm>
            <a:off x="548640" y="1371600"/>
            <a:ext cx="5440680" cy="3438144"/>
          </a:xfrm>
          <a:prstGeom prst="roundRect">
            <a:avLst>
              <a:gd name="adj" fmla="val 2128"/>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Research proposals screenshot" descr="/home/claude/deck/img/r_props.png">    </p:cNvPr>
          <p:cNvPicPr>
            <a:picLocks noChangeAspect="1"/>
          </p:cNvPicPr>
          <p:nvPr/>
        </p:nvPicPr>
        <p:blipFill>
          <a:blip r:embed="rId1"/>
          <a:stretch>
            <a:fillRect/>
          </a:stretch>
        </p:blipFill>
        <p:spPr>
          <a:xfrm>
            <a:off x="576072" y="1609344"/>
            <a:ext cx="5385816" cy="3168127"/>
          </a:xfrm>
          <a:prstGeom prst="rect">
            <a:avLst/>
          </a:prstGeom>
        </p:spPr>
      </p:pic>
      <p:sp>
        <p:nvSpPr>
          <p:cNvPr id="8" name="Internal grant requests frame"/>
          <p:cNvSpPr/>
          <p:nvPr/>
        </p:nvSpPr>
        <p:spPr>
          <a:xfrm>
            <a:off x="6217920" y="1371600"/>
            <a:ext cx="5440680" cy="3438144"/>
          </a:xfrm>
          <a:prstGeom prst="roundRect">
            <a:avLst>
              <a:gd name="adj" fmla="val 2128"/>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9" name="Shape 6"/>
          <p:cNvSpPr/>
          <p:nvPr/>
        </p:nvSpPr>
        <p:spPr>
          <a:xfrm>
            <a:off x="6345936" y="1444752"/>
            <a:ext cx="91440" cy="91440"/>
          </a:xfrm>
          <a:prstGeom prst="ellipse">
            <a:avLst/>
          </a:prstGeom>
          <a:solidFill>
            <a:srgbClr val="E86B6B"/>
          </a:solidFill>
          <a:ln w="12700">
            <a:solidFill>
              <a:srgbClr val="E86B6B"/>
            </a:solidFill>
            <a:prstDash val="solid"/>
          </a:ln>
        </p:spPr>
      </p:sp>
      <p:sp>
        <p:nvSpPr>
          <p:cNvPr id="10" name="Shape 7"/>
          <p:cNvSpPr/>
          <p:nvPr/>
        </p:nvSpPr>
        <p:spPr>
          <a:xfrm>
            <a:off x="6492240" y="1444752"/>
            <a:ext cx="91440" cy="91440"/>
          </a:xfrm>
          <a:prstGeom prst="ellipse">
            <a:avLst/>
          </a:prstGeom>
          <a:solidFill>
            <a:srgbClr val="F2C14E"/>
          </a:solidFill>
          <a:ln w="12700">
            <a:solidFill>
              <a:srgbClr val="F2C14E"/>
            </a:solidFill>
            <a:prstDash val="solid"/>
          </a:ln>
        </p:spPr>
      </p:sp>
      <p:sp>
        <p:nvSpPr>
          <p:cNvPr id="11" name="Shape 8"/>
          <p:cNvSpPr/>
          <p:nvPr/>
        </p:nvSpPr>
        <p:spPr>
          <a:xfrm>
            <a:off x="6638544" y="1444752"/>
            <a:ext cx="91440" cy="91440"/>
          </a:xfrm>
          <a:prstGeom prst="ellipse">
            <a:avLst/>
          </a:prstGeom>
          <a:solidFill>
            <a:srgbClr val="5DBB7A"/>
          </a:solidFill>
          <a:ln w="12700">
            <a:solidFill>
              <a:srgbClr val="5DBB7A"/>
            </a:solidFill>
            <a:prstDash val="solid"/>
          </a:ln>
        </p:spPr>
      </p:sp>
      <p:pic>
        <p:nvPicPr>
          <p:cNvPr id="12" name="Internal grant requests screenshot" descr="/home/claude/deck/img/f_internal.png">    </p:cNvPr>
          <p:cNvPicPr>
            <a:picLocks noChangeAspect="1"/>
          </p:cNvPicPr>
          <p:nvPr/>
        </p:nvPicPr>
        <p:blipFill>
          <a:blip r:embed="rId2"/>
          <a:stretch>
            <a:fillRect/>
          </a:stretch>
        </p:blipFill>
        <p:spPr>
          <a:xfrm>
            <a:off x="6245352" y="1609344"/>
            <a:ext cx="5385816" cy="3168127"/>
          </a:xfrm>
          <a:prstGeom prst="rect">
            <a:avLst/>
          </a:prstGeom>
        </p:spPr>
      </p:pic>
      <p:sp>
        <p:nvSpPr>
          <p:cNvPr id="13" name="Text 9"/>
          <p:cNvSpPr txBox="1"/>
          <p:nvPr/>
        </p:nvSpPr>
        <p:spPr>
          <a:xfrm>
            <a:off x="548640" y="4937760"/>
            <a:ext cx="5440680" cy="365760"/>
          </a:xfrm>
          <a:prstGeom prst="rect">
            <a:avLst/>
          </a:prstGeom>
          <a:noFill/>
          <a:ln/>
        </p:spPr>
        <p:txBody>
          <a:bodyPr wrap="square" lIns="0" tIns="0" rIns="0" bIns="0" rtlCol="0" anchor="ctr"/>
          <a:lstStyle/>
          <a:p>
            <a:pPr indent="0" marL="0">
              <a:buNone/>
            </a:pPr>
            <a:r>
              <a:rPr lang="en-US" sz="1700" b="1" dirty="0">
                <a:solidFill>
                  <a:srgbClr val="7E5BB5"/>
                </a:solidFill>
              </a:rPr>
              <a:t>For researchers</a:t>
            </a:r>
            <a:endParaRPr lang="en-US" sz="1700" dirty="0"/>
          </a:p>
        </p:txBody>
      </p:sp>
      <p:sp>
        <p:nvSpPr>
          <p:cNvPr id="14" name="Text 10"/>
          <p:cNvSpPr txBox="1"/>
          <p:nvPr/>
        </p:nvSpPr>
        <p:spPr>
          <a:xfrm>
            <a:off x="548640" y="5321808"/>
            <a:ext cx="5440680" cy="868680"/>
          </a:xfrm>
          <a:prstGeom prst="rect">
            <a:avLst/>
          </a:prstGeom>
          <a:noFill/>
          <a:ln/>
        </p:spPr>
        <p:txBody>
          <a:bodyPr wrap="square" lIns="0" tIns="0" rIns="0" bIns="0" rtlCol="0" anchor="t"/>
          <a:lstStyle/>
          <a:p>
            <a:pPr indent="0" marL="0">
              <a:buNone/>
            </a:pPr>
            <a:r>
              <a:rPr lang="en-US" sz="1400" dirty="0">
                <a:solidFill>
                  <a:schemeClr val="tx1"/>
                </a:solidFill>
              </a:rPr>
              <a:t>Structured proposal templates with budgets, milestones, co-investigators, data management plans and linked ethics approvals.</a:t>
            </a:r>
            <a:endParaRPr lang="en-US" sz="1400" dirty="0"/>
          </a:p>
        </p:txBody>
      </p:sp>
      <p:sp>
        <p:nvSpPr>
          <p:cNvPr id="15" name="Text 11"/>
          <p:cNvSpPr txBox="1"/>
          <p:nvPr/>
        </p:nvSpPr>
        <p:spPr>
          <a:xfrm>
            <a:off x="6217920" y="4937760"/>
            <a:ext cx="5440680" cy="365760"/>
          </a:xfrm>
          <a:prstGeom prst="rect">
            <a:avLst/>
          </a:prstGeom>
          <a:noFill/>
          <a:ln/>
        </p:spPr>
        <p:txBody>
          <a:bodyPr wrap="square" lIns="0" tIns="0" rIns="0" bIns="0" rtlCol="0" anchor="ctr"/>
          <a:lstStyle/>
          <a:p>
            <a:pPr indent="0" marL="0">
              <a:buNone/>
            </a:pPr>
            <a:r>
              <a:rPr lang="en-US" sz="1700" b="1" dirty="0">
                <a:solidFill>
                  <a:srgbClr val="7E5BB5"/>
                </a:solidFill>
              </a:rPr>
              <a:t>For research offices &amp; foundations</a:t>
            </a:r>
            <a:endParaRPr lang="en-US" sz="1700" dirty="0"/>
          </a:p>
        </p:txBody>
      </p:sp>
      <p:sp>
        <p:nvSpPr>
          <p:cNvPr id="16" name="Text 12"/>
          <p:cNvSpPr txBox="1"/>
          <p:nvPr/>
        </p:nvSpPr>
        <p:spPr>
          <a:xfrm>
            <a:off x="6217920" y="5321808"/>
            <a:ext cx="5440680" cy="868680"/>
          </a:xfrm>
          <a:prstGeom prst="rect">
            <a:avLst/>
          </a:prstGeom>
          <a:noFill/>
          <a:ln/>
        </p:spPr>
        <p:txBody>
          <a:bodyPr wrap="square" lIns="0" tIns="0" rIns="0" bIns="0" rtlCol="0" anchor="t"/>
          <a:lstStyle/>
          <a:p>
            <a:pPr indent="0" marL="0">
              <a:buNone/>
            </a:pPr>
            <a:r>
              <a:rPr lang="en-US" sz="1400" dirty="0">
                <a:solidFill>
                  <a:schemeClr val="tx1"/>
                </a:solidFill>
              </a:rPr>
              <a:t>Configurable multi-stage review pipelines, internal grant requests, grant tracking from application to award, and donor campaigns.</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Compliance built in: ethics, clinical trials and integrity</a:t>
            </a:r>
            <a:endParaRPr lang="en-US" sz="3200" dirty="0"/>
          </a:p>
        </p:txBody>
      </p:sp>
      <p:sp>
        <p:nvSpPr>
          <p:cNvPr id="3" name="Ethics review frame"/>
          <p:cNvSpPr/>
          <p:nvPr/>
        </p:nvSpPr>
        <p:spPr>
          <a:xfrm>
            <a:off x="548640" y="1371600"/>
            <a:ext cx="5440680" cy="3438144"/>
          </a:xfrm>
          <a:prstGeom prst="roundRect">
            <a:avLst>
              <a:gd name="adj" fmla="val 2128"/>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Ethics review screenshot" descr="/home/claude/deck/img/i_ethics.png">    </p:cNvPr>
          <p:cNvPicPr>
            <a:picLocks noChangeAspect="1"/>
          </p:cNvPicPr>
          <p:nvPr/>
        </p:nvPicPr>
        <p:blipFill>
          <a:blip r:embed="rId1"/>
          <a:stretch>
            <a:fillRect/>
          </a:stretch>
        </p:blipFill>
        <p:spPr>
          <a:xfrm>
            <a:off x="576072" y="1609344"/>
            <a:ext cx="5385816" cy="3168127"/>
          </a:xfrm>
          <a:prstGeom prst="rect">
            <a:avLst/>
          </a:prstGeom>
        </p:spPr>
      </p:pic>
      <p:sp>
        <p:nvSpPr>
          <p:cNvPr id="8" name="Trial registry reporting frame"/>
          <p:cNvSpPr/>
          <p:nvPr/>
        </p:nvSpPr>
        <p:spPr>
          <a:xfrm>
            <a:off x="6217920" y="1371600"/>
            <a:ext cx="5440680" cy="3438144"/>
          </a:xfrm>
          <a:prstGeom prst="roundRect">
            <a:avLst>
              <a:gd name="adj" fmla="val 2128"/>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9" name="Shape 6"/>
          <p:cNvSpPr/>
          <p:nvPr/>
        </p:nvSpPr>
        <p:spPr>
          <a:xfrm>
            <a:off x="6345936" y="1444752"/>
            <a:ext cx="91440" cy="91440"/>
          </a:xfrm>
          <a:prstGeom prst="ellipse">
            <a:avLst/>
          </a:prstGeom>
          <a:solidFill>
            <a:srgbClr val="E86B6B"/>
          </a:solidFill>
          <a:ln w="12700">
            <a:solidFill>
              <a:srgbClr val="E86B6B"/>
            </a:solidFill>
            <a:prstDash val="solid"/>
          </a:ln>
        </p:spPr>
      </p:sp>
      <p:sp>
        <p:nvSpPr>
          <p:cNvPr id="10" name="Shape 7"/>
          <p:cNvSpPr/>
          <p:nvPr/>
        </p:nvSpPr>
        <p:spPr>
          <a:xfrm>
            <a:off x="6492240" y="1444752"/>
            <a:ext cx="91440" cy="91440"/>
          </a:xfrm>
          <a:prstGeom prst="ellipse">
            <a:avLst/>
          </a:prstGeom>
          <a:solidFill>
            <a:srgbClr val="F2C14E"/>
          </a:solidFill>
          <a:ln w="12700">
            <a:solidFill>
              <a:srgbClr val="F2C14E"/>
            </a:solidFill>
            <a:prstDash val="solid"/>
          </a:ln>
        </p:spPr>
      </p:sp>
      <p:sp>
        <p:nvSpPr>
          <p:cNvPr id="11" name="Shape 8"/>
          <p:cNvSpPr/>
          <p:nvPr/>
        </p:nvSpPr>
        <p:spPr>
          <a:xfrm>
            <a:off x="6638544" y="1444752"/>
            <a:ext cx="91440" cy="91440"/>
          </a:xfrm>
          <a:prstGeom prst="ellipse">
            <a:avLst/>
          </a:prstGeom>
          <a:solidFill>
            <a:srgbClr val="5DBB7A"/>
          </a:solidFill>
          <a:ln w="12700">
            <a:solidFill>
              <a:srgbClr val="5DBB7A"/>
            </a:solidFill>
            <a:prstDash val="solid"/>
          </a:ln>
        </p:spPr>
      </p:sp>
      <p:pic>
        <p:nvPicPr>
          <p:cNvPr id="12" name="Trial registry reporting screenshot" descr="/home/claude/deck/img/r_ct.png">    </p:cNvPr>
          <p:cNvPicPr>
            <a:picLocks noChangeAspect="1"/>
          </p:cNvPicPr>
          <p:nvPr/>
        </p:nvPicPr>
        <p:blipFill>
          <a:blip r:embed="rId2"/>
          <a:stretch>
            <a:fillRect/>
          </a:stretch>
        </p:blipFill>
        <p:spPr>
          <a:xfrm>
            <a:off x="6245352" y="1609344"/>
            <a:ext cx="5385816" cy="3168127"/>
          </a:xfrm>
          <a:prstGeom prst="rect">
            <a:avLst/>
          </a:prstGeom>
        </p:spPr>
      </p:pic>
      <p:sp>
        <p:nvSpPr>
          <p:cNvPr id="13" name="Shape 9"/>
          <p:cNvSpPr/>
          <p:nvPr/>
        </p:nvSpPr>
        <p:spPr>
          <a:xfrm>
            <a:off x="548640" y="4983480"/>
            <a:ext cx="502920" cy="50292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669341" y="5104181"/>
            <a:ext cx="261518" cy="261518"/>
          </a:xfrm>
          <a:prstGeom prst="rect">
            <a:avLst/>
          </a:prstGeom>
        </p:spPr>
      </p:pic>
      <p:sp>
        <p:nvSpPr>
          <p:cNvPr id="15" name="Text 10"/>
          <p:cNvSpPr txBox="1"/>
          <p:nvPr/>
        </p:nvSpPr>
        <p:spPr>
          <a:xfrm>
            <a:off x="1188720" y="4965192"/>
            <a:ext cx="3017520" cy="320040"/>
          </a:xfrm>
          <a:prstGeom prst="rect">
            <a:avLst/>
          </a:prstGeom>
          <a:noFill/>
          <a:ln/>
        </p:spPr>
        <p:txBody>
          <a:bodyPr wrap="square" lIns="0" tIns="0" rIns="0" bIns="0" rtlCol="0" anchor="ctr"/>
          <a:lstStyle/>
          <a:p>
            <a:pPr indent="0" marL="0">
              <a:buNone/>
            </a:pPr>
            <a:r>
              <a:rPr lang="en-US" sz="1500" b="1" dirty="0">
                <a:solidFill>
                  <a:schemeClr val="tx2"/>
                </a:solidFill>
              </a:rPr>
              <a:t>Ethics applications &amp; review</a:t>
            </a:r>
            <a:endParaRPr lang="en-US" sz="1500" dirty="0"/>
          </a:p>
        </p:txBody>
      </p:sp>
      <p:sp>
        <p:nvSpPr>
          <p:cNvPr id="16" name="Text 11"/>
          <p:cNvSpPr txBox="1"/>
          <p:nvPr/>
        </p:nvSpPr>
        <p:spPr>
          <a:xfrm>
            <a:off x="1188720" y="5303520"/>
            <a:ext cx="3017520" cy="822960"/>
          </a:xfrm>
          <a:prstGeom prst="rect">
            <a:avLst/>
          </a:prstGeom>
          <a:noFill/>
          <a:ln/>
        </p:spPr>
        <p:txBody>
          <a:bodyPr wrap="square" lIns="0" tIns="0" rIns="0" bIns="0" rtlCol="0" anchor="t"/>
          <a:lstStyle/>
          <a:p>
            <a:pPr indent="0" marL="0">
              <a:buNone/>
            </a:pPr>
            <a:r>
              <a:rPr lang="en-US" sz="1300" dirty="0">
                <a:solidFill>
                  <a:schemeClr val="tx1"/>
                </a:solidFill>
              </a:rPr>
              <a:t>Online submission, committee review, conditions and expiry tracking.</a:t>
            </a:r>
            <a:endParaRPr lang="en-US" sz="1300" dirty="0"/>
          </a:p>
        </p:txBody>
      </p:sp>
      <p:sp>
        <p:nvSpPr>
          <p:cNvPr id="17" name="Shape 12"/>
          <p:cNvSpPr/>
          <p:nvPr/>
        </p:nvSpPr>
        <p:spPr>
          <a:xfrm>
            <a:off x="4297680" y="4983480"/>
            <a:ext cx="502920" cy="50292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4418381" y="5104181"/>
            <a:ext cx="261518" cy="261518"/>
          </a:xfrm>
          <a:prstGeom prst="rect">
            <a:avLst/>
          </a:prstGeom>
        </p:spPr>
      </p:pic>
      <p:sp>
        <p:nvSpPr>
          <p:cNvPr id="19" name="Text 13"/>
          <p:cNvSpPr txBox="1"/>
          <p:nvPr/>
        </p:nvSpPr>
        <p:spPr>
          <a:xfrm>
            <a:off x="4937760" y="4965192"/>
            <a:ext cx="3017520" cy="320040"/>
          </a:xfrm>
          <a:prstGeom prst="rect">
            <a:avLst/>
          </a:prstGeom>
          <a:noFill/>
          <a:ln/>
        </p:spPr>
        <p:txBody>
          <a:bodyPr wrap="square" lIns="0" tIns="0" rIns="0" bIns="0" rtlCol="0" anchor="ctr"/>
          <a:lstStyle/>
          <a:p>
            <a:pPr indent="0" marL="0">
              <a:buNone/>
            </a:pPr>
            <a:r>
              <a:rPr lang="en-US" sz="1500" b="1" dirty="0">
                <a:solidFill>
                  <a:schemeClr val="tx2"/>
                </a:solidFill>
              </a:rPr>
              <a:t>Registry-ready trials</a:t>
            </a:r>
            <a:endParaRPr lang="en-US" sz="1500" dirty="0"/>
          </a:p>
        </p:txBody>
      </p:sp>
      <p:sp>
        <p:nvSpPr>
          <p:cNvPr id="20" name="Text 14"/>
          <p:cNvSpPr txBox="1"/>
          <p:nvPr/>
        </p:nvSpPr>
        <p:spPr>
          <a:xfrm>
            <a:off x="4937760" y="5303520"/>
            <a:ext cx="3017520" cy="822960"/>
          </a:xfrm>
          <a:prstGeom prst="rect">
            <a:avLst/>
          </a:prstGeom>
          <a:noFill/>
          <a:ln/>
        </p:spPr>
        <p:txBody>
          <a:bodyPr wrap="square" lIns="0" tIns="0" rIns="0" bIns="0" rtlCol="0" anchor="t"/>
          <a:lstStyle/>
          <a:p>
            <a:pPr indent="0" marL="0">
              <a:buNone/>
            </a:pPr>
            <a:r>
              <a:rPr lang="en-US" sz="1300" dirty="0">
                <a:solidFill>
                  <a:schemeClr val="tx1"/>
                </a:solidFill>
              </a:rPr>
              <a:t>Export for ClinicalTrials.gov, PACTR and WHO ICTRP; recruitment and safety logs.</a:t>
            </a:r>
            <a:endParaRPr lang="en-US" sz="1300" dirty="0"/>
          </a:p>
        </p:txBody>
      </p:sp>
      <p:sp>
        <p:nvSpPr>
          <p:cNvPr id="21" name="Shape 15"/>
          <p:cNvSpPr/>
          <p:nvPr/>
        </p:nvSpPr>
        <p:spPr>
          <a:xfrm>
            <a:off x="8046720" y="4983480"/>
            <a:ext cx="502920" cy="50292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167421" y="5104181"/>
            <a:ext cx="261518" cy="261518"/>
          </a:xfrm>
          <a:prstGeom prst="rect">
            <a:avLst/>
          </a:prstGeom>
        </p:spPr>
      </p:pic>
      <p:sp>
        <p:nvSpPr>
          <p:cNvPr id="23" name="Text 16"/>
          <p:cNvSpPr txBox="1"/>
          <p:nvPr/>
        </p:nvSpPr>
        <p:spPr>
          <a:xfrm>
            <a:off x="8686800" y="4965192"/>
            <a:ext cx="3017520" cy="320040"/>
          </a:xfrm>
          <a:prstGeom prst="rect">
            <a:avLst/>
          </a:prstGeom>
          <a:noFill/>
          <a:ln/>
        </p:spPr>
        <p:txBody>
          <a:bodyPr wrap="square" lIns="0" tIns="0" rIns="0" bIns="0" rtlCol="0" anchor="ctr"/>
          <a:lstStyle/>
          <a:p>
            <a:pPr indent="0" marL="0">
              <a:buNone/>
            </a:pPr>
            <a:r>
              <a:rPr lang="en-US" sz="1500" b="1" dirty="0">
                <a:solidFill>
                  <a:schemeClr val="tx2"/>
                </a:solidFill>
              </a:rPr>
              <a:t>Image integrity screening</a:t>
            </a:r>
            <a:endParaRPr lang="en-US" sz="1500" dirty="0"/>
          </a:p>
        </p:txBody>
      </p:sp>
      <p:sp>
        <p:nvSpPr>
          <p:cNvPr id="24" name="Text 17"/>
          <p:cNvSpPr txBox="1"/>
          <p:nvPr/>
        </p:nvSpPr>
        <p:spPr>
          <a:xfrm>
            <a:off x="8686800" y="5303520"/>
            <a:ext cx="3017520" cy="822960"/>
          </a:xfrm>
          <a:prstGeom prst="rect">
            <a:avLst/>
          </a:prstGeom>
          <a:noFill/>
          <a:ln/>
        </p:spPr>
        <p:txBody>
          <a:bodyPr wrap="square" lIns="0" tIns="0" rIns="0" bIns="0" rtlCol="0" anchor="t"/>
          <a:lstStyle/>
          <a:p>
            <a:pPr indent="0" marL="0">
              <a:buNone/>
            </a:pPr>
            <a:r>
              <a:rPr lang="en-US" sz="1300" dirty="0">
                <a:solidFill>
                  <a:schemeClr val="tx1"/>
                </a:solidFill>
              </a:rPr>
              <a:t>Check manuscript images for duplication or manipulation before submission.</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200" b="1" spc="200" kern="0" dirty="0">
                <a:solidFill>
                  <a:srgbClr val="9FD8EA"/>
                </a:solidFill>
              </a:rPr>
              <a:t>AI INTEGRATION</a:t>
            </a:r>
            <a:endParaRPr lang="en-US" sz="1200" dirty="0"/>
          </a:p>
        </p:txBody>
      </p:sp>
      <p:sp>
        <p:nvSpPr>
          <p:cNvPr id="3" name="Text 1"/>
          <p:cNvSpPr txBox="1"/>
          <p:nvPr/>
        </p:nvSpPr>
        <p:spPr>
          <a:xfrm>
            <a:off x="548640" y="91440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AI built into the research workflow, not bolted on</a:t>
            </a:r>
            <a:endParaRPr lang="en-US" sz="3200" dirty="0"/>
          </a:p>
        </p:txBody>
      </p:sp>
      <p:sp>
        <p:nvSpPr>
          <p:cNvPr id="4" name="Text 2"/>
          <p:cNvSpPr txBox="1"/>
          <p:nvPr/>
        </p:nvSpPr>
        <p:spPr>
          <a:xfrm>
            <a:off x="548640" y="1691640"/>
            <a:ext cx="10972800" cy="411480"/>
          </a:xfrm>
          <a:prstGeom prst="rect">
            <a:avLst/>
          </a:prstGeom>
          <a:noFill/>
          <a:ln/>
        </p:spPr>
        <p:txBody>
          <a:bodyPr wrap="square" lIns="0" tIns="0" rIns="0" bIns="0" rtlCol="0" anchor="ctr"/>
          <a:lstStyle/>
          <a:p>
            <a:pPr indent="0" marL="0">
              <a:buNone/>
            </a:pPr>
            <a:r>
              <a:rPr lang="en-US" sz="1600" dirty="0">
                <a:solidFill>
                  <a:srgbClr val="D6D2EA"/>
                </a:solidFill>
              </a:rPr>
              <a:t>Six AI and automation capabilities already live in HospitiumRIS, working on your own research record.</a:t>
            </a:r>
            <a:endParaRPr lang="en-US" sz="1600" dirty="0"/>
          </a:p>
        </p:txBody>
      </p:sp>
      <p:sp>
        <p:nvSpPr>
          <p:cNvPr id="5" name="AI capability 1"/>
          <p:cNvSpPr/>
          <p:nvPr/>
        </p:nvSpPr>
        <p:spPr>
          <a:xfrm>
            <a:off x="548640" y="2377440"/>
            <a:ext cx="3566160" cy="1828800"/>
          </a:xfrm>
          <a:prstGeom prst="roundRect">
            <a:avLst>
              <a:gd name="adj" fmla="val 5000"/>
            </a:avLst>
          </a:prstGeom>
          <a:solidFill>
            <a:srgbClr val="2A2852"/>
          </a:solidFill>
          <a:ln w="9525">
            <a:solidFill>
              <a:srgbClr val="3A3768"/>
            </a:solidFill>
            <a:prstDash val="solid"/>
          </a:ln>
        </p:spPr>
      </p:sp>
      <p:sp>
        <p:nvSpPr>
          <p:cNvPr id="6" name="Shape 4"/>
          <p:cNvSpPr/>
          <p:nvPr/>
        </p:nvSpPr>
        <p:spPr>
          <a:xfrm>
            <a:off x="777240" y="2606040"/>
            <a:ext cx="548640" cy="548640"/>
          </a:xfrm>
          <a:prstGeom prst="ellipse">
            <a:avLst/>
          </a:prstGeom>
          <a:solidFill>
            <a:srgbClr val="7E5BB5"/>
          </a:solidFill>
          <a:ln w="12700">
            <a:solidFill>
              <a:srgbClr val="7E5BB5"/>
            </a:solidFill>
            <a:prstDash val="solid"/>
          </a:ln>
        </p:spPr>
      </p:sp>
      <p:pic>
        <p:nvPicPr>
          <p:cNvPr id="7" name="Image 0" descr="preencoded.png">    </p:cNvPr>
          <p:cNvPicPr>
            <a:picLocks noChangeAspect="1"/>
          </p:cNvPicPr>
          <p:nvPr/>
        </p:nvPicPr>
        <p:blipFill>
          <a:blip r:embed="rId1"/>
          <a:stretch>
            <a:fillRect/>
          </a:stretch>
        </p:blipFill>
        <p:spPr>
          <a:xfrm>
            <a:off x="908914" y="2737714"/>
            <a:ext cx="285293" cy="285293"/>
          </a:xfrm>
          <a:prstGeom prst="rect">
            <a:avLst/>
          </a:prstGeom>
        </p:spPr>
      </p:pic>
      <p:sp>
        <p:nvSpPr>
          <p:cNvPr id="8" name="Text 5"/>
          <p:cNvSpPr txBox="1"/>
          <p:nvPr/>
        </p:nvSpPr>
        <p:spPr>
          <a:xfrm>
            <a:off x="1463040" y="265176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Publication summaries</a:t>
            </a:r>
            <a:endParaRPr lang="en-US" sz="1600" dirty="0"/>
          </a:p>
        </p:txBody>
      </p:sp>
      <p:sp>
        <p:nvSpPr>
          <p:cNvPr id="9" name="Text 6"/>
          <p:cNvSpPr txBox="1"/>
          <p:nvPr/>
        </p:nvSpPr>
        <p:spPr>
          <a:xfrm>
            <a:off x="777240" y="3273552"/>
            <a:ext cx="3154680" cy="868680"/>
          </a:xfrm>
          <a:prstGeom prst="rect">
            <a:avLst/>
          </a:prstGeom>
          <a:noFill/>
          <a:ln/>
        </p:spPr>
        <p:txBody>
          <a:bodyPr wrap="square" lIns="0" tIns="0" rIns="0" bIns="0" rtlCol="0" anchor="t"/>
          <a:lstStyle/>
          <a:p>
            <a:pPr indent="0" marL="0">
              <a:buNone/>
            </a:pPr>
            <a:r>
              <a:rPr lang="en-US" sz="1250" dirty="0">
                <a:solidFill>
                  <a:srgbClr val="E4E1F3"/>
                </a:solidFill>
              </a:rPr>
              <a:t>Structured AI summaries of any paper: overview, key findings and significance, plus extracted keywords. Works in batches.</a:t>
            </a:r>
            <a:endParaRPr lang="en-US" sz="1250" dirty="0"/>
          </a:p>
        </p:txBody>
      </p:sp>
      <p:sp>
        <p:nvSpPr>
          <p:cNvPr id="10" name="AI capability 2"/>
          <p:cNvSpPr/>
          <p:nvPr/>
        </p:nvSpPr>
        <p:spPr>
          <a:xfrm>
            <a:off x="4297680" y="2377440"/>
            <a:ext cx="3566160" cy="1828800"/>
          </a:xfrm>
          <a:prstGeom prst="roundRect">
            <a:avLst>
              <a:gd name="adj" fmla="val 5000"/>
            </a:avLst>
          </a:prstGeom>
          <a:solidFill>
            <a:srgbClr val="2A2852"/>
          </a:solidFill>
          <a:ln w="9525">
            <a:solidFill>
              <a:srgbClr val="3A3768"/>
            </a:solidFill>
            <a:prstDash val="solid"/>
          </a:ln>
        </p:spPr>
      </p:sp>
      <p:sp>
        <p:nvSpPr>
          <p:cNvPr id="11" name="Shape 8"/>
          <p:cNvSpPr/>
          <p:nvPr/>
        </p:nvSpPr>
        <p:spPr>
          <a:xfrm>
            <a:off x="4526280" y="2606040"/>
            <a:ext cx="548640" cy="548640"/>
          </a:xfrm>
          <a:prstGeom prst="ellipse">
            <a:avLst/>
          </a:prstGeom>
          <a:solidFill>
            <a:srgbClr val="2A9DC0"/>
          </a:solidFill>
          <a:ln w="12700">
            <a:solidFill>
              <a:srgbClr val="2A9DC0"/>
            </a:solidFill>
            <a:prstDash val="solid"/>
          </a:ln>
        </p:spPr>
      </p:sp>
      <p:pic>
        <p:nvPicPr>
          <p:cNvPr id="12" name="Image 1" descr="preencoded.png">    </p:cNvPr>
          <p:cNvPicPr>
            <a:picLocks noChangeAspect="1"/>
          </p:cNvPicPr>
          <p:nvPr/>
        </p:nvPicPr>
        <p:blipFill>
          <a:blip r:embed="rId2"/>
          <a:stretch>
            <a:fillRect/>
          </a:stretch>
        </p:blipFill>
        <p:spPr>
          <a:xfrm>
            <a:off x="4657954" y="2737714"/>
            <a:ext cx="285293" cy="285293"/>
          </a:xfrm>
          <a:prstGeom prst="rect">
            <a:avLst/>
          </a:prstGeom>
        </p:spPr>
      </p:pic>
      <p:sp>
        <p:nvSpPr>
          <p:cNvPr id="13" name="Text 9"/>
          <p:cNvSpPr txBox="1"/>
          <p:nvPr/>
        </p:nvSpPr>
        <p:spPr>
          <a:xfrm>
            <a:off x="5212080" y="265176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Impact insights</a:t>
            </a:r>
            <a:endParaRPr lang="en-US" sz="1600" dirty="0"/>
          </a:p>
        </p:txBody>
      </p:sp>
      <p:sp>
        <p:nvSpPr>
          <p:cNvPr id="14" name="Text 10"/>
          <p:cNvSpPr txBox="1"/>
          <p:nvPr/>
        </p:nvSpPr>
        <p:spPr>
          <a:xfrm>
            <a:off x="4526280" y="3273552"/>
            <a:ext cx="3154680" cy="868680"/>
          </a:xfrm>
          <a:prstGeom prst="rect">
            <a:avLst/>
          </a:prstGeom>
          <a:noFill/>
          <a:ln/>
        </p:spPr>
        <p:txBody>
          <a:bodyPr wrap="square" lIns="0" tIns="0" rIns="0" bIns="0" rtlCol="0" anchor="t"/>
          <a:lstStyle/>
          <a:p>
            <a:pPr indent="0" marL="0">
              <a:buNone/>
            </a:pPr>
            <a:r>
              <a:rPr lang="en-US" sz="1250" dirty="0">
                <a:solidFill>
                  <a:srgbClr val="E4E1F3"/>
                </a:solidFill>
              </a:rPr>
              <a:t>Narrative explanation of citation and output trends, growth recommendations and a standout-publication callout.</a:t>
            </a:r>
            <a:endParaRPr lang="en-US" sz="1250" dirty="0"/>
          </a:p>
        </p:txBody>
      </p:sp>
      <p:sp>
        <p:nvSpPr>
          <p:cNvPr id="15" name="AI capability 3"/>
          <p:cNvSpPr/>
          <p:nvPr/>
        </p:nvSpPr>
        <p:spPr>
          <a:xfrm>
            <a:off x="8046720" y="2377440"/>
            <a:ext cx="3566160" cy="1828800"/>
          </a:xfrm>
          <a:prstGeom prst="roundRect">
            <a:avLst>
              <a:gd name="adj" fmla="val 5000"/>
            </a:avLst>
          </a:prstGeom>
          <a:solidFill>
            <a:srgbClr val="2A2852"/>
          </a:solidFill>
          <a:ln w="9525">
            <a:solidFill>
              <a:srgbClr val="3A3768"/>
            </a:solidFill>
            <a:prstDash val="solid"/>
          </a:ln>
        </p:spPr>
      </p:sp>
      <p:sp>
        <p:nvSpPr>
          <p:cNvPr id="16" name="Shape 12"/>
          <p:cNvSpPr/>
          <p:nvPr/>
        </p:nvSpPr>
        <p:spPr>
          <a:xfrm>
            <a:off x="8275320" y="2606040"/>
            <a:ext cx="548640" cy="548640"/>
          </a:xfrm>
          <a:prstGeom prst="ellipse">
            <a:avLst/>
          </a:prstGeom>
          <a:solidFill>
            <a:srgbClr val="7E5BB5"/>
          </a:solidFill>
          <a:ln w="12700">
            <a:solidFill>
              <a:srgbClr val="7E5BB5"/>
            </a:solidFill>
            <a:prstDash val="solid"/>
          </a:ln>
        </p:spPr>
      </p:sp>
      <p:pic>
        <p:nvPicPr>
          <p:cNvPr id="17" name="Image 2" descr="preencoded.png">    </p:cNvPr>
          <p:cNvPicPr>
            <a:picLocks noChangeAspect="1"/>
          </p:cNvPicPr>
          <p:nvPr/>
        </p:nvPicPr>
        <p:blipFill>
          <a:blip r:embed="rId3"/>
          <a:stretch>
            <a:fillRect/>
          </a:stretch>
        </p:blipFill>
        <p:spPr>
          <a:xfrm>
            <a:off x="8406994" y="2737714"/>
            <a:ext cx="285293" cy="285293"/>
          </a:xfrm>
          <a:prstGeom prst="rect">
            <a:avLst/>
          </a:prstGeom>
        </p:spPr>
      </p:pic>
      <p:sp>
        <p:nvSpPr>
          <p:cNvPr id="18" name="Text 13"/>
          <p:cNvSpPr txBox="1"/>
          <p:nvPr/>
        </p:nvSpPr>
        <p:spPr>
          <a:xfrm>
            <a:off x="8961120" y="265176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Compliance insights</a:t>
            </a:r>
            <a:endParaRPr lang="en-US" sz="1600" dirty="0"/>
          </a:p>
        </p:txBody>
      </p:sp>
      <p:sp>
        <p:nvSpPr>
          <p:cNvPr id="19" name="Text 14"/>
          <p:cNvSpPr txBox="1"/>
          <p:nvPr/>
        </p:nvSpPr>
        <p:spPr>
          <a:xfrm>
            <a:off x="8275320" y="3273552"/>
            <a:ext cx="3154680" cy="868680"/>
          </a:xfrm>
          <a:prstGeom prst="rect">
            <a:avLst/>
          </a:prstGeom>
          <a:noFill/>
          <a:ln/>
        </p:spPr>
        <p:txBody>
          <a:bodyPr wrap="square" lIns="0" tIns="0" rIns="0" bIns="0" rtlCol="0" anchor="t"/>
          <a:lstStyle/>
          <a:p>
            <a:pPr indent="0" marL="0">
              <a:buNone/>
            </a:pPr>
            <a:r>
              <a:rPr lang="en-US" sz="1250" dirty="0">
                <a:solidFill>
                  <a:srgbClr val="E4E1F3"/>
                </a:solidFill>
              </a:rPr>
              <a:t>Flags expiring ethics approvals, overdue training and image-integrity findings, with a priority to act on.</a:t>
            </a:r>
            <a:endParaRPr lang="en-US" sz="1250" dirty="0"/>
          </a:p>
        </p:txBody>
      </p:sp>
      <p:sp>
        <p:nvSpPr>
          <p:cNvPr id="20" name="AI capability 4"/>
          <p:cNvSpPr/>
          <p:nvPr/>
        </p:nvSpPr>
        <p:spPr>
          <a:xfrm>
            <a:off x="548640" y="4389120"/>
            <a:ext cx="3566160" cy="1828800"/>
          </a:xfrm>
          <a:prstGeom prst="roundRect">
            <a:avLst>
              <a:gd name="adj" fmla="val 5000"/>
            </a:avLst>
          </a:prstGeom>
          <a:solidFill>
            <a:srgbClr val="2A2852"/>
          </a:solidFill>
          <a:ln w="9525">
            <a:solidFill>
              <a:srgbClr val="3A3768"/>
            </a:solidFill>
            <a:prstDash val="solid"/>
          </a:ln>
        </p:spPr>
      </p:sp>
      <p:sp>
        <p:nvSpPr>
          <p:cNvPr id="21" name="Shape 16"/>
          <p:cNvSpPr/>
          <p:nvPr/>
        </p:nvSpPr>
        <p:spPr>
          <a:xfrm>
            <a:off x="777240" y="4617720"/>
            <a:ext cx="548640" cy="548640"/>
          </a:xfrm>
          <a:prstGeom prst="ellipse">
            <a:avLst/>
          </a:prstGeom>
          <a:solidFill>
            <a:srgbClr val="2A9DC0"/>
          </a:solidFill>
          <a:ln w="12700">
            <a:solidFill>
              <a:srgbClr val="2A9DC0"/>
            </a:solidFill>
            <a:prstDash val="solid"/>
          </a:ln>
        </p:spPr>
      </p:sp>
      <p:pic>
        <p:nvPicPr>
          <p:cNvPr id="22" name="Image 3" descr="preencoded.png">    </p:cNvPr>
          <p:cNvPicPr>
            <a:picLocks noChangeAspect="1"/>
          </p:cNvPicPr>
          <p:nvPr/>
        </p:nvPicPr>
        <p:blipFill>
          <a:blip r:embed="rId4"/>
          <a:stretch>
            <a:fillRect/>
          </a:stretch>
        </p:blipFill>
        <p:spPr>
          <a:xfrm>
            <a:off x="908914" y="4749394"/>
            <a:ext cx="285293" cy="285293"/>
          </a:xfrm>
          <a:prstGeom prst="rect">
            <a:avLst/>
          </a:prstGeom>
        </p:spPr>
      </p:pic>
      <p:sp>
        <p:nvSpPr>
          <p:cNvPr id="23" name="Text 17"/>
          <p:cNvSpPr txBox="1"/>
          <p:nvPr/>
        </p:nvSpPr>
        <p:spPr>
          <a:xfrm>
            <a:off x="1463040" y="466344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Project &amp; grant insights</a:t>
            </a:r>
            <a:endParaRPr lang="en-US" sz="1600" dirty="0"/>
          </a:p>
        </p:txBody>
      </p:sp>
      <p:sp>
        <p:nvSpPr>
          <p:cNvPr id="24" name="Text 18"/>
          <p:cNvSpPr txBox="1"/>
          <p:nvPr/>
        </p:nvSpPr>
        <p:spPr>
          <a:xfrm>
            <a:off x="777240" y="5285232"/>
            <a:ext cx="3154680" cy="868680"/>
          </a:xfrm>
          <a:prstGeom prst="rect">
            <a:avLst/>
          </a:prstGeom>
          <a:noFill/>
          <a:ln/>
        </p:spPr>
        <p:txBody>
          <a:bodyPr wrap="square" lIns="0" tIns="0" rIns="0" bIns="0" rtlCol="0" anchor="t"/>
          <a:lstStyle/>
          <a:p>
            <a:pPr indent="0" marL="0">
              <a:buNone/>
            </a:pPr>
            <a:r>
              <a:rPr lang="en-US" sz="1250" dirty="0">
                <a:solidFill>
                  <a:srgbClr val="E4E1F3"/>
                </a:solidFill>
              </a:rPr>
              <a:t>Reads the proposal and grant pipeline to surface stuck items, milestones at risk and next actions.</a:t>
            </a:r>
            <a:endParaRPr lang="en-US" sz="1250" dirty="0"/>
          </a:p>
        </p:txBody>
      </p:sp>
      <p:sp>
        <p:nvSpPr>
          <p:cNvPr id="25" name="AI capability 5"/>
          <p:cNvSpPr/>
          <p:nvPr/>
        </p:nvSpPr>
        <p:spPr>
          <a:xfrm>
            <a:off x="4297680" y="4389120"/>
            <a:ext cx="3566160" cy="1828800"/>
          </a:xfrm>
          <a:prstGeom prst="roundRect">
            <a:avLst>
              <a:gd name="adj" fmla="val 5000"/>
            </a:avLst>
          </a:prstGeom>
          <a:solidFill>
            <a:srgbClr val="2A2852"/>
          </a:solidFill>
          <a:ln w="9525">
            <a:solidFill>
              <a:srgbClr val="3A3768"/>
            </a:solidFill>
            <a:prstDash val="solid"/>
          </a:ln>
        </p:spPr>
      </p:sp>
      <p:sp>
        <p:nvSpPr>
          <p:cNvPr id="26" name="Shape 20"/>
          <p:cNvSpPr/>
          <p:nvPr/>
        </p:nvSpPr>
        <p:spPr>
          <a:xfrm>
            <a:off x="4526280" y="4617720"/>
            <a:ext cx="548640" cy="548640"/>
          </a:xfrm>
          <a:prstGeom prst="ellipse">
            <a:avLst/>
          </a:prstGeom>
          <a:solidFill>
            <a:srgbClr val="7E5BB5"/>
          </a:solidFill>
          <a:ln w="12700">
            <a:solidFill>
              <a:srgbClr val="7E5BB5"/>
            </a:solidFill>
            <a:prstDash val="solid"/>
          </a:ln>
        </p:spPr>
      </p:sp>
      <p:pic>
        <p:nvPicPr>
          <p:cNvPr id="27" name="Image 4" descr="preencoded.png">    </p:cNvPr>
          <p:cNvPicPr>
            <a:picLocks noChangeAspect="1"/>
          </p:cNvPicPr>
          <p:nvPr/>
        </p:nvPicPr>
        <p:blipFill>
          <a:blip r:embed="rId5"/>
          <a:stretch>
            <a:fillRect/>
          </a:stretch>
        </p:blipFill>
        <p:spPr>
          <a:xfrm>
            <a:off x="4657954" y="4749394"/>
            <a:ext cx="285293" cy="285293"/>
          </a:xfrm>
          <a:prstGeom prst="rect">
            <a:avLst/>
          </a:prstGeom>
        </p:spPr>
      </p:pic>
      <p:sp>
        <p:nvSpPr>
          <p:cNvPr id="28" name="Text 21"/>
          <p:cNvSpPr txBox="1"/>
          <p:nvPr/>
        </p:nvSpPr>
        <p:spPr>
          <a:xfrm>
            <a:off x="5212080" y="466344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Image integrity detection</a:t>
            </a:r>
            <a:endParaRPr lang="en-US" sz="1600" dirty="0"/>
          </a:p>
        </p:txBody>
      </p:sp>
      <p:sp>
        <p:nvSpPr>
          <p:cNvPr id="29" name="Text 22"/>
          <p:cNvSpPr txBox="1"/>
          <p:nvPr/>
        </p:nvSpPr>
        <p:spPr>
          <a:xfrm>
            <a:off x="4526280" y="5285232"/>
            <a:ext cx="3154680" cy="868680"/>
          </a:xfrm>
          <a:prstGeom prst="rect">
            <a:avLst/>
          </a:prstGeom>
          <a:noFill/>
          <a:ln/>
        </p:spPr>
        <p:txBody>
          <a:bodyPr wrap="square" lIns="0" tIns="0" rIns="0" bIns="0" rtlCol="0" anchor="t"/>
          <a:lstStyle/>
          <a:p>
            <a:pPr indent="0" marL="0">
              <a:buNone/>
            </a:pPr>
            <a:r>
              <a:rPr lang="en-US" sz="1250" dirty="0">
                <a:solidFill>
                  <a:srgbClr val="E4E1F3"/>
                </a:solidFill>
              </a:rPr>
              <a:t>Automated detection of duplicated or manipulated images in manuscripts, including cross-paper comparison.</a:t>
            </a:r>
            <a:endParaRPr lang="en-US" sz="1250" dirty="0"/>
          </a:p>
        </p:txBody>
      </p:sp>
      <p:sp>
        <p:nvSpPr>
          <p:cNvPr id="30" name="AI capability 6"/>
          <p:cNvSpPr/>
          <p:nvPr/>
        </p:nvSpPr>
        <p:spPr>
          <a:xfrm>
            <a:off x="8046720" y="4389120"/>
            <a:ext cx="3566160" cy="1828800"/>
          </a:xfrm>
          <a:prstGeom prst="roundRect">
            <a:avLst>
              <a:gd name="adj" fmla="val 5000"/>
            </a:avLst>
          </a:prstGeom>
          <a:solidFill>
            <a:srgbClr val="2A2852"/>
          </a:solidFill>
          <a:ln w="9525">
            <a:solidFill>
              <a:srgbClr val="3A3768"/>
            </a:solidFill>
            <a:prstDash val="solid"/>
          </a:ln>
        </p:spPr>
      </p:sp>
      <p:sp>
        <p:nvSpPr>
          <p:cNvPr id="31" name="Shape 24"/>
          <p:cNvSpPr/>
          <p:nvPr/>
        </p:nvSpPr>
        <p:spPr>
          <a:xfrm>
            <a:off x="8275320" y="4617720"/>
            <a:ext cx="548640" cy="548640"/>
          </a:xfrm>
          <a:prstGeom prst="ellipse">
            <a:avLst/>
          </a:prstGeom>
          <a:solidFill>
            <a:srgbClr val="2A9DC0"/>
          </a:solidFill>
          <a:ln w="12700">
            <a:solidFill>
              <a:srgbClr val="2A9DC0"/>
            </a:solidFill>
            <a:prstDash val="solid"/>
          </a:ln>
        </p:spPr>
      </p:sp>
      <p:pic>
        <p:nvPicPr>
          <p:cNvPr id="32" name="Image 5" descr="preencoded.png">    </p:cNvPr>
          <p:cNvPicPr>
            <a:picLocks noChangeAspect="1"/>
          </p:cNvPicPr>
          <p:nvPr/>
        </p:nvPicPr>
        <p:blipFill>
          <a:blip r:embed="rId6"/>
          <a:stretch>
            <a:fillRect/>
          </a:stretch>
        </p:blipFill>
        <p:spPr>
          <a:xfrm>
            <a:off x="8406994" y="4749394"/>
            <a:ext cx="285293" cy="285293"/>
          </a:xfrm>
          <a:prstGeom prst="rect">
            <a:avLst/>
          </a:prstGeom>
        </p:spPr>
      </p:pic>
      <p:sp>
        <p:nvSpPr>
          <p:cNvPr id="33" name="Text 25"/>
          <p:cNvSpPr txBox="1"/>
          <p:nvPr/>
        </p:nvSpPr>
        <p:spPr>
          <a:xfrm>
            <a:off x="8961120" y="4663440"/>
            <a:ext cx="2514600" cy="457200"/>
          </a:xfrm>
          <a:prstGeom prst="rect">
            <a:avLst/>
          </a:prstGeom>
          <a:noFill/>
          <a:ln/>
        </p:spPr>
        <p:txBody>
          <a:bodyPr wrap="square" lIns="0" tIns="0" rIns="0" bIns="0" rtlCol="0" anchor="ctr"/>
          <a:lstStyle/>
          <a:p>
            <a:pPr indent="0" marL="0">
              <a:buNone/>
            </a:pPr>
            <a:r>
              <a:rPr lang="en-US" sz="1600" b="1" dirty="0">
                <a:solidFill>
                  <a:srgbClr val="FFFFFF"/>
                </a:solidFill>
              </a:rPr>
              <a:t>Automated pre-review</a:t>
            </a:r>
            <a:endParaRPr lang="en-US" sz="1600" dirty="0"/>
          </a:p>
        </p:txBody>
      </p:sp>
      <p:sp>
        <p:nvSpPr>
          <p:cNvPr id="34" name="Text 26"/>
          <p:cNvSpPr txBox="1"/>
          <p:nvPr/>
        </p:nvSpPr>
        <p:spPr>
          <a:xfrm>
            <a:off x="8275320" y="5285232"/>
            <a:ext cx="3154680" cy="868680"/>
          </a:xfrm>
          <a:prstGeom prst="rect">
            <a:avLst/>
          </a:prstGeom>
          <a:noFill/>
          <a:ln/>
        </p:spPr>
        <p:txBody>
          <a:bodyPr wrap="square" lIns="0" tIns="0" rIns="0" bIns="0" rtlCol="0" anchor="t"/>
          <a:lstStyle/>
          <a:p>
            <a:pPr indent="0" marL="0">
              <a:buNone/>
            </a:pPr>
            <a:r>
              <a:rPr lang="en-US" sz="1250" dirty="0">
                <a:solidFill>
                  <a:srgbClr val="E4E1F3"/>
                </a:solidFill>
              </a:rPr>
              <a:t>Rule-based checks on completeness, documents, budget, timeline, risk and regulatory fit before human review.</a:t>
            </a:r>
            <a:endParaRPr lang="en-US" sz="1250" dirty="0"/>
          </a:p>
        </p:txBody>
      </p:sp>
      <p:sp>
        <p:nvSpPr>
          <p:cNvPr id="36"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AI summaries: understand any paper in seconds</a:t>
            </a:r>
            <a:endParaRPr lang="en-US" sz="3200" dirty="0"/>
          </a:p>
        </p:txBody>
      </p:sp>
      <p:sp>
        <p:nvSpPr>
          <p:cNvPr id="3" name="AI publication summary frame"/>
          <p:cNvSpPr/>
          <p:nvPr/>
        </p:nvSpPr>
        <p:spPr>
          <a:xfrm>
            <a:off x="548640" y="1371600"/>
            <a:ext cx="7315200" cy="4540803"/>
          </a:xfrm>
          <a:prstGeom prst="roundRect">
            <a:avLst>
              <a:gd name="adj" fmla="val 161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AI publication summary screenshot" descr="/home/claude/deck/img/ai_summary.png">    </p:cNvPr>
          <p:cNvPicPr>
            <a:picLocks noChangeAspect="1"/>
          </p:cNvPicPr>
          <p:nvPr/>
        </p:nvPicPr>
        <p:blipFill>
          <a:blip r:embed="rId1"/>
          <a:stretch>
            <a:fillRect/>
          </a:stretch>
        </p:blipFill>
        <p:spPr>
          <a:xfrm>
            <a:off x="576072" y="1609344"/>
            <a:ext cx="7260336" cy="4270786"/>
          </a:xfrm>
          <a:prstGeom prst="rect">
            <a:avLst/>
          </a:prstGeom>
        </p:spPr>
      </p:pic>
      <p:sp>
        <p:nvSpPr>
          <p:cNvPr id="8" name="Text 5"/>
          <p:cNvSpPr txBox="1"/>
          <p:nvPr/>
        </p:nvSpPr>
        <p:spPr>
          <a:xfrm>
            <a:off x="8229600" y="1417320"/>
            <a:ext cx="3429000" cy="822960"/>
          </a:xfrm>
          <a:prstGeom prst="rect">
            <a:avLst/>
          </a:prstGeom>
          <a:noFill/>
          <a:ln/>
        </p:spPr>
        <p:txBody>
          <a:bodyPr wrap="square" lIns="0" tIns="0" rIns="0" bIns="0" rtlCol="0" anchor="t"/>
          <a:lstStyle/>
          <a:p>
            <a:pPr indent="0" marL="0">
              <a:buNone/>
            </a:pPr>
            <a:r>
              <a:rPr lang="en-US" sz="1600" b="1" dirty="0">
                <a:solidFill>
                  <a:srgbClr val="7E5BB5"/>
                </a:solidFill>
              </a:rPr>
              <a:t>One click on any publication produces a structured, plain-language brief.</a:t>
            </a:r>
            <a:endParaRPr lang="en-US" sz="1600" dirty="0"/>
          </a:p>
        </p:txBody>
      </p:sp>
      <p:sp>
        <p:nvSpPr>
          <p:cNvPr id="9" name="Shape 6"/>
          <p:cNvSpPr/>
          <p:nvPr/>
        </p:nvSpPr>
        <p:spPr>
          <a:xfrm>
            <a:off x="8229600" y="2286000"/>
            <a:ext cx="457200" cy="45720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8339328" y="2395728"/>
            <a:ext cx="237744" cy="237744"/>
          </a:xfrm>
          <a:prstGeom prst="rect">
            <a:avLst/>
          </a:prstGeom>
        </p:spPr>
      </p:pic>
      <p:sp>
        <p:nvSpPr>
          <p:cNvPr id="11" name="Text 7"/>
          <p:cNvSpPr txBox="1"/>
          <p:nvPr/>
        </p:nvSpPr>
        <p:spPr>
          <a:xfrm>
            <a:off x="8823960" y="2267712"/>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Consistent structure</a:t>
            </a:r>
            <a:endParaRPr lang="en-US" sz="1500" dirty="0"/>
          </a:p>
        </p:txBody>
      </p:sp>
      <p:sp>
        <p:nvSpPr>
          <p:cNvPr id="12" name="Text 8"/>
          <p:cNvSpPr txBox="1"/>
          <p:nvPr/>
        </p:nvSpPr>
        <p:spPr>
          <a:xfrm>
            <a:off x="8823960" y="2587752"/>
            <a:ext cx="2834640" cy="640080"/>
          </a:xfrm>
          <a:prstGeom prst="rect">
            <a:avLst/>
          </a:prstGeom>
          <a:noFill/>
          <a:ln/>
        </p:spPr>
        <p:txBody>
          <a:bodyPr wrap="square" lIns="0" tIns="0" rIns="0" bIns="0" rtlCol="0" anchor="t"/>
          <a:lstStyle/>
          <a:p>
            <a:pPr indent="0" marL="0">
              <a:buNone/>
            </a:pPr>
            <a:r>
              <a:rPr lang="en-US" sz="1300" dirty="0">
                <a:solidFill>
                  <a:schemeClr val="tx1"/>
                </a:solidFill>
              </a:rPr>
              <a:t>Overview, key findings and significance for every paper.</a:t>
            </a:r>
            <a:endParaRPr lang="en-US" sz="1300" dirty="0"/>
          </a:p>
        </p:txBody>
      </p:sp>
      <p:sp>
        <p:nvSpPr>
          <p:cNvPr id="13" name="Shape 9"/>
          <p:cNvSpPr/>
          <p:nvPr/>
        </p:nvSpPr>
        <p:spPr>
          <a:xfrm>
            <a:off x="8229600" y="3273552"/>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339328" y="3383280"/>
            <a:ext cx="237744" cy="237744"/>
          </a:xfrm>
          <a:prstGeom prst="rect">
            <a:avLst/>
          </a:prstGeom>
        </p:spPr>
      </p:pic>
      <p:sp>
        <p:nvSpPr>
          <p:cNvPr id="15" name="Text 10"/>
          <p:cNvSpPr txBox="1"/>
          <p:nvPr/>
        </p:nvSpPr>
        <p:spPr>
          <a:xfrm>
            <a:off x="8823960" y="3255264"/>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Keyword extraction</a:t>
            </a:r>
            <a:endParaRPr lang="en-US" sz="1500" dirty="0"/>
          </a:p>
        </p:txBody>
      </p:sp>
      <p:sp>
        <p:nvSpPr>
          <p:cNvPr id="16" name="Text 11"/>
          <p:cNvSpPr txBox="1"/>
          <p:nvPr/>
        </p:nvSpPr>
        <p:spPr>
          <a:xfrm>
            <a:off x="8823960" y="3575304"/>
            <a:ext cx="2834640" cy="640080"/>
          </a:xfrm>
          <a:prstGeom prst="rect">
            <a:avLst/>
          </a:prstGeom>
          <a:noFill/>
          <a:ln/>
        </p:spPr>
        <p:txBody>
          <a:bodyPr wrap="square" lIns="0" tIns="0" rIns="0" bIns="0" rtlCol="0" anchor="t"/>
          <a:lstStyle/>
          <a:p>
            <a:pPr indent="0" marL="0">
              <a:buNone/>
            </a:pPr>
            <a:r>
              <a:rPr lang="en-US" sz="1300" dirty="0">
                <a:solidFill>
                  <a:schemeClr val="tx1"/>
                </a:solidFill>
              </a:rPr>
              <a:t>AI tags improve search, reporting and expertise mapping.</a:t>
            </a:r>
            <a:endParaRPr lang="en-US" sz="1300" dirty="0"/>
          </a:p>
        </p:txBody>
      </p:sp>
      <p:sp>
        <p:nvSpPr>
          <p:cNvPr id="17" name="Shape 12"/>
          <p:cNvSpPr/>
          <p:nvPr/>
        </p:nvSpPr>
        <p:spPr>
          <a:xfrm>
            <a:off x="8229600" y="4261104"/>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339328" y="4370832"/>
            <a:ext cx="237744" cy="237744"/>
          </a:xfrm>
          <a:prstGeom prst="rect">
            <a:avLst/>
          </a:prstGeom>
        </p:spPr>
      </p:pic>
      <p:sp>
        <p:nvSpPr>
          <p:cNvPr id="19" name="Text 13"/>
          <p:cNvSpPr txBox="1"/>
          <p:nvPr/>
        </p:nvSpPr>
        <p:spPr>
          <a:xfrm>
            <a:off x="8823960" y="4242816"/>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Batch processing</a:t>
            </a:r>
            <a:endParaRPr lang="en-US" sz="1500" dirty="0"/>
          </a:p>
        </p:txBody>
      </p:sp>
      <p:sp>
        <p:nvSpPr>
          <p:cNvPr id="20" name="Text 14"/>
          <p:cNvSpPr txBox="1"/>
          <p:nvPr/>
        </p:nvSpPr>
        <p:spPr>
          <a:xfrm>
            <a:off x="8823960" y="4562856"/>
            <a:ext cx="2834640" cy="640080"/>
          </a:xfrm>
          <a:prstGeom prst="rect">
            <a:avLst/>
          </a:prstGeom>
          <a:noFill/>
          <a:ln/>
        </p:spPr>
        <p:txBody>
          <a:bodyPr wrap="square" lIns="0" tIns="0" rIns="0" bIns="0" rtlCol="0" anchor="t"/>
          <a:lstStyle/>
          <a:p>
            <a:pPr indent="0" marL="0">
              <a:buNone/>
            </a:pPr>
            <a:r>
              <a:rPr lang="en-US" sz="1300" dirty="0">
                <a:solidFill>
                  <a:schemeClr val="tx1"/>
                </a:solidFill>
              </a:rPr>
              <a:t>Summarise a whole department's output in one run.</a:t>
            </a:r>
            <a:endParaRPr lang="en-US" sz="1300" dirty="0"/>
          </a:p>
        </p:txBody>
      </p:sp>
      <p:sp>
        <p:nvSpPr>
          <p:cNvPr id="21" name="Shape 15"/>
          <p:cNvSpPr/>
          <p:nvPr/>
        </p:nvSpPr>
        <p:spPr>
          <a:xfrm>
            <a:off x="8229600" y="5248656"/>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339328" y="5358384"/>
            <a:ext cx="237744" cy="237744"/>
          </a:xfrm>
          <a:prstGeom prst="rect">
            <a:avLst/>
          </a:prstGeom>
        </p:spPr>
      </p:pic>
      <p:sp>
        <p:nvSpPr>
          <p:cNvPr id="23" name="Text 16"/>
          <p:cNvSpPr txBox="1"/>
          <p:nvPr/>
        </p:nvSpPr>
        <p:spPr>
          <a:xfrm>
            <a:off x="8823960" y="5230368"/>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For non-specialists</a:t>
            </a:r>
            <a:endParaRPr lang="en-US" sz="1500" dirty="0"/>
          </a:p>
        </p:txBody>
      </p:sp>
      <p:sp>
        <p:nvSpPr>
          <p:cNvPr id="24" name="Text 17"/>
          <p:cNvSpPr txBox="1"/>
          <p:nvPr/>
        </p:nvSpPr>
        <p:spPr>
          <a:xfrm>
            <a:off x="8823960" y="5550408"/>
            <a:ext cx="2834640" cy="640080"/>
          </a:xfrm>
          <a:prstGeom prst="rect">
            <a:avLst/>
          </a:prstGeom>
          <a:noFill/>
          <a:ln/>
        </p:spPr>
        <p:txBody>
          <a:bodyPr wrap="square" lIns="0" tIns="0" rIns="0" bIns="0" rtlCol="0" anchor="t"/>
          <a:lstStyle/>
          <a:p>
            <a:pPr indent="0" marL="0">
              <a:buNone/>
            </a:pPr>
            <a:r>
              <a:rPr lang="en-US" sz="1300" dirty="0">
                <a:solidFill>
                  <a:schemeClr val="tx1"/>
                </a:solidFill>
              </a:rPr>
              <a:t>Leadership, funders and communications teams get the point fast.</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AI insights that tell people what to do next</a:t>
            </a:r>
            <a:endParaRPr lang="en-US" sz="3200" dirty="0"/>
          </a:p>
        </p:txBody>
      </p:sp>
      <p:sp>
        <p:nvSpPr>
          <p:cNvPr id="3" name="AI impact insights frame"/>
          <p:cNvSpPr/>
          <p:nvPr/>
        </p:nvSpPr>
        <p:spPr>
          <a:xfrm>
            <a:off x="548640" y="1371600"/>
            <a:ext cx="6583680" cy="4110497"/>
          </a:xfrm>
          <a:prstGeom prst="roundRect">
            <a:avLst>
              <a:gd name="adj" fmla="val 1780"/>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AI impact insights screenshot" descr="/home/claude/deck/img/ai_impact.png">    </p:cNvPr>
          <p:cNvPicPr>
            <a:picLocks noChangeAspect="1"/>
          </p:cNvPicPr>
          <p:nvPr/>
        </p:nvPicPr>
        <p:blipFill>
          <a:blip r:embed="rId1"/>
          <a:stretch>
            <a:fillRect/>
          </a:stretch>
        </p:blipFill>
        <p:spPr>
          <a:xfrm>
            <a:off x="576072" y="1609344"/>
            <a:ext cx="6528816" cy="3840480"/>
          </a:xfrm>
          <a:prstGeom prst="rect">
            <a:avLst/>
          </a:prstGeom>
        </p:spPr>
      </p:pic>
      <p:sp>
        <p:nvSpPr>
          <p:cNvPr id="8" name="Impact dashboard"/>
          <p:cNvSpPr/>
          <p:nvPr/>
        </p:nvSpPr>
        <p:spPr>
          <a:xfrm>
            <a:off x="7635240" y="1417320"/>
            <a:ext cx="4023360" cy="1371600"/>
          </a:xfrm>
          <a:prstGeom prst="roundRect">
            <a:avLst>
              <a:gd name="adj" fmla="val 6667"/>
            </a:avLst>
          </a:prstGeom>
          <a:solidFill>
            <a:srgbClr val="F6F4FB"/>
          </a:solidFill>
          <a:ln w="9525">
            <a:solidFill>
              <a:srgbClr val="DDD8EC"/>
            </a:solidFill>
            <a:prstDash val="solid"/>
          </a:ln>
        </p:spPr>
      </p:sp>
      <p:sp>
        <p:nvSpPr>
          <p:cNvPr id="9" name="Shape 6"/>
          <p:cNvSpPr/>
          <p:nvPr/>
        </p:nvSpPr>
        <p:spPr>
          <a:xfrm>
            <a:off x="7818120" y="1618488"/>
            <a:ext cx="502920" cy="502920"/>
          </a:xfrm>
          <a:prstGeom prst="ellipse">
            <a:avLst/>
          </a:prstGeom>
          <a:solidFill>
            <a:srgbClr val="7E5BB5"/>
          </a:solidFill>
          <a:ln w="12700">
            <a:solidFill>
              <a:srgbClr val="7E5BB5"/>
            </a:solidFill>
            <a:prstDash val="solid"/>
          </a:ln>
        </p:spPr>
      </p:sp>
      <p:pic>
        <p:nvPicPr>
          <p:cNvPr id="10" name="Image 1" descr="preencoded.png">    </p:cNvPr>
          <p:cNvPicPr>
            <a:picLocks noChangeAspect="1"/>
          </p:cNvPicPr>
          <p:nvPr/>
        </p:nvPicPr>
        <p:blipFill>
          <a:blip r:embed="rId2"/>
          <a:stretch>
            <a:fillRect/>
          </a:stretch>
        </p:blipFill>
        <p:spPr>
          <a:xfrm>
            <a:off x="7938821" y="1739189"/>
            <a:ext cx="261518" cy="261518"/>
          </a:xfrm>
          <a:prstGeom prst="rect">
            <a:avLst/>
          </a:prstGeom>
        </p:spPr>
      </p:pic>
      <p:sp>
        <p:nvSpPr>
          <p:cNvPr id="11" name="Text 7"/>
          <p:cNvSpPr txBox="1"/>
          <p:nvPr/>
        </p:nvSpPr>
        <p:spPr>
          <a:xfrm>
            <a:off x="8458200" y="1618488"/>
            <a:ext cx="3063240" cy="457200"/>
          </a:xfrm>
          <a:prstGeom prst="rect">
            <a:avLst/>
          </a:prstGeom>
          <a:noFill/>
          <a:ln/>
        </p:spPr>
        <p:txBody>
          <a:bodyPr wrap="square" lIns="0" tIns="0" rIns="0" bIns="0" rtlCol="0" anchor="ctr"/>
          <a:lstStyle/>
          <a:p>
            <a:pPr indent="0" marL="0">
              <a:buNone/>
            </a:pPr>
            <a:r>
              <a:rPr lang="en-US" sz="1500" b="1" dirty="0">
                <a:solidFill>
                  <a:schemeClr val="tx2"/>
                </a:solidFill>
              </a:rPr>
              <a:t>Impact dashboard</a:t>
            </a:r>
            <a:endParaRPr lang="en-US" sz="1500" dirty="0"/>
          </a:p>
        </p:txBody>
      </p:sp>
      <p:sp>
        <p:nvSpPr>
          <p:cNvPr id="12" name="Text 8"/>
          <p:cNvSpPr txBox="1"/>
          <p:nvPr/>
        </p:nvSpPr>
        <p:spPr>
          <a:xfrm>
            <a:off x="7818120" y="2148840"/>
            <a:ext cx="3703320" cy="594360"/>
          </a:xfrm>
          <a:prstGeom prst="rect">
            <a:avLst/>
          </a:prstGeom>
          <a:noFill/>
          <a:ln/>
        </p:spPr>
        <p:txBody>
          <a:bodyPr wrap="square" lIns="0" tIns="0" rIns="0" bIns="0" rtlCol="0" anchor="t"/>
          <a:lstStyle/>
          <a:p>
            <a:pPr indent="0" marL="0">
              <a:buNone/>
            </a:pPr>
            <a:r>
              <a:rPr lang="en-US" sz="1250" dirty="0">
                <a:solidFill>
                  <a:schemeClr val="tx1"/>
                </a:solidFill>
              </a:rPr>
              <a:t>Explains what is driving citations, names the standout paper, recommends how to grow reach.</a:t>
            </a:r>
            <a:endParaRPr lang="en-US" sz="1250" dirty="0"/>
          </a:p>
        </p:txBody>
      </p:sp>
      <p:sp>
        <p:nvSpPr>
          <p:cNvPr id="13" name="Compliance dashboard"/>
          <p:cNvSpPr/>
          <p:nvPr/>
        </p:nvSpPr>
        <p:spPr>
          <a:xfrm>
            <a:off x="7635240" y="2926080"/>
            <a:ext cx="4023360" cy="1371600"/>
          </a:xfrm>
          <a:prstGeom prst="roundRect">
            <a:avLst>
              <a:gd name="adj" fmla="val 6667"/>
            </a:avLst>
          </a:prstGeom>
          <a:solidFill>
            <a:srgbClr val="F6F4FB"/>
          </a:solidFill>
          <a:ln w="9525">
            <a:solidFill>
              <a:srgbClr val="DDD8EC"/>
            </a:solidFill>
            <a:prstDash val="solid"/>
          </a:ln>
        </p:spPr>
      </p:sp>
      <p:sp>
        <p:nvSpPr>
          <p:cNvPr id="14" name="Shape 10"/>
          <p:cNvSpPr/>
          <p:nvPr/>
        </p:nvSpPr>
        <p:spPr>
          <a:xfrm>
            <a:off x="7818120" y="3127248"/>
            <a:ext cx="502920" cy="502920"/>
          </a:xfrm>
          <a:prstGeom prst="ellipse">
            <a:avLst/>
          </a:prstGeom>
          <a:solidFill>
            <a:srgbClr val="7E5BB5"/>
          </a:solidFill>
          <a:ln w="12700">
            <a:solidFill>
              <a:srgbClr val="7E5BB5"/>
            </a:solidFill>
            <a:prstDash val="solid"/>
          </a:ln>
        </p:spPr>
      </p:sp>
      <p:pic>
        <p:nvPicPr>
          <p:cNvPr id="15" name="Image 2" descr="preencoded.png">    </p:cNvPr>
          <p:cNvPicPr>
            <a:picLocks noChangeAspect="1"/>
          </p:cNvPicPr>
          <p:nvPr/>
        </p:nvPicPr>
        <p:blipFill>
          <a:blip r:embed="rId3"/>
          <a:stretch>
            <a:fillRect/>
          </a:stretch>
        </p:blipFill>
        <p:spPr>
          <a:xfrm>
            <a:off x="7938821" y="3247949"/>
            <a:ext cx="261518" cy="261518"/>
          </a:xfrm>
          <a:prstGeom prst="rect">
            <a:avLst/>
          </a:prstGeom>
        </p:spPr>
      </p:pic>
      <p:sp>
        <p:nvSpPr>
          <p:cNvPr id="16" name="Text 11"/>
          <p:cNvSpPr txBox="1"/>
          <p:nvPr/>
        </p:nvSpPr>
        <p:spPr>
          <a:xfrm>
            <a:off x="8458200" y="3127248"/>
            <a:ext cx="3063240" cy="457200"/>
          </a:xfrm>
          <a:prstGeom prst="rect">
            <a:avLst/>
          </a:prstGeom>
          <a:noFill/>
          <a:ln/>
        </p:spPr>
        <p:txBody>
          <a:bodyPr wrap="square" lIns="0" tIns="0" rIns="0" bIns="0" rtlCol="0" anchor="ctr"/>
          <a:lstStyle/>
          <a:p>
            <a:pPr indent="0" marL="0">
              <a:buNone/>
            </a:pPr>
            <a:r>
              <a:rPr lang="en-US" sz="1500" b="1" dirty="0">
                <a:solidFill>
                  <a:schemeClr val="tx2"/>
                </a:solidFill>
              </a:rPr>
              <a:t>Compliance dashboard</a:t>
            </a:r>
            <a:endParaRPr lang="en-US" sz="1500" dirty="0"/>
          </a:p>
        </p:txBody>
      </p:sp>
      <p:sp>
        <p:nvSpPr>
          <p:cNvPr id="17" name="Text 12"/>
          <p:cNvSpPr txBox="1"/>
          <p:nvPr/>
        </p:nvSpPr>
        <p:spPr>
          <a:xfrm>
            <a:off x="7818120" y="3657600"/>
            <a:ext cx="3703320" cy="594360"/>
          </a:xfrm>
          <a:prstGeom prst="rect">
            <a:avLst/>
          </a:prstGeom>
          <a:noFill/>
          <a:ln/>
        </p:spPr>
        <p:txBody>
          <a:bodyPr wrap="square" lIns="0" tIns="0" rIns="0" bIns="0" rtlCol="0" anchor="t"/>
          <a:lstStyle/>
          <a:p>
            <a:pPr indent="0" marL="0">
              <a:buNone/>
            </a:pPr>
            <a:r>
              <a:rPr lang="en-US" sz="1250" dirty="0">
                <a:solidFill>
                  <a:schemeClr val="tx1"/>
                </a:solidFill>
              </a:rPr>
              <a:t>Highlights approvals nearing expiry, open ethics conditions and integrity checks to run.</a:t>
            </a:r>
            <a:endParaRPr lang="en-US" sz="1250" dirty="0"/>
          </a:p>
        </p:txBody>
      </p:sp>
      <p:sp>
        <p:nvSpPr>
          <p:cNvPr id="18" name="Projects &amp; grants dashboard"/>
          <p:cNvSpPr/>
          <p:nvPr/>
        </p:nvSpPr>
        <p:spPr>
          <a:xfrm>
            <a:off x="7635240" y="4434840"/>
            <a:ext cx="4023360" cy="1371600"/>
          </a:xfrm>
          <a:prstGeom prst="roundRect">
            <a:avLst>
              <a:gd name="adj" fmla="val 6667"/>
            </a:avLst>
          </a:prstGeom>
          <a:solidFill>
            <a:srgbClr val="F6F4FB"/>
          </a:solidFill>
          <a:ln w="9525">
            <a:solidFill>
              <a:srgbClr val="DDD8EC"/>
            </a:solidFill>
            <a:prstDash val="solid"/>
          </a:ln>
        </p:spPr>
      </p:sp>
      <p:sp>
        <p:nvSpPr>
          <p:cNvPr id="19" name="Shape 14"/>
          <p:cNvSpPr/>
          <p:nvPr/>
        </p:nvSpPr>
        <p:spPr>
          <a:xfrm>
            <a:off x="7818120" y="4636008"/>
            <a:ext cx="502920" cy="502920"/>
          </a:xfrm>
          <a:prstGeom prst="ellipse">
            <a:avLst/>
          </a:prstGeom>
          <a:solidFill>
            <a:srgbClr val="7E5BB5"/>
          </a:solidFill>
          <a:ln w="12700">
            <a:solidFill>
              <a:srgbClr val="7E5BB5"/>
            </a:solidFill>
            <a:prstDash val="solid"/>
          </a:ln>
        </p:spPr>
      </p:sp>
      <p:pic>
        <p:nvPicPr>
          <p:cNvPr id="20" name="Image 3" descr="preencoded.png">    </p:cNvPr>
          <p:cNvPicPr>
            <a:picLocks noChangeAspect="1"/>
          </p:cNvPicPr>
          <p:nvPr/>
        </p:nvPicPr>
        <p:blipFill>
          <a:blip r:embed="rId4"/>
          <a:stretch>
            <a:fillRect/>
          </a:stretch>
        </p:blipFill>
        <p:spPr>
          <a:xfrm>
            <a:off x="7938821" y="4756709"/>
            <a:ext cx="261518" cy="261518"/>
          </a:xfrm>
          <a:prstGeom prst="rect">
            <a:avLst/>
          </a:prstGeom>
        </p:spPr>
      </p:pic>
      <p:sp>
        <p:nvSpPr>
          <p:cNvPr id="21" name="Text 15"/>
          <p:cNvSpPr txBox="1"/>
          <p:nvPr/>
        </p:nvSpPr>
        <p:spPr>
          <a:xfrm>
            <a:off x="8458200" y="4636008"/>
            <a:ext cx="3063240" cy="457200"/>
          </a:xfrm>
          <a:prstGeom prst="rect">
            <a:avLst/>
          </a:prstGeom>
          <a:noFill/>
          <a:ln/>
        </p:spPr>
        <p:txBody>
          <a:bodyPr wrap="square" lIns="0" tIns="0" rIns="0" bIns="0" rtlCol="0" anchor="ctr"/>
          <a:lstStyle/>
          <a:p>
            <a:pPr indent="0" marL="0">
              <a:buNone/>
            </a:pPr>
            <a:r>
              <a:rPr lang="en-US" sz="1500" b="1" dirty="0">
                <a:solidFill>
                  <a:schemeClr val="tx2"/>
                </a:solidFill>
              </a:rPr>
              <a:t>Projects &amp; grants dashboard</a:t>
            </a:r>
            <a:endParaRPr lang="en-US" sz="1500" dirty="0"/>
          </a:p>
        </p:txBody>
      </p:sp>
      <p:sp>
        <p:nvSpPr>
          <p:cNvPr id="22" name="Text 16"/>
          <p:cNvSpPr txBox="1"/>
          <p:nvPr/>
        </p:nvSpPr>
        <p:spPr>
          <a:xfrm>
            <a:off x="7818120" y="5166360"/>
            <a:ext cx="3703320" cy="594360"/>
          </a:xfrm>
          <a:prstGeom prst="rect">
            <a:avLst/>
          </a:prstGeom>
          <a:noFill/>
          <a:ln/>
        </p:spPr>
        <p:txBody>
          <a:bodyPr wrap="square" lIns="0" tIns="0" rIns="0" bIns="0" rtlCol="0" anchor="t"/>
          <a:lstStyle/>
          <a:p>
            <a:pPr indent="0" marL="0">
              <a:buNone/>
            </a:pPr>
            <a:r>
              <a:rPr lang="en-US" sz="1250" dirty="0">
                <a:solidFill>
                  <a:schemeClr val="tx1"/>
                </a:solidFill>
              </a:rPr>
              <a:t>Summarises the pipeline, flags revisions and overdue milestones, suggests the next action.</a:t>
            </a:r>
            <a:endParaRPr lang="en-US" sz="1250" dirty="0"/>
          </a:p>
        </p:txBody>
      </p:sp>
      <p:sp>
        <p:nvSpPr>
          <p:cNvPr id="23" name="Text 17"/>
          <p:cNvSpPr txBox="1"/>
          <p:nvPr/>
        </p:nvSpPr>
        <p:spPr>
          <a:xfrm>
            <a:off x="548640" y="5669280"/>
            <a:ext cx="6583680" cy="548640"/>
          </a:xfrm>
          <a:prstGeom prst="rect">
            <a:avLst/>
          </a:prstGeom>
          <a:noFill/>
          <a:ln/>
        </p:spPr>
        <p:txBody>
          <a:bodyPr wrap="square" lIns="0" tIns="0" rIns="0" bIns="0" rtlCol="0" anchor="t"/>
          <a:lstStyle/>
          <a:p>
            <a:pPr indent="0" marL="0">
              <a:buNone/>
            </a:pPr>
            <a:r>
              <a:rPr lang="en-US" sz="1400" b="1" dirty="0">
                <a:solidFill>
                  <a:srgbClr val="7E5BB5"/>
                </a:solidFill>
              </a:rPr>
              <a:t>Always available: </a:t>
            </a:r>
            <a:pPr indent="0" marL="0">
              <a:buNone/>
            </a:pPr>
            <a:r>
              <a:rPr lang="en-US" sz="1400" dirty="0">
                <a:solidFill>
                  <a:schemeClr val="tx1"/>
                </a:solidFill>
              </a:rPr>
              <a:t>if the AI service is unreachable, dashboards fall back to rule-based insights, so pages never break.</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Institutional intelligence for leadership and funders</a:t>
            </a:r>
            <a:endParaRPr lang="en-US" sz="3200" dirty="0"/>
          </a:p>
        </p:txBody>
      </p:sp>
      <p:sp>
        <p:nvSpPr>
          <p:cNvPr id="3" name="Trial intelligence frame"/>
          <p:cNvSpPr/>
          <p:nvPr/>
        </p:nvSpPr>
        <p:spPr>
          <a:xfrm>
            <a:off x="548640" y="1371600"/>
            <a:ext cx="7315200" cy="4540803"/>
          </a:xfrm>
          <a:prstGeom prst="roundRect">
            <a:avLst>
              <a:gd name="adj" fmla="val 1611"/>
            </a:avLst>
          </a:prstGeom>
          <a:solidFill>
            <a:srgbClr val="ECEAF2"/>
          </a:solidFill>
          <a:ln w="9525">
            <a:solidFill>
              <a:srgbClr val="DDD8EC"/>
            </a:solidFill>
            <a:prstDash val="solid"/>
          </a:ln>
          <a:effectLst>
            <a:outerShdw sx="100000" sy="100000" kx="0" ky="0" algn="bl" rotWithShape="0" blurRad="152400" dist="50800" dir="5400000">
              <a:srgbClr val="000000">
                <a:alpha val="18000"/>
              </a:srgbClr>
            </a:outerShdw>
          </a:effectLst>
        </p:spPr>
      </p:sp>
      <p:sp>
        <p:nvSpPr>
          <p:cNvPr id="4" name="Shape 2"/>
          <p:cNvSpPr/>
          <p:nvPr/>
        </p:nvSpPr>
        <p:spPr>
          <a:xfrm>
            <a:off x="676656" y="1444752"/>
            <a:ext cx="91440" cy="91440"/>
          </a:xfrm>
          <a:prstGeom prst="ellipse">
            <a:avLst/>
          </a:prstGeom>
          <a:solidFill>
            <a:srgbClr val="E86B6B"/>
          </a:solidFill>
          <a:ln w="12700">
            <a:solidFill>
              <a:srgbClr val="E86B6B"/>
            </a:solidFill>
            <a:prstDash val="solid"/>
          </a:ln>
        </p:spPr>
      </p:sp>
      <p:sp>
        <p:nvSpPr>
          <p:cNvPr id="5" name="Shape 3"/>
          <p:cNvSpPr/>
          <p:nvPr/>
        </p:nvSpPr>
        <p:spPr>
          <a:xfrm>
            <a:off x="822960" y="1444752"/>
            <a:ext cx="91440" cy="91440"/>
          </a:xfrm>
          <a:prstGeom prst="ellipse">
            <a:avLst/>
          </a:prstGeom>
          <a:solidFill>
            <a:srgbClr val="F2C14E"/>
          </a:solidFill>
          <a:ln w="12700">
            <a:solidFill>
              <a:srgbClr val="F2C14E"/>
            </a:solidFill>
            <a:prstDash val="solid"/>
          </a:ln>
        </p:spPr>
      </p:sp>
      <p:sp>
        <p:nvSpPr>
          <p:cNvPr id="6" name="Shape 4"/>
          <p:cNvSpPr/>
          <p:nvPr/>
        </p:nvSpPr>
        <p:spPr>
          <a:xfrm>
            <a:off x="969264" y="1444752"/>
            <a:ext cx="91440" cy="91440"/>
          </a:xfrm>
          <a:prstGeom prst="ellipse">
            <a:avLst/>
          </a:prstGeom>
          <a:solidFill>
            <a:srgbClr val="5DBB7A"/>
          </a:solidFill>
          <a:ln w="12700">
            <a:solidFill>
              <a:srgbClr val="5DBB7A"/>
            </a:solidFill>
            <a:prstDash val="solid"/>
          </a:ln>
        </p:spPr>
      </p:sp>
      <p:pic>
        <p:nvPicPr>
          <p:cNvPr id="7" name="Trial intelligence screenshot" descr="/home/claude/deck/img/ai_trialintel.png">    </p:cNvPr>
          <p:cNvPicPr>
            <a:picLocks noChangeAspect="1"/>
          </p:cNvPicPr>
          <p:nvPr/>
        </p:nvPicPr>
        <p:blipFill>
          <a:blip r:embed="rId1"/>
          <a:stretch>
            <a:fillRect/>
          </a:stretch>
        </p:blipFill>
        <p:spPr>
          <a:xfrm>
            <a:off x="576072" y="1609344"/>
            <a:ext cx="7260336" cy="4270786"/>
          </a:xfrm>
          <a:prstGeom prst="rect">
            <a:avLst/>
          </a:prstGeom>
        </p:spPr>
      </p:pic>
      <p:sp>
        <p:nvSpPr>
          <p:cNvPr id="8" name="Text 5"/>
          <p:cNvSpPr txBox="1"/>
          <p:nvPr/>
        </p:nvSpPr>
        <p:spPr>
          <a:xfrm>
            <a:off x="8229600" y="1417320"/>
            <a:ext cx="3429000" cy="822960"/>
          </a:xfrm>
          <a:prstGeom prst="rect">
            <a:avLst/>
          </a:prstGeom>
          <a:noFill/>
          <a:ln/>
        </p:spPr>
        <p:txBody>
          <a:bodyPr wrap="square" lIns="0" tIns="0" rIns="0" bIns="0" rtlCol="0" anchor="t"/>
          <a:lstStyle/>
          <a:p>
            <a:pPr indent="0" marL="0">
              <a:buNone/>
            </a:pPr>
            <a:r>
              <a:rPr lang="en-US" sz="1600" b="1" dirty="0">
                <a:solidFill>
                  <a:srgbClr val="7E5BB5"/>
                </a:solidFill>
              </a:rPr>
              <a:t>Portfolio-level views that answer board and funder questions.</a:t>
            </a:r>
            <a:endParaRPr lang="en-US" sz="1600" dirty="0"/>
          </a:p>
        </p:txBody>
      </p:sp>
      <p:sp>
        <p:nvSpPr>
          <p:cNvPr id="9" name="Shape 6"/>
          <p:cNvSpPr/>
          <p:nvPr/>
        </p:nvSpPr>
        <p:spPr>
          <a:xfrm>
            <a:off x="8229600" y="2286000"/>
            <a:ext cx="457200" cy="457200"/>
          </a:xfrm>
          <a:prstGeom prst="ellipse">
            <a:avLst/>
          </a:prstGeom>
          <a:solidFill>
            <a:srgbClr val="EFEAF8"/>
          </a:solidFill>
          <a:ln w="12700">
            <a:solidFill>
              <a:srgbClr val="EFEAF8"/>
            </a:solidFill>
            <a:prstDash val="solid"/>
          </a:ln>
        </p:spPr>
      </p:sp>
      <p:pic>
        <p:nvPicPr>
          <p:cNvPr id="10" name="Image 1" descr="preencoded.png">    </p:cNvPr>
          <p:cNvPicPr>
            <a:picLocks noChangeAspect="1"/>
          </p:cNvPicPr>
          <p:nvPr/>
        </p:nvPicPr>
        <p:blipFill>
          <a:blip r:embed="rId2"/>
          <a:stretch>
            <a:fillRect/>
          </a:stretch>
        </p:blipFill>
        <p:spPr>
          <a:xfrm>
            <a:off x="8339328" y="2395728"/>
            <a:ext cx="237744" cy="237744"/>
          </a:xfrm>
          <a:prstGeom prst="rect">
            <a:avLst/>
          </a:prstGeom>
        </p:spPr>
      </p:pic>
      <p:sp>
        <p:nvSpPr>
          <p:cNvPr id="11" name="Text 7"/>
          <p:cNvSpPr txBox="1"/>
          <p:nvPr/>
        </p:nvSpPr>
        <p:spPr>
          <a:xfrm>
            <a:off x="8823960" y="2267712"/>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Trial intelligence</a:t>
            </a:r>
            <a:endParaRPr lang="en-US" sz="1500" dirty="0"/>
          </a:p>
        </p:txBody>
      </p:sp>
      <p:sp>
        <p:nvSpPr>
          <p:cNvPr id="12" name="Text 8"/>
          <p:cNvSpPr txBox="1"/>
          <p:nvPr/>
        </p:nvSpPr>
        <p:spPr>
          <a:xfrm>
            <a:off x="8823960" y="2587752"/>
            <a:ext cx="2834640" cy="640080"/>
          </a:xfrm>
          <a:prstGeom prst="rect">
            <a:avLst/>
          </a:prstGeom>
          <a:noFill/>
          <a:ln/>
        </p:spPr>
        <p:txBody>
          <a:bodyPr wrap="square" lIns="0" tIns="0" rIns="0" bIns="0" rtlCol="0" anchor="t"/>
          <a:lstStyle/>
          <a:p>
            <a:pPr indent="0" marL="0">
              <a:buNone/>
            </a:pPr>
            <a:r>
              <a:rPr lang="en-US" sz="1300" dirty="0">
                <a:solidFill>
                  <a:schemeClr val="tx1"/>
                </a:solidFill>
              </a:rPr>
              <a:t>Enrolment against target, trials by phase and success rate.</a:t>
            </a:r>
            <a:endParaRPr lang="en-US" sz="1300" dirty="0"/>
          </a:p>
        </p:txBody>
      </p:sp>
      <p:sp>
        <p:nvSpPr>
          <p:cNvPr id="13" name="Shape 9"/>
          <p:cNvSpPr/>
          <p:nvPr/>
        </p:nvSpPr>
        <p:spPr>
          <a:xfrm>
            <a:off x="8229600" y="3273552"/>
            <a:ext cx="457200" cy="457200"/>
          </a:xfrm>
          <a:prstGeom prst="ellipse">
            <a:avLst/>
          </a:prstGeom>
          <a:solidFill>
            <a:srgbClr val="EFEAF8"/>
          </a:solidFill>
          <a:ln w="12700">
            <a:solidFill>
              <a:srgbClr val="EFEAF8"/>
            </a:solidFill>
            <a:prstDash val="solid"/>
          </a:ln>
        </p:spPr>
      </p:sp>
      <p:pic>
        <p:nvPicPr>
          <p:cNvPr id="14" name="Image 2" descr="preencoded.png">    </p:cNvPr>
          <p:cNvPicPr>
            <a:picLocks noChangeAspect="1"/>
          </p:cNvPicPr>
          <p:nvPr/>
        </p:nvPicPr>
        <p:blipFill>
          <a:blip r:embed="rId3"/>
          <a:stretch>
            <a:fillRect/>
          </a:stretch>
        </p:blipFill>
        <p:spPr>
          <a:xfrm>
            <a:off x="8339328" y="3383280"/>
            <a:ext cx="237744" cy="237744"/>
          </a:xfrm>
          <a:prstGeom prst="rect">
            <a:avLst/>
          </a:prstGeom>
        </p:spPr>
      </p:pic>
      <p:sp>
        <p:nvSpPr>
          <p:cNvPr id="15" name="Text 10"/>
          <p:cNvSpPr txBox="1"/>
          <p:nvPr/>
        </p:nvSpPr>
        <p:spPr>
          <a:xfrm>
            <a:off x="8823960" y="3255264"/>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Trial-to-publication rate</a:t>
            </a:r>
            <a:endParaRPr lang="en-US" sz="1500" dirty="0"/>
          </a:p>
        </p:txBody>
      </p:sp>
      <p:sp>
        <p:nvSpPr>
          <p:cNvPr id="16" name="Text 11"/>
          <p:cNvSpPr txBox="1"/>
          <p:nvPr/>
        </p:nvSpPr>
        <p:spPr>
          <a:xfrm>
            <a:off x="8823960" y="3575304"/>
            <a:ext cx="2834640" cy="640080"/>
          </a:xfrm>
          <a:prstGeom prst="rect">
            <a:avLst/>
          </a:prstGeom>
          <a:noFill/>
          <a:ln/>
        </p:spPr>
        <p:txBody>
          <a:bodyPr wrap="square" lIns="0" tIns="0" rIns="0" bIns="0" rtlCol="0" anchor="t"/>
          <a:lstStyle/>
          <a:p>
            <a:pPr indent="0" marL="0">
              <a:buNone/>
            </a:pPr>
            <a:r>
              <a:rPr lang="en-US" sz="1300" dirty="0">
                <a:solidFill>
                  <a:schemeClr val="tx1"/>
                </a:solidFill>
              </a:rPr>
              <a:t>See which studies turn into published evidence.</a:t>
            </a:r>
            <a:endParaRPr lang="en-US" sz="1300" dirty="0"/>
          </a:p>
        </p:txBody>
      </p:sp>
      <p:sp>
        <p:nvSpPr>
          <p:cNvPr id="17" name="Shape 12"/>
          <p:cNvSpPr/>
          <p:nvPr/>
        </p:nvSpPr>
        <p:spPr>
          <a:xfrm>
            <a:off x="8229600" y="4261104"/>
            <a:ext cx="457200" cy="457200"/>
          </a:xfrm>
          <a:prstGeom prst="ellipse">
            <a:avLst/>
          </a:prstGeom>
          <a:solidFill>
            <a:srgbClr val="EFEAF8"/>
          </a:solidFill>
          <a:ln w="12700">
            <a:solidFill>
              <a:srgbClr val="EFEAF8"/>
            </a:solidFill>
            <a:prstDash val="solid"/>
          </a:ln>
        </p:spPr>
      </p:sp>
      <p:pic>
        <p:nvPicPr>
          <p:cNvPr id="18" name="Image 3" descr="preencoded.png">    </p:cNvPr>
          <p:cNvPicPr>
            <a:picLocks noChangeAspect="1"/>
          </p:cNvPicPr>
          <p:nvPr/>
        </p:nvPicPr>
        <p:blipFill>
          <a:blip r:embed="rId4"/>
          <a:stretch>
            <a:fillRect/>
          </a:stretch>
        </p:blipFill>
        <p:spPr>
          <a:xfrm>
            <a:off x="8339328" y="4370832"/>
            <a:ext cx="237744" cy="237744"/>
          </a:xfrm>
          <a:prstGeom prst="rect">
            <a:avLst/>
          </a:prstGeom>
        </p:spPr>
      </p:pic>
      <p:sp>
        <p:nvSpPr>
          <p:cNvPr id="19" name="Text 13"/>
          <p:cNvSpPr txBox="1"/>
          <p:nvPr/>
        </p:nvSpPr>
        <p:spPr>
          <a:xfrm>
            <a:off x="8823960" y="4242816"/>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Funding by source</a:t>
            </a:r>
            <a:endParaRPr lang="en-US" sz="1500" dirty="0"/>
          </a:p>
        </p:txBody>
      </p:sp>
      <p:sp>
        <p:nvSpPr>
          <p:cNvPr id="20" name="Text 14"/>
          <p:cNvSpPr txBox="1"/>
          <p:nvPr/>
        </p:nvSpPr>
        <p:spPr>
          <a:xfrm>
            <a:off x="8823960" y="4562856"/>
            <a:ext cx="2834640" cy="640080"/>
          </a:xfrm>
          <a:prstGeom prst="rect">
            <a:avLst/>
          </a:prstGeom>
          <a:noFill/>
          <a:ln/>
        </p:spPr>
        <p:txBody>
          <a:bodyPr wrap="square" lIns="0" tIns="0" rIns="0" bIns="0" rtlCol="0" anchor="t"/>
          <a:lstStyle/>
          <a:p>
            <a:pPr indent="0" marL="0">
              <a:buNone/>
            </a:pPr>
            <a:r>
              <a:rPr lang="en-US" sz="1300" dirty="0">
                <a:solidFill>
                  <a:schemeClr val="tx1"/>
                </a:solidFill>
              </a:rPr>
              <a:t>Track where research money comes from and what it delivers.</a:t>
            </a:r>
            <a:endParaRPr lang="en-US" sz="1300" dirty="0"/>
          </a:p>
        </p:txBody>
      </p:sp>
      <p:sp>
        <p:nvSpPr>
          <p:cNvPr id="21" name="Shape 15"/>
          <p:cNvSpPr/>
          <p:nvPr/>
        </p:nvSpPr>
        <p:spPr>
          <a:xfrm>
            <a:off x="8229600" y="5248656"/>
            <a:ext cx="457200" cy="457200"/>
          </a:xfrm>
          <a:prstGeom prst="ellipse">
            <a:avLst/>
          </a:prstGeom>
          <a:solidFill>
            <a:srgbClr val="EFEAF8"/>
          </a:solidFill>
          <a:ln w="12700">
            <a:solidFill>
              <a:srgbClr val="EFEAF8"/>
            </a:solidFill>
            <a:prstDash val="solid"/>
          </a:ln>
        </p:spPr>
      </p:sp>
      <p:pic>
        <p:nvPicPr>
          <p:cNvPr id="22" name="Image 4" descr="preencoded.png">    </p:cNvPr>
          <p:cNvPicPr>
            <a:picLocks noChangeAspect="1"/>
          </p:cNvPicPr>
          <p:nvPr/>
        </p:nvPicPr>
        <p:blipFill>
          <a:blip r:embed="rId5"/>
          <a:stretch>
            <a:fillRect/>
          </a:stretch>
        </p:blipFill>
        <p:spPr>
          <a:xfrm>
            <a:off x="8339328" y="5358384"/>
            <a:ext cx="237744" cy="237744"/>
          </a:xfrm>
          <a:prstGeom prst="rect">
            <a:avLst/>
          </a:prstGeom>
        </p:spPr>
      </p:pic>
      <p:sp>
        <p:nvSpPr>
          <p:cNvPr id="23" name="Text 16"/>
          <p:cNvSpPr txBox="1"/>
          <p:nvPr/>
        </p:nvSpPr>
        <p:spPr>
          <a:xfrm>
            <a:off x="8823960" y="5230368"/>
            <a:ext cx="2834640" cy="320040"/>
          </a:xfrm>
          <a:prstGeom prst="rect">
            <a:avLst/>
          </a:prstGeom>
          <a:noFill/>
          <a:ln/>
        </p:spPr>
        <p:txBody>
          <a:bodyPr wrap="square" lIns="0" tIns="0" rIns="0" bIns="0" rtlCol="0" anchor="ctr"/>
          <a:lstStyle/>
          <a:p>
            <a:pPr indent="0" marL="0">
              <a:buNone/>
            </a:pPr>
            <a:r>
              <a:rPr lang="en-US" sz="1500" b="1" dirty="0">
                <a:solidFill>
                  <a:schemeClr val="tx2"/>
                </a:solidFill>
              </a:rPr>
              <a:t>Exportable reports</a:t>
            </a:r>
            <a:endParaRPr lang="en-US" sz="1500" dirty="0"/>
          </a:p>
        </p:txBody>
      </p:sp>
      <p:sp>
        <p:nvSpPr>
          <p:cNvPr id="24" name="Text 17"/>
          <p:cNvSpPr txBox="1"/>
          <p:nvPr/>
        </p:nvSpPr>
        <p:spPr>
          <a:xfrm>
            <a:off x="8823960" y="5550408"/>
            <a:ext cx="2834640" cy="640080"/>
          </a:xfrm>
          <a:prstGeom prst="rect">
            <a:avLst/>
          </a:prstGeom>
          <a:noFill/>
          <a:ln/>
        </p:spPr>
        <p:txBody>
          <a:bodyPr wrap="square" lIns="0" tIns="0" rIns="0" bIns="0" rtlCol="0" anchor="t"/>
          <a:lstStyle/>
          <a:p>
            <a:pPr indent="0" marL="0">
              <a:buNone/>
            </a:pPr>
            <a:r>
              <a:rPr lang="en-US" sz="1300" dirty="0">
                <a:solidFill>
                  <a:schemeClr val="tx1"/>
                </a:solidFill>
              </a:rPr>
              <a:t>Board-ready exports over any time range.</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Connected, secure and ready for your IT team</a:t>
            </a:r>
            <a:endParaRPr lang="en-US" sz="3200" dirty="0"/>
          </a:p>
        </p:txBody>
      </p:sp>
      <p:sp>
        <p:nvSpPr>
          <p:cNvPr id="3" name="Column Integrations"/>
          <p:cNvSpPr/>
          <p:nvPr/>
        </p:nvSpPr>
        <p:spPr>
          <a:xfrm>
            <a:off x="548640" y="1463040"/>
            <a:ext cx="3566160" cy="4023360"/>
          </a:xfrm>
          <a:prstGeom prst="roundRect">
            <a:avLst>
              <a:gd name="adj" fmla="val 2564"/>
            </a:avLst>
          </a:prstGeom>
          <a:solidFill>
            <a:srgbClr val="F6F4FB"/>
          </a:solidFill>
          <a:ln w="9525">
            <a:solidFill>
              <a:srgbClr val="DDD8EC"/>
            </a:solidFill>
            <a:prstDash val="solid"/>
          </a:ln>
        </p:spPr>
      </p:sp>
      <p:sp>
        <p:nvSpPr>
          <p:cNvPr id="4" name="Shape 2"/>
          <p:cNvSpPr/>
          <p:nvPr/>
        </p:nvSpPr>
        <p:spPr>
          <a:xfrm>
            <a:off x="822960" y="1691640"/>
            <a:ext cx="685800" cy="685800"/>
          </a:xfrm>
          <a:prstGeom prst="ellipse">
            <a:avLst/>
          </a:prstGeom>
          <a:solidFill>
            <a:srgbClr val="7E5BB5"/>
          </a:solidFill>
          <a:ln w="12700">
            <a:solidFill>
              <a:srgbClr val="7E5BB5"/>
            </a:solidFill>
            <a:prstDash val="solid"/>
          </a:ln>
        </p:spPr>
      </p:sp>
      <p:pic>
        <p:nvPicPr>
          <p:cNvPr id="5" name="Image 0"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Text 3"/>
          <p:cNvSpPr txBox="1"/>
          <p:nvPr/>
        </p:nvSpPr>
        <p:spPr>
          <a:xfrm>
            <a:off x="1645920" y="1783080"/>
            <a:ext cx="2286000" cy="457200"/>
          </a:xfrm>
          <a:prstGeom prst="rect">
            <a:avLst/>
          </a:prstGeom>
          <a:noFill/>
          <a:ln/>
        </p:spPr>
        <p:txBody>
          <a:bodyPr wrap="square" lIns="0" tIns="0" rIns="0" bIns="0" rtlCol="0" anchor="ctr"/>
          <a:lstStyle/>
          <a:p>
            <a:pPr indent="0" marL="0">
              <a:buNone/>
            </a:pPr>
            <a:r>
              <a:rPr lang="en-US" sz="1800" b="1" dirty="0">
                <a:solidFill>
                  <a:schemeClr val="tx2"/>
                </a:solidFill>
              </a:rPr>
              <a:t>Integrations</a:t>
            </a:r>
            <a:endParaRPr lang="en-US" sz="1800" dirty="0"/>
          </a:p>
        </p:txBody>
      </p:sp>
      <p:sp>
        <p:nvSpPr>
          <p:cNvPr id="7" name="Text 4"/>
          <p:cNvSpPr txBox="1"/>
          <p:nvPr/>
        </p:nvSpPr>
        <p:spPr>
          <a:xfrm>
            <a:off x="822960" y="2606040"/>
            <a:ext cx="30632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ORCID sign-in and profiles</a:t>
            </a:r>
            <a:endParaRPr lang="en-US" sz="1400" dirty="0"/>
          </a:p>
          <a:p>
            <a:pPr marL="342900" indent="-342900">
              <a:spcAft>
                <a:spcPts val="800"/>
              </a:spcAft>
              <a:buSzPct val="100000"/>
              <a:buChar char="•"/>
            </a:pPr>
            <a:r>
              <a:rPr lang="en-US" sz="1400" dirty="0">
                <a:solidFill>
                  <a:schemeClr val="tx1"/>
                </a:solidFill>
              </a:rPr>
              <a:t>Crossref and DataCite identifiers</a:t>
            </a:r>
            <a:endParaRPr lang="en-US" sz="1400" dirty="0"/>
          </a:p>
          <a:p>
            <a:pPr marL="342900" indent="-342900">
              <a:spcAft>
                <a:spcPts val="800"/>
              </a:spcAft>
              <a:buSzPct val="100000"/>
              <a:buChar char="•"/>
            </a:pPr>
            <a:r>
              <a:rPr lang="en-US" sz="1400" dirty="0">
                <a:solidFill>
                  <a:schemeClr val="tx1"/>
                </a:solidFill>
              </a:rPr>
              <a:t>PubMed, OpenAlex, Research4Life</a:t>
            </a:r>
            <a:endParaRPr lang="en-US" sz="1400" dirty="0"/>
          </a:p>
          <a:p>
            <a:pPr marL="342900" indent="-342900">
              <a:spcAft>
                <a:spcPts val="800"/>
              </a:spcAft>
              <a:buSzPct val="100000"/>
              <a:buChar char="•"/>
            </a:pPr>
            <a:r>
              <a:rPr lang="en-US" sz="1400" dirty="0">
                <a:solidFill>
                  <a:schemeClr val="tx1"/>
                </a:solidFill>
              </a:rPr>
              <a:t>Zotero, Mendeley, EndNote, BibTeX</a:t>
            </a:r>
            <a:endParaRPr lang="en-US" sz="1400" dirty="0"/>
          </a:p>
          <a:p>
            <a:pPr marL="342900" indent="-342900">
              <a:spcAft>
                <a:spcPts val="800"/>
              </a:spcAft>
              <a:buSzPct val="100000"/>
              <a:buChar char="•"/>
            </a:pPr>
            <a:r>
              <a:rPr lang="en-US" sz="1400" dirty="0">
                <a:solidFill>
                  <a:schemeClr val="tx1"/>
                </a:solidFill>
              </a:rPr>
              <a:t>ClinicalTrials.gov, PACTR, WHO ICTRP</a:t>
            </a:r>
            <a:endParaRPr lang="en-US" sz="1400" dirty="0"/>
          </a:p>
          <a:p>
            <a:pPr marL="342900" indent="-342900">
              <a:spcAft>
                <a:spcPts val="800"/>
              </a:spcAft>
              <a:buSzPct val="100000"/>
              <a:buChar char="•"/>
            </a:pPr>
            <a:r>
              <a:rPr lang="en-US" sz="1400" dirty="0">
                <a:solidFill>
                  <a:schemeClr val="tx1"/>
                </a:solidFill>
              </a:rPr>
              <a:t>Google Gemini and OpenAI for AI features</a:t>
            </a:r>
            <a:endParaRPr lang="en-US" sz="1400" dirty="0"/>
          </a:p>
          <a:p>
            <a:pPr marL="342900" indent="-342900">
              <a:spcAft>
                <a:spcPts val="800"/>
              </a:spcAft>
              <a:buSzPct val="100000"/>
              <a:buChar char="•"/>
            </a:pPr>
            <a:r>
              <a:rPr lang="en-US" sz="1400" dirty="0">
                <a:solidFill>
                  <a:schemeClr val="tx1"/>
                </a:solidFill>
              </a:rPr>
              <a:t>ImaChek image integrity analysis</a:t>
            </a:r>
            <a:endParaRPr lang="en-US" sz="1400" dirty="0"/>
          </a:p>
        </p:txBody>
      </p:sp>
      <p:sp>
        <p:nvSpPr>
          <p:cNvPr id="8" name="Column Security &amp; governance"/>
          <p:cNvSpPr/>
          <p:nvPr/>
        </p:nvSpPr>
        <p:spPr>
          <a:xfrm>
            <a:off x="4297680" y="1463040"/>
            <a:ext cx="3566160" cy="4023360"/>
          </a:xfrm>
          <a:prstGeom prst="roundRect">
            <a:avLst>
              <a:gd name="adj" fmla="val 2564"/>
            </a:avLst>
          </a:prstGeom>
          <a:solidFill>
            <a:srgbClr val="F6F4FB"/>
          </a:solidFill>
          <a:ln w="9525">
            <a:solidFill>
              <a:srgbClr val="DDD8EC"/>
            </a:solidFill>
            <a:prstDash val="solid"/>
          </a:ln>
        </p:spPr>
      </p:sp>
      <p:sp>
        <p:nvSpPr>
          <p:cNvPr id="9" name="Shape 6"/>
          <p:cNvSpPr/>
          <p:nvPr/>
        </p:nvSpPr>
        <p:spPr>
          <a:xfrm>
            <a:off x="4572000" y="1691640"/>
            <a:ext cx="685800" cy="685800"/>
          </a:xfrm>
          <a:prstGeom prst="ellipse">
            <a:avLst/>
          </a:prstGeom>
          <a:solidFill>
            <a:srgbClr val="2A9DC0"/>
          </a:solidFill>
          <a:ln w="12700">
            <a:solidFill>
              <a:srgbClr val="2A9DC0"/>
            </a:solidFill>
            <a:prstDash val="solid"/>
          </a:ln>
        </p:spPr>
      </p:sp>
      <p:pic>
        <p:nvPicPr>
          <p:cNvPr id="10" name="Image 1" descr="preencoded.png">    </p:cNvPr>
          <p:cNvPicPr>
            <a:picLocks noChangeAspect="1"/>
          </p:cNvPicPr>
          <p:nvPr/>
        </p:nvPicPr>
        <p:blipFill>
          <a:blip r:embed="rId2"/>
          <a:stretch>
            <a:fillRect/>
          </a:stretch>
        </p:blipFill>
        <p:spPr>
          <a:xfrm>
            <a:off x="4736592" y="1856232"/>
            <a:ext cx="356616" cy="356616"/>
          </a:xfrm>
          <a:prstGeom prst="rect">
            <a:avLst/>
          </a:prstGeom>
        </p:spPr>
      </p:pic>
      <p:sp>
        <p:nvSpPr>
          <p:cNvPr id="11" name="Text 7"/>
          <p:cNvSpPr txBox="1"/>
          <p:nvPr/>
        </p:nvSpPr>
        <p:spPr>
          <a:xfrm>
            <a:off x="5394960" y="1783080"/>
            <a:ext cx="2286000" cy="457200"/>
          </a:xfrm>
          <a:prstGeom prst="rect">
            <a:avLst/>
          </a:prstGeom>
          <a:noFill/>
          <a:ln/>
        </p:spPr>
        <p:txBody>
          <a:bodyPr wrap="square" lIns="0" tIns="0" rIns="0" bIns="0" rtlCol="0" anchor="ctr"/>
          <a:lstStyle/>
          <a:p>
            <a:pPr indent="0" marL="0">
              <a:buNone/>
            </a:pPr>
            <a:r>
              <a:rPr lang="en-US" sz="1800" b="1" dirty="0">
                <a:solidFill>
                  <a:schemeClr val="tx2"/>
                </a:solidFill>
              </a:rPr>
              <a:t>Security &amp; governance</a:t>
            </a:r>
            <a:endParaRPr lang="en-US" sz="1800" dirty="0"/>
          </a:p>
        </p:txBody>
      </p:sp>
      <p:sp>
        <p:nvSpPr>
          <p:cNvPr id="12" name="Text 8"/>
          <p:cNvSpPr txBox="1"/>
          <p:nvPr/>
        </p:nvSpPr>
        <p:spPr>
          <a:xfrm>
            <a:off x="4572000" y="2606040"/>
            <a:ext cx="30632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Role-based access for every user type</a:t>
            </a:r>
            <a:endParaRPr lang="en-US" sz="1400" dirty="0"/>
          </a:p>
          <a:p>
            <a:pPr marL="342900" indent="-342900">
              <a:spcAft>
                <a:spcPts val="800"/>
              </a:spcAft>
              <a:buSzPct val="100000"/>
              <a:buChar char="•"/>
            </a:pPr>
            <a:r>
              <a:rPr lang="en-US" sz="1400" dirty="0">
                <a:solidFill>
                  <a:schemeClr val="tx1"/>
                </a:solidFill>
              </a:rPr>
              <a:t>Institution-verified email domains</a:t>
            </a:r>
            <a:endParaRPr lang="en-US" sz="1400" dirty="0"/>
          </a:p>
          <a:p>
            <a:pPr marL="342900" indent="-342900">
              <a:spcAft>
                <a:spcPts val="800"/>
              </a:spcAft>
              <a:buSzPct val="100000"/>
              <a:buChar char="•"/>
            </a:pPr>
            <a:r>
              <a:rPr lang="en-US" sz="1400" dirty="0">
                <a:solidFill>
                  <a:schemeClr val="tx1"/>
                </a:solidFill>
              </a:rPr>
              <a:t>Audit trails and activity logs</a:t>
            </a:r>
            <a:endParaRPr lang="en-US" sz="1400" dirty="0"/>
          </a:p>
          <a:p>
            <a:pPr marL="342900" indent="-342900">
              <a:spcAft>
                <a:spcPts val="800"/>
              </a:spcAft>
              <a:buSzPct val="100000"/>
              <a:buChar char="•"/>
            </a:pPr>
            <a:r>
              <a:rPr lang="en-US" sz="1400" dirty="0">
                <a:solidFill>
                  <a:schemeClr val="tx1"/>
                </a:solidFill>
              </a:rPr>
              <a:t>Admin consoles for security, users and data</a:t>
            </a:r>
            <a:endParaRPr lang="en-US" sz="1400" dirty="0"/>
          </a:p>
          <a:p>
            <a:pPr marL="342900" indent="-342900">
              <a:spcAft>
                <a:spcPts val="800"/>
              </a:spcAft>
              <a:buSzPct val="100000"/>
              <a:buChar char="•"/>
            </a:pPr>
            <a:r>
              <a:rPr lang="en-US" sz="1400" dirty="0">
                <a:solidFill>
                  <a:schemeClr val="tx1"/>
                </a:solidFill>
              </a:rPr>
              <a:t>Ethics and data-protection workflows</a:t>
            </a:r>
            <a:endParaRPr lang="en-US" sz="1400" dirty="0"/>
          </a:p>
        </p:txBody>
      </p:sp>
      <p:sp>
        <p:nvSpPr>
          <p:cNvPr id="13" name="Column Deployment &amp; access"/>
          <p:cNvSpPr/>
          <p:nvPr/>
        </p:nvSpPr>
        <p:spPr>
          <a:xfrm>
            <a:off x="8046720" y="1463040"/>
            <a:ext cx="3566160" cy="4023360"/>
          </a:xfrm>
          <a:prstGeom prst="roundRect">
            <a:avLst>
              <a:gd name="adj" fmla="val 2564"/>
            </a:avLst>
          </a:prstGeom>
          <a:solidFill>
            <a:srgbClr val="F6F4FB"/>
          </a:solidFill>
          <a:ln w="9525">
            <a:solidFill>
              <a:srgbClr val="DDD8EC"/>
            </a:solidFill>
            <a:prstDash val="solid"/>
          </a:ln>
        </p:spPr>
      </p:sp>
      <p:sp>
        <p:nvSpPr>
          <p:cNvPr id="14" name="Shape 10"/>
          <p:cNvSpPr/>
          <p:nvPr/>
        </p:nvSpPr>
        <p:spPr>
          <a:xfrm>
            <a:off x="8321040" y="1691640"/>
            <a:ext cx="685800" cy="685800"/>
          </a:xfrm>
          <a:prstGeom prst="ellipse">
            <a:avLst/>
          </a:prstGeom>
          <a:solidFill>
            <a:srgbClr val="7E5BB5"/>
          </a:solidFill>
          <a:ln w="12700">
            <a:solidFill>
              <a:srgbClr val="7E5BB5"/>
            </a:solidFill>
            <a:prstDash val="solid"/>
          </a:ln>
        </p:spPr>
      </p:sp>
      <p:pic>
        <p:nvPicPr>
          <p:cNvPr id="15" name="Image 2" descr="preencoded.png">    </p:cNvPr>
          <p:cNvPicPr>
            <a:picLocks noChangeAspect="1"/>
          </p:cNvPicPr>
          <p:nvPr/>
        </p:nvPicPr>
        <p:blipFill>
          <a:blip r:embed="rId3"/>
          <a:stretch>
            <a:fillRect/>
          </a:stretch>
        </p:blipFill>
        <p:spPr>
          <a:xfrm>
            <a:off x="8485632" y="1856232"/>
            <a:ext cx="356616" cy="356616"/>
          </a:xfrm>
          <a:prstGeom prst="rect">
            <a:avLst/>
          </a:prstGeom>
        </p:spPr>
      </p:pic>
      <p:sp>
        <p:nvSpPr>
          <p:cNvPr id="16" name="Text 11"/>
          <p:cNvSpPr txBox="1"/>
          <p:nvPr/>
        </p:nvSpPr>
        <p:spPr>
          <a:xfrm>
            <a:off x="9144000" y="1783080"/>
            <a:ext cx="2286000" cy="457200"/>
          </a:xfrm>
          <a:prstGeom prst="rect">
            <a:avLst/>
          </a:prstGeom>
          <a:noFill/>
          <a:ln/>
        </p:spPr>
        <p:txBody>
          <a:bodyPr wrap="square" lIns="0" tIns="0" rIns="0" bIns="0" rtlCol="0" anchor="ctr"/>
          <a:lstStyle/>
          <a:p>
            <a:pPr indent="0" marL="0">
              <a:buNone/>
            </a:pPr>
            <a:r>
              <a:rPr lang="en-US" sz="1800" b="1" dirty="0">
                <a:solidFill>
                  <a:schemeClr val="tx2"/>
                </a:solidFill>
              </a:rPr>
              <a:t>Deployment &amp; access</a:t>
            </a:r>
            <a:endParaRPr lang="en-US" sz="1800" dirty="0"/>
          </a:p>
        </p:txBody>
      </p:sp>
      <p:sp>
        <p:nvSpPr>
          <p:cNvPr id="17" name="Text 12"/>
          <p:cNvSpPr txBox="1"/>
          <p:nvPr/>
        </p:nvSpPr>
        <p:spPr>
          <a:xfrm>
            <a:off x="8321040" y="2606040"/>
            <a:ext cx="30632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Hosted, or on your own servers via Docker</a:t>
            </a:r>
            <a:endParaRPr lang="en-US" sz="1400" dirty="0"/>
          </a:p>
          <a:p>
            <a:pPr marL="342900" indent="-342900">
              <a:spcAft>
                <a:spcPts val="800"/>
              </a:spcAft>
              <a:buSzPct val="100000"/>
              <a:buChar char="•"/>
            </a:pPr>
            <a:r>
              <a:rPr lang="en-US" sz="1400" dirty="0">
                <a:solidFill>
                  <a:schemeClr val="tx1"/>
                </a:solidFill>
              </a:rPr>
              <a:t>Multi-institution setup with central admin</a:t>
            </a:r>
            <a:endParaRPr lang="en-US" sz="1400" dirty="0"/>
          </a:p>
          <a:p>
            <a:pPr marL="342900" indent="-342900">
              <a:spcAft>
                <a:spcPts val="800"/>
              </a:spcAft>
              <a:buSzPct val="100000"/>
              <a:buChar char="•"/>
            </a:pPr>
            <a:r>
              <a:rPr lang="en-US" sz="1400" dirty="0">
                <a:solidFill>
                  <a:schemeClr val="tx1"/>
                </a:solidFill>
              </a:rPr>
              <a:t>19 interface languages</a:t>
            </a:r>
            <a:endParaRPr lang="en-US" sz="1400" dirty="0"/>
          </a:p>
          <a:p>
            <a:pPr marL="342900" indent="-342900">
              <a:spcAft>
                <a:spcPts val="800"/>
              </a:spcAft>
              <a:buSzPct val="100000"/>
              <a:buChar char="•"/>
            </a:pPr>
            <a:r>
              <a:rPr lang="en-US" sz="1400" dirty="0">
                <a:solidFill>
                  <a:schemeClr val="tx1"/>
                </a:solidFill>
              </a:rPr>
              <a:t>Light and dark modes, adjustable text size</a:t>
            </a:r>
            <a:endParaRPr lang="en-US" sz="1400" dirty="0"/>
          </a:p>
          <a:p>
            <a:pPr marL="342900" indent="-342900">
              <a:spcAft>
                <a:spcPts val="800"/>
              </a:spcAft>
              <a:buSzPct val="100000"/>
              <a:buChar char="•"/>
            </a:pPr>
            <a:r>
              <a:rPr lang="en-US" sz="1400" dirty="0">
                <a:solidFill>
                  <a:schemeClr val="tx1"/>
                </a:solidFill>
              </a:rPr>
              <a:t>Open, interoperable PID-based design</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changes for your institution</a:t>
            </a:r>
            <a:endParaRPr lang="en-US" sz="3200" dirty="0"/>
          </a:p>
        </p:txBody>
      </p:sp>
      <p:graphicFrame>
        <p:nvGraphicFramePr>
          <p:cNvPr id="19" name="Before and after"/>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651760"/>
                <a:gridCol w="4023360"/>
                <a:gridCol w="4389120"/>
              </a:tblGrid>
              <a:tr h="566928">
                <a:tc>
                  <a:txBody>
                    <a:bodyPr/>
                    <a:lstStyle/>
                    <a:p>
                      <a:pPr indent="0" marL="0">
                        <a:buNone/>
                      </a:pPr>
                      <a:endParaRPr lang="en-US" sz="15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FFFFFF"/>
                    </a:solidFill>
                  </a:tcPr>
                </a:tc>
                <a:tc>
                  <a:txBody>
                    <a:bodyPr/>
                    <a:lstStyle/>
                    <a:p>
                      <a:pPr indent="0" marL="0">
                        <a:buNone/>
                      </a:pPr>
                      <a:r>
                        <a:rPr lang="en-US" sz="1500" b="1" dirty="0">
                          <a:solidFill>
                            <a:srgbClr val="5E5C78"/>
                          </a:solidFill>
                          <a:latin typeface="Calibri" pitchFamily="34" charset="0"/>
                          <a:ea typeface="Calibri" pitchFamily="34" charset="-122"/>
                          <a:cs typeface="Calibri" pitchFamily="34" charset="-120"/>
                        </a:rPr>
                        <a:t>Today</a:t>
                      </a:r>
                      <a:endParaRPr lang="en-US" sz="15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DEBF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With HospitiumRIS</a:t>
                      </a:r>
                      <a:endParaRPr lang="en-US" sz="15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7E5BB5"/>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Research register</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Spreadsheets per department</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One live register of projects, trials and outputs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Ethics &amp; approvals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Paper forms and email chains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Online submission, review and expiry alerts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Funding</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Grant status tracked by memory</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Pipeline from call to award, with audit trail</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Manuscripts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Drafts in email attachments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Co-authoring with versions and citations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Reporting</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Weeks of chasing researchers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Dashboards and exports on demand</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Visibility</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Outputs hard to find</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PID-linked profiles and publications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r h="566928">
                <a:tc>
                  <a:txBody>
                    <a:bodyPr/>
                    <a:lstStyle/>
                    <a:p>
                      <a:pPr indent="0" marL="0">
                        <a:buNone/>
                      </a:pPr>
                      <a:r>
                        <a:rPr lang="en-US" sz="1400" b="1" dirty="0">
                          <a:solidFill>
                            <a:srgbClr val="1C1B3A"/>
                          </a:solidFill>
                          <a:latin typeface="Calibri" pitchFamily="34" charset="0"/>
                          <a:ea typeface="Calibri" pitchFamily="34" charset="-122"/>
                          <a:cs typeface="Calibri" pitchFamily="34" charset="-120"/>
                        </a:rPr>
                        <a:t>Insight</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dirty="0">
                          <a:solidFill>
                            <a:srgbClr val="5E5C78"/>
                          </a:solidFill>
                          <a:latin typeface="Calibri" pitchFamily="34" charset="0"/>
                          <a:ea typeface="Calibri" pitchFamily="34" charset="-122"/>
                          <a:cs typeface="Calibri" pitchFamily="34" charset="-120"/>
                        </a:rPr>
                        <a:t>Reading every paper and report by hand</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tcPr>
                </a:tc>
                <a:tc>
                  <a:txBody>
                    <a:bodyPr/>
                    <a:lstStyle/>
                    <a:p>
                      <a:pPr indent="0" marL="0">
                        <a:buNone/>
                      </a:pPr>
                      <a:r>
                        <a:rPr lang="en-US" sz="1400" b="1" dirty="0">
                          <a:solidFill>
                            <a:srgbClr val="22213A"/>
                          </a:solidFill>
                          <a:latin typeface="Calibri" pitchFamily="34" charset="0"/>
                          <a:ea typeface="Calibri" pitchFamily="34" charset="-122"/>
                          <a:cs typeface="Calibri" pitchFamily="34" charset="-120"/>
                        </a:rPr>
                        <a:t>AI summaries and recommended next actions</a:t>
                      </a:r>
                      <a:endParaRPr lang="en-US" sz="1400" dirty="0">
                        <a:latin typeface="Calibri" charset="0"/>
                        <a:ea typeface="Calibri" charset="0"/>
                        <a:cs typeface="Calibri" charset="0"/>
                      </a:endParaRPr>
                    </a:p>
                  </a:txBody>
                  <a:tcPr marL="137160" marR="137160" marT="45720" marB="45720" anchor="ctr">
                    <a:lnL w="9525" cap="flat" cmpd="sng" algn="ctr">
                      <a:solidFill>
                        <a:srgbClr val="DDD8EC"/>
                      </a:solidFill>
                      <a:prstDash val="solid"/>
                      <a:round/>
                      <a:headEnd type="none" w="med" len="med"/>
                      <a:tailEnd type="none" w="med" len="med"/>
                    </a:lnL>
                    <a:lnR w="9525" cap="flat" cmpd="sng" algn="ctr">
                      <a:solidFill>
                        <a:srgbClr val="DDD8EC"/>
                      </a:solidFill>
                      <a:prstDash val="solid"/>
                      <a:round/>
                      <a:headEnd type="none" w="med" len="med"/>
                      <a:tailEnd type="none" w="med" len="med"/>
                    </a:lnR>
                    <a:lnT w="9525" cap="flat" cmpd="sng" algn="ctr">
                      <a:solidFill>
                        <a:srgbClr val="DDD8EC"/>
                      </a:solidFill>
                      <a:prstDash val="solid"/>
                      <a:round/>
                      <a:headEnd type="none" w="med" len="med"/>
                      <a:tailEnd type="none" w="med" len="med"/>
                    </a:lnT>
                    <a:lnB w="9525" cap="flat" cmpd="sng" algn="ctr">
                      <a:solidFill>
                        <a:srgbClr val="DDD8EC"/>
                      </a:solidFill>
                      <a:prstDash val="solid"/>
                      <a:round/>
                      <a:headEnd type="none" w="med" len="med"/>
                      <a:tailEnd type="none" w="med" len="med"/>
                    </a:lnB>
                    <a:solidFill>
                      <a:srgbClr val="EFEAF8"/>
                    </a:solidFill>
                  </a:tcPr>
                </a:tc>
              </a:tr>
            </a:tbl>
          </a:graphicData>
        </a:graphic>
      </p:graphicFrame>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clear path to go-live</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600" dirty="0">
                <a:solidFill>
                  <a:schemeClr val="tx1"/>
                </a:solidFill>
              </a:rPr>
              <a:t>We handle the heavy lifting; your team focuses on decisions and adoption.</a:t>
            </a:r>
            <a:endParaRPr lang="en-US" sz="1600" dirty="0"/>
          </a:p>
        </p:txBody>
      </p:sp>
      <p:sp>
        <p:nvSpPr>
          <p:cNvPr id="4" name="Shape 2"/>
          <p:cNvSpPr/>
          <p:nvPr/>
        </p:nvSpPr>
        <p:spPr>
          <a:xfrm>
            <a:off x="1097280" y="2331720"/>
            <a:ext cx="8961120" cy="0"/>
          </a:xfrm>
          <a:prstGeom prst="line">
            <a:avLst/>
          </a:prstGeom>
          <a:noFill/>
          <a:ln w="25400">
            <a:solidFill>
              <a:srgbClr val="C9B9E8"/>
            </a:solidFill>
            <a:prstDash val="solid"/>
          </a:ln>
        </p:spPr>
      </p:sp>
      <p:sp>
        <p:nvSpPr>
          <p:cNvPr id="5" name="Shape 3"/>
          <p:cNvSpPr/>
          <p:nvPr/>
        </p:nvSpPr>
        <p:spPr>
          <a:xfrm>
            <a:off x="777240" y="1874520"/>
            <a:ext cx="914400" cy="914400"/>
          </a:xfrm>
          <a:prstGeom prst="ellipse">
            <a:avLst/>
          </a:prstGeom>
          <a:solidFill>
            <a:srgbClr val="7E5BB5"/>
          </a:solidFill>
          <a:ln w="12700">
            <a:solidFill>
              <a:srgbClr val="7E5BB5"/>
            </a:solidFill>
            <a:prstDash val="solid"/>
          </a:ln>
        </p:spPr>
      </p:sp>
      <p:pic>
        <p:nvPicPr>
          <p:cNvPr id="6" name="Image 0" descr="preencoded.png">    </p:cNvPr>
          <p:cNvPicPr>
            <a:picLocks noChangeAspect="1"/>
          </p:cNvPicPr>
          <p:nvPr/>
        </p:nvPicPr>
        <p:blipFill>
          <a:blip r:embed="rId1"/>
          <a:stretch>
            <a:fillRect/>
          </a:stretch>
        </p:blipFill>
        <p:spPr>
          <a:xfrm>
            <a:off x="996696" y="2093976"/>
            <a:ext cx="475488" cy="475488"/>
          </a:xfrm>
          <a:prstGeom prst="rect">
            <a:avLst/>
          </a:prstGeom>
        </p:spPr>
      </p:pic>
      <p:sp>
        <p:nvSpPr>
          <p:cNvPr id="7" name="Text 4"/>
          <p:cNvSpPr txBox="1"/>
          <p:nvPr/>
        </p:nvSpPr>
        <p:spPr>
          <a:xfrm>
            <a:off x="777240" y="2971800"/>
            <a:ext cx="1828800" cy="274320"/>
          </a:xfrm>
          <a:prstGeom prst="rect">
            <a:avLst/>
          </a:prstGeom>
          <a:noFill/>
          <a:ln/>
        </p:spPr>
        <p:txBody>
          <a:bodyPr wrap="square" lIns="0" tIns="0" rIns="0" bIns="0" rtlCol="0" anchor="ctr"/>
          <a:lstStyle/>
          <a:p>
            <a:pPr indent="0" marL="0">
              <a:buNone/>
            </a:pPr>
            <a:r>
              <a:rPr lang="en-US" sz="1100" b="1" spc="100" kern="0" dirty="0">
                <a:solidFill>
                  <a:srgbClr val="5E5C78"/>
                </a:solidFill>
              </a:rPr>
              <a:t>PHASE 1</a:t>
            </a:r>
            <a:endParaRPr lang="en-US" sz="1100" dirty="0"/>
          </a:p>
        </p:txBody>
      </p:sp>
      <p:sp>
        <p:nvSpPr>
          <p:cNvPr id="8" name="Text 5"/>
          <p:cNvSpPr txBox="1"/>
          <p:nvPr/>
        </p:nvSpPr>
        <p:spPr>
          <a:xfrm>
            <a:off x="777240" y="3246120"/>
            <a:ext cx="1828800" cy="411480"/>
          </a:xfrm>
          <a:prstGeom prst="rect">
            <a:avLst/>
          </a:prstGeom>
          <a:noFill/>
          <a:ln/>
        </p:spPr>
        <p:txBody>
          <a:bodyPr wrap="square" lIns="0" tIns="0" rIns="0" bIns="0" rtlCol="0" anchor="ctr"/>
          <a:lstStyle/>
          <a:p>
            <a:pPr indent="0" marL="0">
              <a:buNone/>
            </a:pPr>
            <a:r>
              <a:rPr lang="en-US" sz="1800" b="1" dirty="0">
                <a:solidFill>
                  <a:schemeClr val="tx2"/>
                </a:solidFill>
              </a:rPr>
              <a:t>Discover</a:t>
            </a:r>
            <a:endParaRPr lang="en-US" sz="1800" dirty="0"/>
          </a:p>
        </p:txBody>
      </p:sp>
      <p:sp>
        <p:nvSpPr>
          <p:cNvPr id="9" name="Text 6"/>
          <p:cNvSpPr txBox="1"/>
          <p:nvPr/>
        </p:nvSpPr>
        <p:spPr>
          <a:xfrm>
            <a:off x="777240" y="3703320"/>
            <a:ext cx="1783080" cy="1097280"/>
          </a:xfrm>
          <a:prstGeom prst="rect">
            <a:avLst/>
          </a:prstGeom>
          <a:noFill/>
          <a:ln/>
        </p:spPr>
        <p:txBody>
          <a:bodyPr wrap="square" lIns="0" tIns="0" rIns="0" bIns="0" rtlCol="0" anchor="t"/>
          <a:lstStyle/>
          <a:p>
            <a:pPr indent="0" marL="0">
              <a:buNone/>
            </a:pPr>
            <a:r>
              <a:rPr lang="en-US" sz="1300" dirty="0">
                <a:solidFill>
                  <a:schemeClr val="tx1"/>
                </a:solidFill>
              </a:rPr>
              <a:t>Map your workflows, review stages, ethics forms and reporting needs.</a:t>
            </a:r>
            <a:endParaRPr lang="en-US" sz="1300" dirty="0"/>
          </a:p>
        </p:txBody>
      </p:sp>
      <p:sp>
        <p:nvSpPr>
          <p:cNvPr id="10" name="Shape 7"/>
          <p:cNvSpPr/>
          <p:nvPr/>
        </p:nvSpPr>
        <p:spPr>
          <a:xfrm>
            <a:off x="3017520" y="1874520"/>
            <a:ext cx="914400" cy="914400"/>
          </a:xfrm>
          <a:prstGeom prst="ellipse">
            <a:avLst/>
          </a:prstGeom>
          <a:solidFill>
            <a:srgbClr val="2A9DC0"/>
          </a:solidFill>
          <a:ln w="12700">
            <a:solidFill>
              <a:srgbClr val="2A9DC0"/>
            </a:solidFill>
            <a:prstDash val="solid"/>
          </a:ln>
        </p:spPr>
      </p:sp>
      <p:pic>
        <p:nvPicPr>
          <p:cNvPr id="11" name="Image 1" descr="preencoded.png">    </p:cNvPr>
          <p:cNvPicPr>
            <a:picLocks noChangeAspect="1"/>
          </p:cNvPicPr>
          <p:nvPr/>
        </p:nvPicPr>
        <p:blipFill>
          <a:blip r:embed="rId2"/>
          <a:stretch>
            <a:fillRect/>
          </a:stretch>
        </p:blipFill>
        <p:spPr>
          <a:xfrm>
            <a:off x="3236976" y="2093976"/>
            <a:ext cx="475488" cy="475488"/>
          </a:xfrm>
          <a:prstGeom prst="rect">
            <a:avLst/>
          </a:prstGeom>
        </p:spPr>
      </p:pic>
      <p:sp>
        <p:nvSpPr>
          <p:cNvPr id="12" name="Text 8"/>
          <p:cNvSpPr txBox="1"/>
          <p:nvPr/>
        </p:nvSpPr>
        <p:spPr>
          <a:xfrm>
            <a:off x="3017520" y="2971800"/>
            <a:ext cx="1828800" cy="274320"/>
          </a:xfrm>
          <a:prstGeom prst="rect">
            <a:avLst/>
          </a:prstGeom>
          <a:noFill/>
          <a:ln/>
        </p:spPr>
        <p:txBody>
          <a:bodyPr wrap="square" lIns="0" tIns="0" rIns="0" bIns="0" rtlCol="0" anchor="ctr"/>
          <a:lstStyle/>
          <a:p>
            <a:pPr indent="0" marL="0">
              <a:buNone/>
            </a:pPr>
            <a:r>
              <a:rPr lang="en-US" sz="1100" b="1" spc="100" kern="0" dirty="0">
                <a:solidFill>
                  <a:srgbClr val="5E5C78"/>
                </a:solidFill>
              </a:rPr>
              <a:t>PHASE 2</a:t>
            </a:r>
            <a:endParaRPr lang="en-US" sz="1100" dirty="0"/>
          </a:p>
        </p:txBody>
      </p:sp>
      <p:sp>
        <p:nvSpPr>
          <p:cNvPr id="13" name="Text 9"/>
          <p:cNvSpPr txBox="1"/>
          <p:nvPr/>
        </p:nvSpPr>
        <p:spPr>
          <a:xfrm>
            <a:off x="3017520" y="3246120"/>
            <a:ext cx="1828800" cy="411480"/>
          </a:xfrm>
          <a:prstGeom prst="rect">
            <a:avLst/>
          </a:prstGeom>
          <a:noFill/>
          <a:ln/>
        </p:spPr>
        <p:txBody>
          <a:bodyPr wrap="square" lIns="0" tIns="0" rIns="0" bIns="0" rtlCol="0" anchor="ctr"/>
          <a:lstStyle/>
          <a:p>
            <a:pPr indent="0" marL="0">
              <a:buNone/>
            </a:pPr>
            <a:r>
              <a:rPr lang="en-US" sz="1800" b="1" dirty="0">
                <a:solidFill>
                  <a:schemeClr val="tx2"/>
                </a:solidFill>
              </a:rPr>
              <a:t>Configure</a:t>
            </a:r>
            <a:endParaRPr lang="en-US" sz="1800" dirty="0"/>
          </a:p>
        </p:txBody>
      </p:sp>
      <p:sp>
        <p:nvSpPr>
          <p:cNvPr id="14" name="Text 10"/>
          <p:cNvSpPr txBox="1"/>
          <p:nvPr/>
        </p:nvSpPr>
        <p:spPr>
          <a:xfrm>
            <a:off x="3017520" y="3703320"/>
            <a:ext cx="1783080" cy="1097280"/>
          </a:xfrm>
          <a:prstGeom prst="rect">
            <a:avLst/>
          </a:prstGeom>
          <a:noFill/>
          <a:ln/>
        </p:spPr>
        <p:txBody>
          <a:bodyPr wrap="square" lIns="0" tIns="0" rIns="0" bIns="0" rtlCol="0" anchor="t"/>
          <a:lstStyle/>
          <a:p>
            <a:pPr indent="0" marL="0">
              <a:buNone/>
            </a:pPr>
            <a:r>
              <a:rPr lang="en-US" sz="1300" dirty="0">
                <a:solidFill>
                  <a:schemeClr val="tx1"/>
                </a:solidFill>
              </a:rPr>
              <a:t>Set up roles, review pipelines, verified domains and branding.</a:t>
            </a:r>
            <a:endParaRPr lang="en-US" sz="1300" dirty="0"/>
          </a:p>
        </p:txBody>
      </p:sp>
      <p:sp>
        <p:nvSpPr>
          <p:cNvPr id="15" name="Shape 11"/>
          <p:cNvSpPr/>
          <p:nvPr/>
        </p:nvSpPr>
        <p:spPr>
          <a:xfrm>
            <a:off x="5257800" y="1874520"/>
            <a:ext cx="914400" cy="914400"/>
          </a:xfrm>
          <a:prstGeom prst="ellipse">
            <a:avLst/>
          </a:prstGeom>
          <a:solidFill>
            <a:srgbClr val="7E5BB5"/>
          </a:solidFill>
          <a:ln w="12700">
            <a:solidFill>
              <a:srgbClr val="7E5BB5"/>
            </a:solidFill>
            <a:prstDash val="solid"/>
          </a:ln>
        </p:spPr>
      </p:sp>
      <p:pic>
        <p:nvPicPr>
          <p:cNvPr id="16" name="Image 2" descr="preencoded.png">    </p:cNvPr>
          <p:cNvPicPr>
            <a:picLocks noChangeAspect="1"/>
          </p:cNvPicPr>
          <p:nvPr/>
        </p:nvPicPr>
        <p:blipFill>
          <a:blip r:embed="rId3"/>
          <a:stretch>
            <a:fillRect/>
          </a:stretch>
        </p:blipFill>
        <p:spPr>
          <a:xfrm>
            <a:off x="5477256" y="2093976"/>
            <a:ext cx="475488" cy="475488"/>
          </a:xfrm>
          <a:prstGeom prst="rect">
            <a:avLst/>
          </a:prstGeom>
        </p:spPr>
      </p:pic>
      <p:sp>
        <p:nvSpPr>
          <p:cNvPr id="17" name="Text 12"/>
          <p:cNvSpPr txBox="1"/>
          <p:nvPr/>
        </p:nvSpPr>
        <p:spPr>
          <a:xfrm>
            <a:off x="5257800" y="2971800"/>
            <a:ext cx="1828800" cy="274320"/>
          </a:xfrm>
          <a:prstGeom prst="rect">
            <a:avLst/>
          </a:prstGeom>
          <a:noFill/>
          <a:ln/>
        </p:spPr>
        <p:txBody>
          <a:bodyPr wrap="square" lIns="0" tIns="0" rIns="0" bIns="0" rtlCol="0" anchor="ctr"/>
          <a:lstStyle/>
          <a:p>
            <a:pPr indent="0" marL="0">
              <a:buNone/>
            </a:pPr>
            <a:r>
              <a:rPr lang="en-US" sz="1100" b="1" spc="100" kern="0" dirty="0">
                <a:solidFill>
                  <a:srgbClr val="5E5C78"/>
                </a:solidFill>
              </a:rPr>
              <a:t>PHASE 3</a:t>
            </a:r>
            <a:endParaRPr lang="en-US" sz="1100" dirty="0"/>
          </a:p>
        </p:txBody>
      </p:sp>
      <p:sp>
        <p:nvSpPr>
          <p:cNvPr id="18" name="Text 13"/>
          <p:cNvSpPr txBox="1"/>
          <p:nvPr/>
        </p:nvSpPr>
        <p:spPr>
          <a:xfrm>
            <a:off x="5257800" y="3246120"/>
            <a:ext cx="1828800" cy="411480"/>
          </a:xfrm>
          <a:prstGeom prst="rect">
            <a:avLst/>
          </a:prstGeom>
          <a:noFill/>
          <a:ln/>
        </p:spPr>
        <p:txBody>
          <a:bodyPr wrap="square" lIns="0" tIns="0" rIns="0" bIns="0" rtlCol="0" anchor="ctr"/>
          <a:lstStyle/>
          <a:p>
            <a:pPr indent="0" marL="0">
              <a:buNone/>
            </a:pPr>
            <a:r>
              <a:rPr lang="en-US" sz="1800" b="1" dirty="0">
                <a:solidFill>
                  <a:schemeClr val="tx2"/>
                </a:solidFill>
              </a:rPr>
              <a:t>Migrate</a:t>
            </a:r>
            <a:endParaRPr lang="en-US" sz="1800" dirty="0"/>
          </a:p>
        </p:txBody>
      </p:sp>
      <p:sp>
        <p:nvSpPr>
          <p:cNvPr id="19" name="Text 14"/>
          <p:cNvSpPr txBox="1"/>
          <p:nvPr/>
        </p:nvSpPr>
        <p:spPr>
          <a:xfrm>
            <a:off x="5257800" y="3703320"/>
            <a:ext cx="1783080" cy="1097280"/>
          </a:xfrm>
          <a:prstGeom prst="rect">
            <a:avLst/>
          </a:prstGeom>
          <a:noFill/>
          <a:ln/>
        </p:spPr>
        <p:txBody>
          <a:bodyPr wrap="square" lIns="0" tIns="0" rIns="0" bIns="0" rtlCol="0" anchor="t"/>
          <a:lstStyle/>
          <a:p>
            <a:pPr indent="0" marL="0">
              <a:buNone/>
            </a:pPr>
            <a:r>
              <a:rPr lang="en-US" sz="1300" dirty="0">
                <a:solidFill>
                  <a:schemeClr val="tx1"/>
                </a:solidFill>
              </a:rPr>
              <a:t>Import publications, researcher profiles, active proposals and approvals.</a:t>
            </a:r>
            <a:endParaRPr lang="en-US" sz="1300" dirty="0"/>
          </a:p>
        </p:txBody>
      </p:sp>
      <p:sp>
        <p:nvSpPr>
          <p:cNvPr id="20" name="Shape 15"/>
          <p:cNvSpPr/>
          <p:nvPr/>
        </p:nvSpPr>
        <p:spPr>
          <a:xfrm>
            <a:off x="7498080" y="1874520"/>
            <a:ext cx="914400" cy="914400"/>
          </a:xfrm>
          <a:prstGeom prst="ellipse">
            <a:avLst/>
          </a:prstGeom>
          <a:solidFill>
            <a:srgbClr val="2A9DC0"/>
          </a:solidFill>
          <a:ln w="12700">
            <a:solidFill>
              <a:srgbClr val="2A9DC0"/>
            </a:solidFill>
            <a:prstDash val="solid"/>
          </a:ln>
        </p:spPr>
      </p:sp>
      <p:pic>
        <p:nvPicPr>
          <p:cNvPr id="21" name="Image 3" descr="preencoded.png">    </p:cNvPr>
          <p:cNvPicPr>
            <a:picLocks noChangeAspect="1"/>
          </p:cNvPicPr>
          <p:nvPr/>
        </p:nvPicPr>
        <p:blipFill>
          <a:blip r:embed="rId4"/>
          <a:stretch>
            <a:fillRect/>
          </a:stretch>
        </p:blipFill>
        <p:spPr>
          <a:xfrm>
            <a:off x="7717536" y="2093976"/>
            <a:ext cx="475488" cy="475488"/>
          </a:xfrm>
          <a:prstGeom prst="rect">
            <a:avLst/>
          </a:prstGeom>
        </p:spPr>
      </p:pic>
      <p:sp>
        <p:nvSpPr>
          <p:cNvPr id="22" name="Text 16"/>
          <p:cNvSpPr txBox="1"/>
          <p:nvPr/>
        </p:nvSpPr>
        <p:spPr>
          <a:xfrm>
            <a:off x="7498080" y="2971800"/>
            <a:ext cx="1828800" cy="274320"/>
          </a:xfrm>
          <a:prstGeom prst="rect">
            <a:avLst/>
          </a:prstGeom>
          <a:noFill/>
          <a:ln/>
        </p:spPr>
        <p:txBody>
          <a:bodyPr wrap="square" lIns="0" tIns="0" rIns="0" bIns="0" rtlCol="0" anchor="ctr"/>
          <a:lstStyle/>
          <a:p>
            <a:pPr indent="0" marL="0">
              <a:buNone/>
            </a:pPr>
            <a:r>
              <a:rPr lang="en-US" sz="1100" b="1" spc="100" kern="0" dirty="0">
                <a:solidFill>
                  <a:srgbClr val="5E5C78"/>
                </a:solidFill>
              </a:rPr>
              <a:t>PHASE 4</a:t>
            </a:r>
            <a:endParaRPr lang="en-US" sz="1100" dirty="0"/>
          </a:p>
        </p:txBody>
      </p:sp>
      <p:sp>
        <p:nvSpPr>
          <p:cNvPr id="23" name="Text 17"/>
          <p:cNvSpPr txBox="1"/>
          <p:nvPr/>
        </p:nvSpPr>
        <p:spPr>
          <a:xfrm>
            <a:off x="7498080" y="3246120"/>
            <a:ext cx="1828800" cy="411480"/>
          </a:xfrm>
          <a:prstGeom prst="rect">
            <a:avLst/>
          </a:prstGeom>
          <a:noFill/>
          <a:ln/>
        </p:spPr>
        <p:txBody>
          <a:bodyPr wrap="square" lIns="0" tIns="0" rIns="0" bIns="0" rtlCol="0" anchor="ctr"/>
          <a:lstStyle/>
          <a:p>
            <a:pPr indent="0" marL="0">
              <a:buNone/>
            </a:pPr>
            <a:r>
              <a:rPr lang="en-US" sz="1800" b="1" dirty="0">
                <a:solidFill>
                  <a:schemeClr val="tx2"/>
                </a:solidFill>
              </a:rPr>
              <a:t>Train</a:t>
            </a:r>
            <a:endParaRPr lang="en-US" sz="1800" dirty="0"/>
          </a:p>
        </p:txBody>
      </p:sp>
      <p:sp>
        <p:nvSpPr>
          <p:cNvPr id="24" name="Text 18"/>
          <p:cNvSpPr txBox="1"/>
          <p:nvPr/>
        </p:nvSpPr>
        <p:spPr>
          <a:xfrm>
            <a:off x="7498080" y="3703320"/>
            <a:ext cx="1783080" cy="1097280"/>
          </a:xfrm>
          <a:prstGeom prst="rect">
            <a:avLst/>
          </a:prstGeom>
          <a:noFill/>
          <a:ln/>
        </p:spPr>
        <p:txBody>
          <a:bodyPr wrap="square" lIns="0" tIns="0" rIns="0" bIns="0" rtlCol="0" anchor="t"/>
          <a:lstStyle/>
          <a:p>
            <a:pPr indent="0" marL="0">
              <a:buNone/>
            </a:pPr>
            <a:r>
              <a:rPr lang="en-US" sz="1300" dirty="0">
                <a:solidFill>
                  <a:schemeClr val="tx1"/>
                </a:solidFill>
              </a:rPr>
              <a:t>Role-based training for researchers, reviewers and administrators.</a:t>
            </a:r>
            <a:endParaRPr lang="en-US" sz="1300" dirty="0"/>
          </a:p>
        </p:txBody>
      </p:sp>
      <p:sp>
        <p:nvSpPr>
          <p:cNvPr id="25" name="Shape 19"/>
          <p:cNvSpPr/>
          <p:nvPr/>
        </p:nvSpPr>
        <p:spPr>
          <a:xfrm>
            <a:off x="9738360" y="1874520"/>
            <a:ext cx="914400" cy="914400"/>
          </a:xfrm>
          <a:prstGeom prst="ellipse">
            <a:avLst/>
          </a:prstGeom>
          <a:solidFill>
            <a:srgbClr val="7E5BB5"/>
          </a:solidFill>
          <a:ln w="12700">
            <a:solidFill>
              <a:srgbClr val="7E5BB5"/>
            </a:solidFill>
            <a:prstDash val="solid"/>
          </a:ln>
        </p:spPr>
      </p:sp>
      <p:pic>
        <p:nvPicPr>
          <p:cNvPr id="26" name="Image 4" descr="preencoded.png">    </p:cNvPr>
          <p:cNvPicPr>
            <a:picLocks noChangeAspect="1"/>
          </p:cNvPicPr>
          <p:nvPr/>
        </p:nvPicPr>
        <p:blipFill>
          <a:blip r:embed="rId5"/>
          <a:stretch>
            <a:fillRect/>
          </a:stretch>
        </p:blipFill>
        <p:spPr>
          <a:xfrm>
            <a:off x="9957816" y="2093976"/>
            <a:ext cx="475488" cy="475488"/>
          </a:xfrm>
          <a:prstGeom prst="rect">
            <a:avLst/>
          </a:prstGeom>
        </p:spPr>
      </p:pic>
      <p:sp>
        <p:nvSpPr>
          <p:cNvPr id="27" name="Text 20"/>
          <p:cNvSpPr txBox="1"/>
          <p:nvPr/>
        </p:nvSpPr>
        <p:spPr>
          <a:xfrm>
            <a:off x="9738360" y="2971800"/>
            <a:ext cx="1828800" cy="274320"/>
          </a:xfrm>
          <a:prstGeom prst="rect">
            <a:avLst/>
          </a:prstGeom>
          <a:noFill/>
          <a:ln/>
        </p:spPr>
        <p:txBody>
          <a:bodyPr wrap="square" lIns="0" tIns="0" rIns="0" bIns="0" rtlCol="0" anchor="ctr"/>
          <a:lstStyle/>
          <a:p>
            <a:pPr indent="0" marL="0">
              <a:buNone/>
            </a:pPr>
            <a:r>
              <a:rPr lang="en-US" sz="1100" b="1" spc="100" kern="0" dirty="0">
                <a:solidFill>
                  <a:srgbClr val="5E5C78"/>
                </a:solidFill>
              </a:rPr>
              <a:t>PHASE 5</a:t>
            </a:r>
            <a:endParaRPr lang="en-US" sz="1100" dirty="0"/>
          </a:p>
        </p:txBody>
      </p:sp>
      <p:sp>
        <p:nvSpPr>
          <p:cNvPr id="28" name="Text 21"/>
          <p:cNvSpPr txBox="1"/>
          <p:nvPr/>
        </p:nvSpPr>
        <p:spPr>
          <a:xfrm>
            <a:off x="9738360" y="3246120"/>
            <a:ext cx="1828800" cy="411480"/>
          </a:xfrm>
          <a:prstGeom prst="rect">
            <a:avLst/>
          </a:prstGeom>
          <a:noFill/>
          <a:ln/>
        </p:spPr>
        <p:txBody>
          <a:bodyPr wrap="square" lIns="0" tIns="0" rIns="0" bIns="0" rtlCol="0" anchor="ctr"/>
          <a:lstStyle/>
          <a:p>
            <a:pPr indent="0" marL="0">
              <a:buNone/>
            </a:pPr>
            <a:r>
              <a:rPr lang="en-US" sz="1800" b="1" dirty="0">
                <a:solidFill>
                  <a:schemeClr val="tx2"/>
                </a:solidFill>
              </a:rPr>
              <a:t>Go live</a:t>
            </a:r>
            <a:endParaRPr lang="en-US" sz="1800" dirty="0"/>
          </a:p>
        </p:txBody>
      </p:sp>
      <p:sp>
        <p:nvSpPr>
          <p:cNvPr id="29" name="Text 22"/>
          <p:cNvSpPr txBox="1"/>
          <p:nvPr/>
        </p:nvSpPr>
        <p:spPr>
          <a:xfrm>
            <a:off x="9738360" y="3703320"/>
            <a:ext cx="1783080" cy="1097280"/>
          </a:xfrm>
          <a:prstGeom prst="rect">
            <a:avLst/>
          </a:prstGeom>
          <a:noFill/>
          <a:ln/>
        </p:spPr>
        <p:txBody>
          <a:bodyPr wrap="square" lIns="0" tIns="0" rIns="0" bIns="0" rtlCol="0" anchor="t"/>
          <a:lstStyle/>
          <a:p>
            <a:pPr indent="0" marL="0">
              <a:buNone/>
            </a:pPr>
            <a:r>
              <a:rPr lang="en-US" sz="1300" dirty="0">
                <a:solidFill>
                  <a:schemeClr val="tx1"/>
                </a:solidFill>
              </a:rPr>
              <a:t>Launch with support, then review adoption and analytics together.</a:t>
            </a:r>
            <a:endParaRPr lang="en-US" sz="1300" dirty="0"/>
          </a:p>
        </p:txBody>
      </p:sp>
      <p:sp>
        <p:nvSpPr>
          <p:cNvPr id="30" name="Support note"/>
          <p:cNvSpPr/>
          <p:nvPr/>
        </p:nvSpPr>
        <p:spPr>
          <a:xfrm>
            <a:off x="548640" y="5074920"/>
            <a:ext cx="11064240" cy="914400"/>
          </a:xfrm>
          <a:prstGeom prst="roundRect">
            <a:avLst>
              <a:gd name="adj" fmla="val 10000"/>
            </a:avLst>
          </a:prstGeom>
          <a:solidFill>
            <a:srgbClr val="EFEAF8"/>
          </a:solidFill>
          <a:ln w="9525">
            <a:solidFill>
              <a:srgbClr val="C9B9E8"/>
            </a:solidFill>
            <a:prstDash val="solid"/>
          </a:ln>
        </p:spPr>
      </p:sp>
      <p:sp>
        <p:nvSpPr>
          <p:cNvPr id="31" name="Text 24"/>
          <p:cNvSpPr txBox="1"/>
          <p:nvPr/>
        </p:nvSpPr>
        <p:spPr>
          <a:xfrm>
            <a:off x="777240" y="5120640"/>
            <a:ext cx="10607040" cy="822960"/>
          </a:xfrm>
          <a:prstGeom prst="rect">
            <a:avLst/>
          </a:prstGeom>
          <a:noFill/>
          <a:ln/>
        </p:spPr>
        <p:txBody>
          <a:bodyPr wrap="square" lIns="0" tIns="0" rIns="0" bIns="0" rtlCol="0" anchor="ctr"/>
          <a:lstStyle/>
          <a:p>
            <a:pPr indent="0" marL="0">
              <a:buNone/>
            </a:pPr>
            <a:r>
              <a:rPr lang="en-US" sz="1500" b="1" dirty="0">
                <a:solidFill>
                  <a:srgbClr val="7E5BB5"/>
                </a:solidFill>
              </a:rPr>
              <a:t>Included: </a:t>
            </a:r>
            <a:pPr indent="0" marL="0">
              <a:buNone/>
            </a:pPr>
            <a:r>
              <a:rPr lang="en-US" sz="1500" dirty="0">
                <a:solidFill>
                  <a:schemeClr val="tx2"/>
                </a:solidFill>
              </a:rPr>
              <a:t>onboarding support, user guides and handbook, multilingual interface, and regular product updates — including new AI features as they ship.</a:t>
            </a:r>
            <a:endParaRPr lang="en-US"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C7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200" b="1" dirty="0">
                <a:solidFill>
                  <a:schemeClr val="bg1"/>
                </a:solidFill>
              </a:rPr>
              <a:t>Let's get started</a:t>
            </a:r>
            <a:endParaRPr lang="en-US" sz="3200" dirty="0"/>
          </a:p>
        </p:txBody>
      </p:sp>
      <p:sp>
        <p:nvSpPr>
          <p:cNvPr id="3" name="Text 1"/>
          <p:cNvSpPr txBox="1"/>
          <p:nvPr/>
        </p:nvSpPr>
        <p:spPr>
          <a:xfrm>
            <a:off x="548640" y="1143000"/>
            <a:ext cx="10972800" cy="457200"/>
          </a:xfrm>
          <a:prstGeom prst="rect">
            <a:avLst/>
          </a:prstGeom>
          <a:noFill/>
          <a:ln/>
        </p:spPr>
        <p:txBody>
          <a:bodyPr wrap="square" lIns="0" tIns="0" rIns="0" bIns="0" rtlCol="0" anchor="ctr"/>
          <a:lstStyle/>
          <a:p>
            <a:pPr indent="0" marL="0">
              <a:buNone/>
            </a:pPr>
            <a:r>
              <a:rPr lang="en-US" sz="1800" dirty="0">
                <a:solidFill>
                  <a:srgbClr val="D6D2EA"/>
                </a:solidFill>
              </a:rPr>
              <a:t>A low-risk path from first look to institution-wide rollout.</a:t>
            </a:r>
            <a:endParaRPr lang="en-US" sz="1800" dirty="0"/>
          </a:p>
        </p:txBody>
      </p:sp>
      <p:sp>
        <p:nvSpPr>
          <p:cNvPr id="4" name="Step 1"/>
          <p:cNvSpPr/>
          <p:nvPr/>
        </p:nvSpPr>
        <p:spPr>
          <a:xfrm>
            <a:off x="548640" y="2011680"/>
            <a:ext cx="3566160" cy="2651760"/>
          </a:xfrm>
          <a:prstGeom prst="roundRect">
            <a:avLst>
              <a:gd name="adj" fmla="val 4138"/>
            </a:avLst>
          </a:prstGeom>
          <a:solidFill>
            <a:srgbClr val="2A2852"/>
          </a:solidFill>
          <a:ln w="9525">
            <a:solidFill>
              <a:srgbClr val="3A3768"/>
            </a:solidFill>
            <a:prstDash val="solid"/>
          </a:ln>
        </p:spPr>
      </p:sp>
      <p:sp>
        <p:nvSpPr>
          <p:cNvPr id="5" name="Shape 3"/>
          <p:cNvSpPr/>
          <p:nvPr/>
        </p:nvSpPr>
        <p:spPr>
          <a:xfrm>
            <a:off x="822960" y="2286000"/>
            <a:ext cx="731520" cy="731520"/>
          </a:xfrm>
          <a:prstGeom prst="ellipse">
            <a:avLst/>
          </a:prstGeom>
          <a:solidFill>
            <a:srgbClr val="7E5BB5"/>
          </a:solidFill>
          <a:ln w="12700">
            <a:solidFill>
              <a:srgbClr val="7E5BB5"/>
            </a:solidFill>
            <a:prstDash val="solid"/>
          </a:ln>
        </p:spPr>
      </p:sp>
      <p:sp>
        <p:nvSpPr>
          <p:cNvPr id="6" name="Text 4"/>
          <p:cNvSpPr txBox="1"/>
          <p:nvPr/>
        </p:nvSpPr>
        <p:spPr>
          <a:xfrm>
            <a:off x="822960" y="22860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7" name="Text 5"/>
          <p:cNvSpPr txBox="1"/>
          <p:nvPr/>
        </p:nvSpPr>
        <p:spPr>
          <a:xfrm>
            <a:off x="822960" y="3200400"/>
            <a:ext cx="3017520" cy="411480"/>
          </a:xfrm>
          <a:prstGeom prst="rect">
            <a:avLst/>
          </a:prstGeom>
          <a:noFill/>
          <a:ln/>
        </p:spPr>
        <p:txBody>
          <a:bodyPr wrap="square" lIns="0" tIns="0" rIns="0" bIns="0" rtlCol="0" anchor="ctr"/>
          <a:lstStyle/>
          <a:p>
            <a:pPr indent="0" marL="0">
              <a:buNone/>
            </a:pPr>
            <a:r>
              <a:rPr lang="en-US" sz="2000" b="1" dirty="0">
                <a:solidFill>
                  <a:srgbClr val="FFFFFF"/>
                </a:solidFill>
              </a:rPr>
              <a:t>Tailored demo</a:t>
            </a:r>
            <a:endParaRPr lang="en-US" sz="2000" dirty="0"/>
          </a:p>
        </p:txBody>
      </p:sp>
      <p:sp>
        <p:nvSpPr>
          <p:cNvPr id="8" name="Text 6"/>
          <p:cNvSpPr txBox="1"/>
          <p:nvPr/>
        </p:nvSpPr>
        <p:spPr>
          <a:xfrm>
            <a:off x="822960" y="3657600"/>
            <a:ext cx="3017520" cy="914400"/>
          </a:xfrm>
          <a:prstGeom prst="rect">
            <a:avLst/>
          </a:prstGeom>
          <a:noFill/>
          <a:ln/>
        </p:spPr>
        <p:txBody>
          <a:bodyPr wrap="square" lIns="0" tIns="0" rIns="0" bIns="0" rtlCol="0" anchor="t"/>
          <a:lstStyle/>
          <a:p>
            <a:pPr indent="0" marL="0">
              <a:buNone/>
            </a:pPr>
            <a:r>
              <a:rPr lang="en-US" sz="1400" dirty="0">
                <a:solidFill>
                  <a:srgbClr val="E4E1F3"/>
                </a:solidFill>
              </a:rPr>
              <a:t>A walkthrough on your own workflows: proposals, ethics, trials or grants.</a:t>
            </a:r>
            <a:endParaRPr lang="en-US" sz="1400" dirty="0"/>
          </a:p>
        </p:txBody>
      </p:sp>
      <p:sp>
        <p:nvSpPr>
          <p:cNvPr id="9" name="Step 2"/>
          <p:cNvSpPr/>
          <p:nvPr/>
        </p:nvSpPr>
        <p:spPr>
          <a:xfrm>
            <a:off x="4297680" y="2011680"/>
            <a:ext cx="3566160" cy="2651760"/>
          </a:xfrm>
          <a:prstGeom prst="roundRect">
            <a:avLst>
              <a:gd name="adj" fmla="val 4138"/>
            </a:avLst>
          </a:prstGeom>
          <a:solidFill>
            <a:srgbClr val="2A2852"/>
          </a:solidFill>
          <a:ln w="9525">
            <a:solidFill>
              <a:srgbClr val="3A3768"/>
            </a:solidFill>
            <a:prstDash val="solid"/>
          </a:ln>
        </p:spPr>
      </p:sp>
      <p:sp>
        <p:nvSpPr>
          <p:cNvPr id="10" name="Shape 8"/>
          <p:cNvSpPr/>
          <p:nvPr/>
        </p:nvSpPr>
        <p:spPr>
          <a:xfrm>
            <a:off x="4572000" y="2286000"/>
            <a:ext cx="731520" cy="731520"/>
          </a:xfrm>
          <a:prstGeom prst="ellipse">
            <a:avLst/>
          </a:prstGeom>
          <a:solidFill>
            <a:srgbClr val="2A9DC0"/>
          </a:solidFill>
          <a:ln w="12700">
            <a:solidFill>
              <a:srgbClr val="2A9DC0"/>
            </a:solidFill>
            <a:prstDash val="solid"/>
          </a:ln>
        </p:spPr>
      </p:sp>
      <p:sp>
        <p:nvSpPr>
          <p:cNvPr id="11" name="Text 9"/>
          <p:cNvSpPr txBox="1"/>
          <p:nvPr/>
        </p:nvSpPr>
        <p:spPr>
          <a:xfrm>
            <a:off x="4572000" y="22860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2" name="Text 10"/>
          <p:cNvSpPr txBox="1"/>
          <p:nvPr/>
        </p:nvSpPr>
        <p:spPr>
          <a:xfrm>
            <a:off x="4572000" y="3200400"/>
            <a:ext cx="3017520" cy="411480"/>
          </a:xfrm>
          <a:prstGeom prst="rect">
            <a:avLst/>
          </a:prstGeom>
          <a:noFill/>
          <a:ln/>
        </p:spPr>
        <p:txBody>
          <a:bodyPr wrap="square" lIns="0" tIns="0" rIns="0" bIns="0" rtlCol="0" anchor="ctr"/>
          <a:lstStyle/>
          <a:p>
            <a:pPr indent="0" marL="0">
              <a:buNone/>
            </a:pPr>
            <a:r>
              <a:rPr lang="en-US" sz="2000" b="1" dirty="0">
                <a:solidFill>
                  <a:srgbClr val="FFFFFF"/>
                </a:solidFill>
              </a:rPr>
              <a:t>Pilot</a:t>
            </a:r>
            <a:endParaRPr lang="en-US" sz="2000" dirty="0"/>
          </a:p>
        </p:txBody>
      </p:sp>
      <p:sp>
        <p:nvSpPr>
          <p:cNvPr id="13" name="Text 11"/>
          <p:cNvSpPr txBox="1"/>
          <p:nvPr/>
        </p:nvSpPr>
        <p:spPr>
          <a:xfrm>
            <a:off x="4572000" y="3657600"/>
            <a:ext cx="3017520" cy="914400"/>
          </a:xfrm>
          <a:prstGeom prst="rect">
            <a:avLst/>
          </a:prstGeom>
          <a:noFill/>
          <a:ln/>
        </p:spPr>
        <p:txBody>
          <a:bodyPr wrap="square" lIns="0" tIns="0" rIns="0" bIns="0" rtlCol="0" anchor="t"/>
          <a:lstStyle/>
          <a:p>
            <a:pPr indent="0" marL="0">
              <a:buNone/>
            </a:pPr>
            <a:r>
              <a:rPr lang="en-US" sz="1400" dirty="0">
                <a:solidFill>
                  <a:srgbClr val="E4E1F3"/>
                </a:solidFill>
              </a:rPr>
              <a:t>One department or research unit, with your data imported and users onboarded.</a:t>
            </a:r>
            <a:endParaRPr lang="en-US" sz="1400" dirty="0"/>
          </a:p>
        </p:txBody>
      </p:sp>
      <p:sp>
        <p:nvSpPr>
          <p:cNvPr id="14" name="Step 3"/>
          <p:cNvSpPr/>
          <p:nvPr/>
        </p:nvSpPr>
        <p:spPr>
          <a:xfrm>
            <a:off x="8046720" y="2011680"/>
            <a:ext cx="3566160" cy="2651760"/>
          </a:xfrm>
          <a:prstGeom prst="roundRect">
            <a:avLst>
              <a:gd name="adj" fmla="val 4138"/>
            </a:avLst>
          </a:prstGeom>
          <a:solidFill>
            <a:srgbClr val="2A2852"/>
          </a:solidFill>
          <a:ln w="9525">
            <a:solidFill>
              <a:srgbClr val="3A3768"/>
            </a:solidFill>
            <a:prstDash val="solid"/>
          </a:ln>
        </p:spPr>
      </p:sp>
      <p:sp>
        <p:nvSpPr>
          <p:cNvPr id="15" name="Shape 13"/>
          <p:cNvSpPr/>
          <p:nvPr/>
        </p:nvSpPr>
        <p:spPr>
          <a:xfrm>
            <a:off x="8321040" y="2286000"/>
            <a:ext cx="731520" cy="731520"/>
          </a:xfrm>
          <a:prstGeom prst="ellipse">
            <a:avLst/>
          </a:prstGeom>
          <a:solidFill>
            <a:srgbClr val="7E5BB5"/>
          </a:solidFill>
          <a:ln w="12700">
            <a:solidFill>
              <a:srgbClr val="7E5BB5"/>
            </a:solidFill>
            <a:prstDash val="solid"/>
          </a:ln>
        </p:spPr>
      </p:sp>
      <p:sp>
        <p:nvSpPr>
          <p:cNvPr id="16" name="Text 14"/>
          <p:cNvSpPr txBox="1"/>
          <p:nvPr/>
        </p:nvSpPr>
        <p:spPr>
          <a:xfrm>
            <a:off x="8321040" y="22860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7" name="Text 15"/>
          <p:cNvSpPr txBox="1"/>
          <p:nvPr/>
        </p:nvSpPr>
        <p:spPr>
          <a:xfrm>
            <a:off x="8321040" y="3200400"/>
            <a:ext cx="3017520" cy="411480"/>
          </a:xfrm>
          <a:prstGeom prst="rect">
            <a:avLst/>
          </a:prstGeom>
          <a:noFill/>
          <a:ln/>
        </p:spPr>
        <p:txBody>
          <a:bodyPr wrap="square" lIns="0" tIns="0" rIns="0" bIns="0" rtlCol="0" anchor="ctr"/>
          <a:lstStyle/>
          <a:p>
            <a:pPr indent="0" marL="0">
              <a:buNone/>
            </a:pPr>
            <a:r>
              <a:rPr lang="en-US" sz="2000" b="1" dirty="0">
                <a:solidFill>
                  <a:srgbClr val="FFFFFF"/>
                </a:solidFill>
              </a:rPr>
              <a:t>Rollout</a:t>
            </a:r>
            <a:endParaRPr lang="en-US" sz="2000" dirty="0"/>
          </a:p>
        </p:txBody>
      </p:sp>
      <p:sp>
        <p:nvSpPr>
          <p:cNvPr id="18" name="Text 16"/>
          <p:cNvSpPr txBox="1"/>
          <p:nvPr/>
        </p:nvSpPr>
        <p:spPr>
          <a:xfrm>
            <a:off x="8321040" y="3657600"/>
            <a:ext cx="3017520" cy="914400"/>
          </a:xfrm>
          <a:prstGeom prst="rect">
            <a:avLst/>
          </a:prstGeom>
          <a:noFill/>
          <a:ln/>
        </p:spPr>
        <p:txBody>
          <a:bodyPr wrap="square" lIns="0" tIns="0" rIns="0" bIns="0" rtlCol="0" anchor="t"/>
          <a:lstStyle/>
          <a:p>
            <a:pPr indent="0" marL="0">
              <a:buNone/>
            </a:pPr>
            <a:r>
              <a:rPr lang="en-US" sz="1400" dirty="0">
                <a:solidFill>
                  <a:srgbClr val="E4E1F3"/>
                </a:solidFill>
              </a:rPr>
              <a:t>Institution-wide launch, training and integration with your identity and reporting needs.</a:t>
            </a:r>
            <a:endParaRPr lang="en-US" sz="1400" dirty="0"/>
          </a:p>
        </p:txBody>
      </p:sp>
      <p:pic>
        <p:nvPicPr>
          <p:cNvPr id="19" name="Image 0" descr="/home/claude/deck/img/hospitium-logo-dark.png">    </p:cNvPr>
          <p:cNvPicPr>
            <a:picLocks noChangeAspect="1"/>
          </p:cNvPicPr>
          <p:nvPr/>
        </p:nvPicPr>
        <p:blipFill>
          <a:blip r:embed="rId1"/>
          <a:stretch>
            <a:fillRect/>
          </a:stretch>
        </p:blipFill>
        <p:spPr>
          <a:xfrm>
            <a:off x="548640" y="5257800"/>
            <a:ext cx="2194560" cy="507492"/>
          </a:xfrm>
          <a:prstGeom prst="rect">
            <a:avLst/>
          </a:prstGeom>
        </p:spPr>
      </p:pic>
      <p:sp>
        <p:nvSpPr>
          <p:cNvPr id="20" name="Text 17"/>
          <p:cNvSpPr txBox="1"/>
          <p:nvPr/>
        </p:nvSpPr>
        <p:spPr>
          <a:xfrm>
            <a:off x="3108960" y="5166360"/>
            <a:ext cx="8503920" cy="731520"/>
          </a:xfrm>
          <a:prstGeom prst="rect">
            <a:avLst/>
          </a:prstGeom>
          <a:noFill/>
          <a:ln/>
        </p:spPr>
        <p:txBody>
          <a:bodyPr wrap="square" lIns="0" tIns="0" rIns="0" bIns="0" rtlCol="0" anchor="ctr"/>
          <a:lstStyle/>
          <a:p>
            <a:pPr indent="0" marL="0">
              <a:buNone/>
            </a:pPr>
            <a:r>
              <a:rPr lang="en-US" sz="1500" b="1" dirty="0">
                <a:solidFill>
                  <a:srgbClr val="FFFFFF"/>
                </a:solidFill>
              </a:rPr>
              <a:t>hospitium.hospitiumris.org</a:t>
            </a:r>
            <a:endParaRPr lang="en-US" sz="1500" dirty="0"/>
          </a:p>
          <a:p>
            <a:pPr indent="0" marL="0">
              <a:buNone/>
            </a:pPr>
            <a:r>
              <a:rPr lang="en-US" sz="1500" dirty="0">
                <a:solidFill>
                  <a:srgbClr val="A9A5C6"/>
                </a:solidFill>
              </a:rPr>
              <a:t>Developed by TCC Africa — Training Centre in Communication</a:t>
            </a:r>
            <a:endParaRPr lang="en-US" sz="1500" dirty="0"/>
          </a:p>
        </p:txBody>
      </p:sp>
    </p:spTree>
  </p:cSld>
  <p:clrMapOvr>
    <a:masterClrMapping/>
  </p:clrMapOvr>
</p:sld>
</file>

<file path=ppt/theme/theme1.xml><?xml version="1.0" encoding="utf-8"?>
<a:theme xmlns:a="http://schemas.openxmlformats.org/drawingml/2006/main" name="HospitiumRIS">
  <a:themeElements>
    <a:clrScheme name="HospitiumRIS">
      <a:dk1>
        <a:srgbClr val="22213A"/>
      </a:dk1>
      <a:lt1>
        <a:srgbClr val="FFFFFF"/>
      </a:lt1>
      <a:dk2>
        <a:srgbClr val="1C1B3A"/>
      </a:dk2>
      <a:lt2>
        <a:srgbClr val="F6F4FB"/>
      </a:lt2>
      <a:accent1>
        <a:srgbClr val="7E5BB5"/>
      </a:accent1>
      <a:accent2>
        <a:srgbClr val="2A9DC0"/>
      </a:accent2>
      <a:accent3>
        <a:srgbClr val="C2508F"/>
      </a:accent3>
      <a:accent4>
        <a:srgbClr val="F2A541"/>
      </a:accent4>
      <a:accent5>
        <a:srgbClr val="4CAF7D"/>
      </a:accent5>
      <a:accent6>
        <a:srgbClr val="5E5C78"/>
      </a:accent6>
      <a:hlink>
        <a:srgbClr val="2A9DC0"/>
      </a:hlink>
      <a:folHlink>
        <a:srgbClr val="7E5BB5"/>
      </a:folHlink>
    </a:clrScheme>
    <a:fontScheme name="HospitiumR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HospitiumRIS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HospitiumRIS — Client Pitch</dc:title>
  <dc:subject>PptxGenJS Presentation</dc:subject>
  <dc:creator>HospitiumRIS</dc:creator>
  <cp:lastModifiedBy>HospitiumRIS</cp:lastModifiedBy>
  <cp:revision>1</cp:revision>
  <dcterms:created xsi:type="dcterms:W3CDTF">2026-10-14T15:53:32Z</dcterms:created>
  <dcterms:modified xsi:type="dcterms:W3CDTF">2026-10-14T15:53:32Z</dcterms:modified>
</cp:coreProperties>
</file>