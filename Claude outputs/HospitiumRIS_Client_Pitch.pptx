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89ac6ff-233d-b7fd-854f-a55e67ea5dd8}">
          <p14:sldIdLst>
            <p14:sldId id="256"/>
            <p14:sldId id="257"/>
          </p14:sldIdLst>
        </p14:section>
        <p14:section name="Why it matters" id="{7d19df26-8fee-3e99-196b-cf5c4614727e}">
          <p14:sldIdLst>
            <p14:sldId id="258"/>
            <p14:sldId id="259"/>
            <p14:sldId id="260"/>
            <p14:sldId id="261"/>
          </p14:sldIdLst>
        </p14:section>
        <p14:section name="Product tour" id="{371dc5c3-9df6-c6c4-c3fc-312fd4209ff5}">
          <p14:sldIdLst>
            <p14:sldId id="262"/>
            <p14:sldId id="263"/>
            <p14:sldId id="264"/>
            <p14:sldId id="265"/>
            <p14:sldId id="266"/>
            <p14:sldId id="267"/>
          </p14:sldIdLst>
        </p14:section>
        <p14:section name="AI integration" id="{d195dbd7-3e7d-6eb9-3c58-b6ab6ce1d66a}">
          <p14:sldIdLst>
            <p14:sldId id="268"/>
            <p14:sldId id="269"/>
            <p14:sldId id="270"/>
            <p14:sldId id="271"/>
            <p14:sldId id="272"/>
            <p14:sldId id="273"/>
          </p14:sldIdLst>
        </p14:section>
        <p14:section name="Trust &amp; next steps" id="{e95d7435-5556-341a-5939-a85f1851aea6}">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headline: HospitiumRIS is a Research Information System built specifically for hospitals, medical schools and health research organisations. Developed by TCC Africa, it brings proposals, ethics, grants, clinical trials, manuscripts, publications and impact reporting into one platform. Today I will show you the problems it solves, who it serves, and the product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for the session: about 30 to 40 minutes, with a live demo optional after the product tour. Call out section 4 — AI integration — as something most research information systems do not offer out of the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prospect which of these they recognise. Most teaching hospitals and universities experience all five: data spread across departments, reports compiled manually, poor visibility of outputs, ethics and compliance tracked on paper or spreadsheets, and no single source of truth about their researchers. Pause here and let them describe their own version of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message. HospitiumRIS covers the full lifecycle: an idea becomes a proposal, gets ethics approval, gets funded, runs as a project or clinical trial, is written up collaboratively, is published, and its impact is measured. Because it all happens in one system, the institution gets three outcomes: everything is centralised, compliance is built in rather than bolted on, and research output becomes visible to funders, partners and leadership.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Tailor this slide to the room. For a university, lead with the research office. For a hospital, lead with clinical trials and ethics. For a foundation, lead with grants and impact. Emphasise that all four roles work on the same data, which is what removes duplicate entry and reporting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the architecture in business terms. There is one research record at the centre — people, projects, proposals, ethics, trials, grants, manuscripts, publications and datasets. Each audience gets its own portal on top of that record, with permissions that control what they see. The AI layer reads from the same record to produce summaries and insights, so it always works on current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researcher home screen. Point out the personalised greeting, the research analytics chart, and project health on the right. Researchers can rearrange widgets and the layout is remembered. The interface is available in 19 languages, which matters for multi-country networks and francophone or lusophone 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researcher gets a profile that fills itself from their publications and ORCID record. They can export an academic CV for grant applications and share a public profile link. For the institution, this becomes a searchable directory of expertise — useful for finding reviewers, collaborators and principal investigators.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Researchers can pull in their entire publication record in minutes from PubMed, Crossref, OpenAlex and Research4Life, or upload existing libraries from EndNote, Mendeley, Zotero or BibTeX. Duplicates are matched by DOI. For the institution, this means a complete, clean publications register with no manual data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Manuscripts are co-authored inside HospitiumRIS, so drafts stop living in email attachments. Collaborators are invited by ORCID or email with role-based permissions, see each other online, and use track changes, comments and version history. Citations come straight from the publication library. When a paper is ready, it moves into review and, once published, links back to the proposal and project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researcher view of proposals, with status, review pipeline and budget. Right: the foundation or research-office view of internal grant requests moving through intake, review and final decision. Review stages are configurable per institution. Every decision is recorded, which gives leadership and funders a clean audit trail and makes it easy to see where proposals are stuck.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hospitals and clinical research units this is often the deciding slide. Ethics applications are submitted and reviewed online, with reference numbers, conditions and expiry dates tracked automatically. Clinical trials can be exported in the formats required by ClinicalTrials.gov, the Pan African Clinical Trials Registry and WHO ICTRP. Image integrity screening helps the institution catch problems before a paper goes out, protecting its reputation.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AI as a theme that runs through the platform rather than a separate product. Six capabilities are live today: AI publication summaries with keyword extraction; AI insights on the impact, compliance and project dashboards; automated image-integrity detection through the ImaChek integration; and automated pre-review checks that screen submissions before a human reviewer sees them. The next slides show these in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point: open any publication and click the AI Preview icon. HospitiumRIS sends the title and abstract to the configured AI model and returns a structured summary with key findings and extracted keywords. This helps research offices report on outputs, helps communications teams write news items, and helps leadership understand work outside their own specialty. Summaries are clearly labelled as AI-generated. (The summary shown here is illustrative demo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Dashboards usually show numbers and leave people to interpret them. HospitiumRIS adds an AI insights panel to the impact, compliance and projects dashboards. It reads the user's own metrics and returns a short narrative, specific recommendations and a priority to act on. If the AI service is unavailable, the platform falls back to rule-based insights automatically. (Insight text shown is illustrative demo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 institutions will ask how AI handles their data. Explain the flow: HospitiumRIS sends only what each task needs — for summaries, a publication title and abstract; for dashboards, aggregated metrics — never patient records. The institution supplies its own API keys and can choose Google Gemini or OpenAI, or disable AI. Outputs are labelled and advisory: people make every decision. If the model is unavailable, rule-based insights keep the platform working. Confirm specifics against your data-protection policy before committing to them in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about what is live and what is planned. Everything in the first column is in the product today. The Next and Later columns are the direction of travel — a writing assistant in the editor, pre-screening proposals against funder criteria, matching reviewers and grant opportunities, and eventually letting leadership ask plain-language questions of their research data. Invite the prospect to influence priorities as a pilot partner. Adjust these columns to match the current product roadmap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leadership view. Trial intelligence shows enrolment against targets, the mix of trials by phase, success rates, how often trials lead to publications, and where funding comes from. These are the numbers boards, ministries and funders ask for, available on demand and exportable. (Figures shown are demo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Address the technical and procurement questions early. HospitiumRIS is built on persistent identifiers (ORCID for people, Crossref for publications, DataCite for datasets), so the institution's data stays interoperable. Access is role-based, institutional email domains are verified, and activity is logged for audit. It can be hosted for the client or deployed on their own infrastructure with Docker, and supports multiple institutions under one central administration.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rows the prospect cares about most rather than reading every line. The theme is the same in each row: work that today depends on manual effort and individual memory becomes a shared, live system. This is where the return on investment comes from — less administrative time, faster approvals, and better funder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phases. Discover: we map their current workflows and forms. Configure: roles, review pipelines and verified domains. Migrate: publications are imported automatically from PubMed, Crossref and OpenAlex, and active proposals and approvals are brought across. Train: short role-based sessions. Go live: launch with support and review adoption together. Adjust timeframes and what is included to match your commercial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a clear ask. Propose a tailored demo using the prospect's own workflows, then a pilot with one department or research unit, then institution-wide rollout. Agree on the pilot scope and a date for the demo before leaving the meeting. Add your own contact details and any commercial terms before sending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_CONTENT">
    <p:bg>
      <p:bgPr>
        <a:solidFill>
          <a:srgbClr val="FFFFFF"/>
        </a:solidFill>
      </p:bgPr>
    </p:bg>
    <p:spTree>
      <p:nvGrpSpPr>
        <p:cNvPr id="1" name=""/>
        <p:cNvGrpSpPr/>
        <p:nvPr/>
      </p:nvGrpSpPr>
      <p:grpSpPr>
        <a:xfrm>
          <a:off x="0" y="0"/>
          <a:ext cx="0" cy="0"/>
          <a:chOff x="0" y="0"/>
          <a:chExt cx="0" cy="0"/>
        </a:xfrm>
      </p:grpSpPr>
      <p:pic>
        <p:nvPicPr>
          <p:cNvPr id="2" name="Image 0" descr="/home/claude/deck/img/hospitium-logo.png">    </p:cNvPr>
          <p:cNvPicPr>
            <a:picLocks noChangeAspect="1"/>
          </p:cNvPicPr>
          <p:nvPr/>
        </p:nvPicPr>
        <p:blipFill>
          <a:blip r:embed="rId1"/>
          <a:stretch>
            <a:fillRect/>
          </a:stretch>
        </p:blipFill>
        <p:spPr>
          <a:xfrm>
            <a:off x="10378440" y="6382512"/>
            <a:ext cx="1280160" cy="274320"/>
          </a:xfrm>
          <a:prstGeom prst="rect">
            <a:avLst/>
          </a:prstGeom>
        </p:spPr>
      </p:pic>
      <p:sp>
        <p:nvSpPr>
          <p:cNvPr id="3" name="Text 0"/>
          <p:cNvSpPr/>
          <p:nvPr>
            <p:ph idx="101" type="title" hasCustomPrompt="1"/>
          </p:nvPr>
        </p:nvSpPr>
        <p:spPr>
          <a:xfrm>
            <a:off x="548640" y="365760"/>
            <a:ext cx="11064240"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C78"/>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C1B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C7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2.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slideLayout" Target="../slideLayouts/slideLayout2.xml"/><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2.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claude/deck/img/hospitium-logo-dark.png">    </p:cNvPr>
          <p:cNvPicPr>
            <a:picLocks noChangeAspect="1"/>
          </p:cNvPicPr>
          <p:nvPr/>
        </p:nvPicPr>
        <p:blipFill>
          <a:blip r:embed="rId1"/>
          <a:stretch>
            <a:fillRect/>
          </a:stretch>
        </p:blipFill>
        <p:spPr>
          <a:xfrm>
            <a:off x="548640" y="502920"/>
            <a:ext cx="2194560" cy="507492"/>
          </a:xfrm>
          <a:prstGeom prst="rect">
            <a:avLst/>
          </a:prstGeom>
        </p:spPr>
      </p:pic>
      <p:sp>
        <p:nvSpPr>
          <p:cNvPr id="3" name="Text 0"/>
          <p:cNvSpPr txBox="1"/>
          <p:nvPr/>
        </p:nvSpPr>
        <p:spPr>
          <a:xfrm>
            <a:off x="548640" y="1600200"/>
            <a:ext cx="5303520" cy="365760"/>
          </a:xfrm>
          <a:prstGeom prst="rect">
            <a:avLst/>
          </a:prstGeom>
          <a:noFill/>
          <a:ln/>
        </p:spPr>
        <p:txBody>
          <a:bodyPr wrap="square" lIns="0" tIns="0" rIns="0" bIns="0" rtlCol="0" anchor="ctr"/>
          <a:lstStyle/>
          <a:p>
            <a:pPr indent="0" marL="0">
              <a:buNone/>
            </a:pPr>
            <a:r>
              <a:rPr lang="en-US" sz="1100" b="1" spc="200" kern="0" dirty="0">
                <a:solidFill>
                  <a:srgbClr val="9FD8EA"/>
                </a:solidFill>
              </a:rPr>
              <a:t>AI-POWERED RESEARCH INFORMATION SYSTEM</a:t>
            </a:r>
            <a:endParaRPr lang="en-US" sz="1100" dirty="0"/>
          </a:p>
        </p:txBody>
      </p:sp>
      <p:sp>
        <p:nvSpPr>
          <p:cNvPr id="4" name="Text 1"/>
          <p:cNvSpPr txBox="1"/>
          <p:nvPr/>
        </p:nvSpPr>
        <p:spPr>
          <a:xfrm>
            <a:off x="548640" y="2148840"/>
            <a:ext cx="4937760" cy="173736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Transforming Hospital Research Management</a:t>
            </a:r>
            <a:endParaRPr lang="en-US" sz="4000" dirty="0"/>
          </a:p>
        </p:txBody>
      </p:sp>
      <p:sp>
        <p:nvSpPr>
          <p:cNvPr id="5" name="Text 2"/>
          <p:cNvSpPr txBox="1"/>
          <p:nvPr/>
        </p:nvSpPr>
        <p:spPr>
          <a:xfrm>
            <a:off x="548640" y="4160520"/>
            <a:ext cx="4572000" cy="822960"/>
          </a:xfrm>
          <a:prstGeom prst="rect">
            <a:avLst/>
          </a:prstGeom>
          <a:noFill/>
          <a:ln/>
        </p:spPr>
        <p:txBody>
          <a:bodyPr wrap="square" lIns="0" tIns="0" rIns="0" bIns="0" rtlCol="0" anchor="t"/>
          <a:lstStyle/>
          <a:p>
            <a:pPr indent="0" marL="0">
              <a:buNone/>
            </a:pPr>
            <a:r>
              <a:rPr lang="en-US" sz="1600" dirty="0">
                <a:solidFill>
                  <a:srgbClr val="D6D2EA"/>
                </a:solidFill>
              </a:rPr>
              <a:t>One secure platform that takes every study from proposal to publication — and proves its impact.</a:t>
            </a:r>
            <a:endParaRPr lang="en-US" sz="1600" dirty="0"/>
          </a:p>
        </p:txBody>
      </p:sp>
      <p:sp>
        <p:nvSpPr>
          <p:cNvPr id="6" name="Text 3"/>
          <p:cNvSpPr txBox="1"/>
          <p:nvPr/>
        </p:nvSpPr>
        <p:spPr>
          <a:xfrm>
            <a:off x="548640" y="6035040"/>
            <a:ext cx="5486400" cy="320040"/>
          </a:xfrm>
          <a:prstGeom prst="rect">
            <a:avLst/>
          </a:prstGeom>
          <a:noFill/>
          <a:ln/>
        </p:spPr>
        <p:txBody>
          <a:bodyPr wrap="square" lIns="0" tIns="0" rIns="0" bIns="0" rtlCol="0" anchor="ctr"/>
          <a:lstStyle/>
          <a:p>
            <a:pPr indent="0" marL="0">
              <a:buNone/>
            </a:pPr>
            <a:r>
              <a:rPr lang="en-US" sz="1100" dirty="0">
                <a:solidFill>
                  <a:srgbClr val="A9A5C6"/>
                </a:solidFill>
              </a:rPr>
              <a:t>Developed by TCC Africa  ·  hospitium.hospitiumris.org</a:t>
            </a:r>
            <a:endParaRPr lang="en-US" sz="1100" dirty="0"/>
          </a:p>
        </p:txBody>
      </p:sp>
      <p:sp>
        <p:nvSpPr>
          <p:cNvPr id="7" name="Dashboard frame"/>
          <p:cNvSpPr/>
          <p:nvPr/>
        </p:nvSpPr>
        <p:spPr>
          <a:xfrm>
            <a:off x="5989320" y="1417320"/>
            <a:ext cx="5760720" cy="3626403"/>
          </a:xfrm>
          <a:prstGeom prst="roundRect">
            <a:avLst>
              <a:gd name="adj" fmla="val 2017"/>
            </a:avLst>
          </a:prstGeom>
          <a:solidFill>
            <a:srgbClr val="ECEAF2"/>
          </a:solidFill>
          <a:ln w="9525">
            <a:solidFill>
              <a:srgbClr val="DDD8EC"/>
            </a:solidFill>
            <a:prstDash val="solid"/>
          </a:ln>
          <a:effectLst>
            <a:outerShdw sx="100000" sy="100000" kx="0" ky="0" algn="bl" rotWithShape="0" blurRad="152400" dist="50800" dir="5400000">
              <a:srgbClr val="000000">
                <a:alpha val="18000"/>
              </a:srgbClr>
            </a:outerShdw>
          </a:effectLst>
        </p:spPr>
      </p:sp>
      <p:sp>
        <p:nvSpPr>
          <p:cNvPr id="8" name="Shape 5"/>
          <p:cNvSpPr/>
          <p:nvPr/>
        </p:nvSpPr>
        <p:spPr>
          <a:xfrm>
            <a:off x="6117336" y="1490472"/>
            <a:ext cx="91440" cy="91440"/>
          </a:xfrm>
          <a:prstGeom prst="ellipse">
            <a:avLst/>
          </a:prstGeom>
          <a:solidFill>
            <a:srgbClr val="E86B6B"/>
          </a:solidFill>
          <a:ln w="12700">
            <a:solidFill>
              <a:srgbClr val="E86B6B"/>
            </a:solidFill>
            <a:prstDash val="solid"/>
          </a:ln>
        </p:spPr>
      </p:sp>
      <p:sp>
        <p:nvSpPr>
          <p:cNvPr id="9" name="Shape 6"/>
          <p:cNvSpPr/>
          <p:nvPr/>
        </p:nvSpPr>
        <p:spPr>
          <a:xfrm>
            <a:off x="6263640" y="1490472"/>
            <a:ext cx="91440" cy="91440"/>
          </a:xfrm>
          <a:prstGeom prst="ellipse">
            <a:avLst/>
          </a:prstGeom>
          <a:solidFill>
            <a:srgbClr val="F2C14E"/>
          </a:solidFill>
          <a:ln w="12700">
            <a:solidFill>
              <a:srgbClr val="F2C14E"/>
            </a:solidFill>
            <a:prstDash val="solid"/>
          </a:ln>
        </p:spPr>
      </p:sp>
      <p:sp>
        <p:nvSpPr>
          <p:cNvPr id="10" name="Shape 7"/>
          <p:cNvSpPr/>
          <p:nvPr/>
        </p:nvSpPr>
        <p:spPr>
          <a:xfrm>
            <a:off x="6409944" y="1490472"/>
            <a:ext cx="91440" cy="91440"/>
          </a:xfrm>
          <a:prstGeom prst="ellipse">
            <a:avLst/>
          </a:prstGeom>
          <a:solidFill>
            <a:srgbClr val="5DBB7A"/>
          </a:solidFill>
          <a:ln w="12700">
            <a:solidFill>
              <a:srgbClr val="5DBB7A"/>
            </a:solidFill>
            <a:prstDash val="solid"/>
          </a:ln>
        </p:spPr>
      </p:sp>
      <p:pic>
        <p:nvPicPr>
          <p:cNvPr id="11" name="Dashboard screenshot" descr="/home/claude/deck/img/r_dash.png">    </p:cNvPr>
          <p:cNvPicPr>
            <a:picLocks noChangeAspect="1"/>
          </p:cNvPicPr>
          <p:nvPr/>
        </p:nvPicPr>
        <p:blipFill>
          <a:blip r:embed="rId2"/>
          <a:stretch>
            <a:fillRect/>
          </a:stretch>
        </p:blipFill>
        <p:spPr>
          <a:xfrm>
            <a:off x="6016752" y="1655064"/>
            <a:ext cx="5705856" cy="3356386"/>
          </a:xfrm>
          <a:prstGeom prst="rect">
            <a:avLst/>
          </a:prstGeom>
        </p:spPr>
      </p:pic>
      <p:sp>
        <p:nvSpPr>
          <p:cNvPr id="13"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endParaRPr lang="en-US" sz="3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chemeClr val="tx2"/>
                </a:solidFill>
              </a:rPr>
              <a:t>What we will cover</a:t>
            </a:r>
            <a:endParaRPr lang="en-US" sz="3200" dirty="0"/>
          </a:p>
        </p:txBody>
      </p:sp>
      <p:sp>
        <p:nvSpPr>
          <p:cNvPr id="3" name="Agenda 01"/>
          <p:cNvSpPr/>
          <p:nvPr/>
        </p:nvSpPr>
        <p:spPr>
          <a:xfrm>
            <a:off x="548640" y="1463040"/>
            <a:ext cx="5440680" cy="1325880"/>
          </a:xfrm>
          <a:prstGeom prst="roundRect">
            <a:avLst>
              <a:gd name="adj" fmla="val 6897"/>
            </a:avLst>
          </a:prstGeom>
          <a:solidFill>
            <a:srgbClr val="F6F4FB"/>
          </a:solidFill>
          <a:ln w="9525">
            <a:solidFill>
              <a:srgbClr val="DDD8EC"/>
            </a:solidFill>
            <a:prstDash val="solid"/>
          </a:ln>
        </p:spPr>
      </p:sp>
      <p:sp>
        <p:nvSpPr>
          <p:cNvPr id="4" name="Text 2"/>
          <p:cNvSpPr txBox="1"/>
          <p:nvPr/>
        </p:nvSpPr>
        <p:spPr>
          <a:xfrm>
            <a:off x="822960" y="1691640"/>
            <a:ext cx="914400" cy="822960"/>
          </a:xfrm>
          <a:prstGeom prst="rect">
            <a:avLst/>
          </a:prstGeom>
          <a:noFill/>
          <a:ln/>
        </p:spPr>
        <p:txBody>
          <a:bodyPr wrap="square" lIns="0" tIns="0" rIns="0" bIns="0" rtlCol="0" anchor="ctr"/>
          <a:lstStyle/>
          <a:p>
            <a:pPr indent="0" marL="0">
              <a:buNone/>
            </a:pPr>
            <a:r>
              <a:rPr lang="en-US" sz="3600" b="1" dirty="0">
                <a:solidFill>
                  <a:srgbClr val="7E5BB5"/>
                </a:solidFill>
                <a:latin typeface="Arial" pitchFamily="34" charset="0"/>
                <a:ea typeface="Arial" pitchFamily="34" charset="-122"/>
                <a:cs typeface="Arial" pitchFamily="34" charset="-120"/>
              </a:rPr>
              <a:t>01</a:t>
            </a:r>
            <a:endParaRPr lang="en-US" sz="3600" dirty="0"/>
          </a:p>
        </p:txBody>
      </p:sp>
      <p:sp>
        <p:nvSpPr>
          <p:cNvPr id="5" name="Text 3"/>
          <p:cNvSpPr txBox="1"/>
          <p:nvPr/>
        </p:nvSpPr>
        <p:spPr>
          <a:xfrm>
            <a:off x="1874520" y="1664208"/>
            <a:ext cx="3931920" cy="384048"/>
          </a:xfrm>
          <a:prstGeom prst="rect">
            <a:avLst/>
          </a:prstGeom>
          <a:noFill/>
          <a:ln/>
        </p:spPr>
        <p:txBody>
          <a:bodyPr wrap="square" lIns="0" tIns="0" rIns="0" bIns="0" rtlCol="0" anchor="ctr"/>
          <a:lstStyle/>
          <a:p>
            <a:pPr indent="0" marL="0">
              <a:buNone/>
            </a:pPr>
            <a:r>
              <a:rPr lang="en-US" sz="1800" b="1" dirty="0">
                <a:solidFill>
                  <a:schemeClr val="tx2"/>
                </a:solidFill>
              </a:rPr>
              <a:t>The challenge</a:t>
            </a:r>
            <a:endParaRPr lang="en-US" sz="1800" dirty="0"/>
          </a:p>
        </p:txBody>
      </p:sp>
      <p:sp>
        <p:nvSpPr>
          <p:cNvPr id="6" name="Text 4"/>
          <p:cNvSpPr txBox="1"/>
          <p:nvPr/>
        </p:nvSpPr>
        <p:spPr>
          <a:xfrm>
            <a:off x="1874520" y="2066544"/>
            <a:ext cx="3931920" cy="594360"/>
          </a:xfrm>
          <a:prstGeom prst="rect">
            <a:avLst/>
          </a:prstGeom>
          <a:noFill/>
          <a:ln/>
        </p:spPr>
        <p:txBody>
          <a:bodyPr wrap="square" lIns="0" tIns="0" rIns="0" bIns="0" rtlCol="0" anchor="t"/>
          <a:lstStyle/>
          <a:p>
            <a:pPr indent="0" marL="0">
              <a:buNone/>
            </a:pPr>
            <a:r>
              <a:rPr lang="en-US" sz="1400" dirty="0">
                <a:solidFill>
                  <a:schemeClr val="tx1"/>
                </a:solidFill>
              </a:rPr>
              <a:t>Why health research is hard to see, fund and govern today</a:t>
            </a:r>
            <a:endParaRPr lang="en-US" sz="1400" dirty="0"/>
          </a:p>
        </p:txBody>
      </p:sp>
      <p:sp>
        <p:nvSpPr>
          <p:cNvPr id="7" name="Agenda 02"/>
          <p:cNvSpPr/>
          <p:nvPr/>
        </p:nvSpPr>
        <p:spPr>
          <a:xfrm>
            <a:off x="6172200" y="1463040"/>
            <a:ext cx="5440680" cy="1325880"/>
          </a:xfrm>
          <a:prstGeom prst="roundRect">
            <a:avLst>
              <a:gd name="adj" fmla="val 6897"/>
            </a:avLst>
          </a:prstGeom>
          <a:solidFill>
            <a:srgbClr val="F6F4FB"/>
          </a:solidFill>
          <a:ln w="9525">
            <a:solidFill>
              <a:srgbClr val="DDD8EC"/>
            </a:solidFill>
            <a:prstDash val="solid"/>
          </a:ln>
        </p:spPr>
      </p:sp>
      <p:sp>
        <p:nvSpPr>
          <p:cNvPr id="8" name="Text 6"/>
          <p:cNvSpPr txBox="1"/>
          <p:nvPr/>
        </p:nvSpPr>
        <p:spPr>
          <a:xfrm>
            <a:off x="6446520" y="1691640"/>
            <a:ext cx="914400" cy="822960"/>
          </a:xfrm>
          <a:prstGeom prst="rect">
            <a:avLst/>
          </a:prstGeom>
          <a:noFill/>
          <a:ln/>
        </p:spPr>
        <p:txBody>
          <a:bodyPr wrap="square" lIns="0" tIns="0" rIns="0" bIns="0" rtlCol="0" anchor="ctr"/>
          <a:lstStyle/>
          <a:p>
            <a:pPr indent="0" marL="0">
              <a:buNone/>
            </a:pPr>
            <a:r>
              <a:rPr lang="en-US" sz="3600" b="1" dirty="0">
                <a:solidFill>
                  <a:srgbClr val="2A9DC0"/>
                </a:solidFill>
                <a:latin typeface="Arial" pitchFamily="34" charset="0"/>
                <a:ea typeface="Arial" pitchFamily="34" charset="-122"/>
                <a:cs typeface="Arial" pitchFamily="34" charset="-120"/>
              </a:rPr>
              <a:t>02</a:t>
            </a:r>
            <a:endParaRPr lang="en-US" sz="3600" dirty="0"/>
          </a:p>
        </p:txBody>
      </p:sp>
      <p:sp>
        <p:nvSpPr>
          <p:cNvPr id="9" name="Text 7"/>
          <p:cNvSpPr txBox="1"/>
          <p:nvPr/>
        </p:nvSpPr>
        <p:spPr>
          <a:xfrm>
            <a:off x="7498080" y="1664208"/>
            <a:ext cx="3931920" cy="384048"/>
          </a:xfrm>
          <a:prstGeom prst="rect">
            <a:avLst/>
          </a:prstGeom>
          <a:noFill/>
          <a:ln/>
        </p:spPr>
        <p:txBody>
          <a:bodyPr wrap="square" lIns="0" tIns="0" rIns="0" bIns="0" rtlCol="0" anchor="ctr"/>
          <a:lstStyle/>
          <a:p>
            <a:pPr indent="0" marL="0">
              <a:buNone/>
            </a:pPr>
            <a:r>
              <a:rPr lang="en-US" sz="1800" b="1" dirty="0">
                <a:solidFill>
                  <a:schemeClr val="tx2"/>
                </a:solidFill>
              </a:rPr>
              <a:t>Our value proposition</a:t>
            </a:r>
            <a:endParaRPr lang="en-US" sz="1800" dirty="0"/>
          </a:p>
        </p:txBody>
      </p:sp>
      <p:sp>
        <p:nvSpPr>
          <p:cNvPr id="10" name="Text 8"/>
          <p:cNvSpPr txBox="1"/>
          <p:nvPr/>
        </p:nvSpPr>
        <p:spPr>
          <a:xfrm>
            <a:off x="7498080" y="2066544"/>
            <a:ext cx="3931920" cy="594360"/>
          </a:xfrm>
          <a:prstGeom prst="rect">
            <a:avLst/>
          </a:prstGeom>
          <a:noFill/>
          <a:ln/>
        </p:spPr>
        <p:txBody>
          <a:bodyPr wrap="square" lIns="0" tIns="0" rIns="0" bIns="0" rtlCol="0" anchor="t"/>
          <a:lstStyle/>
          <a:p>
            <a:pPr indent="0" marL="0">
              <a:buNone/>
            </a:pPr>
            <a:r>
              <a:rPr lang="en-US" sz="1400" dirty="0">
                <a:solidFill>
                  <a:schemeClr val="tx1"/>
                </a:solidFill>
              </a:rPr>
              <a:t>One platform for the full research lifecycle, built for four audiences</a:t>
            </a:r>
            <a:endParaRPr lang="en-US" sz="1400" dirty="0"/>
          </a:p>
        </p:txBody>
      </p:sp>
      <p:sp>
        <p:nvSpPr>
          <p:cNvPr id="11" name="Agenda 03"/>
          <p:cNvSpPr/>
          <p:nvPr/>
        </p:nvSpPr>
        <p:spPr>
          <a:xfrm>
            <a:off x="548640" y="3017520"/>
            <a:ext cx="5440680" cy="1325880"/>
          </a:xfrm>
          <a:prstGeom prst="roundRect">
            <a:avLst>
              <a:gd name="adj" fmla="val 6897"/>
            </a:avLst>
          </a:prstGeom>
          <a:solidFill>
            <a:srgbClr val="F6F4FB"/>
          </a:solidFill>
          <a:ln w="9525">
            <a:solidFill>
              <a:srgbClr val="DDD8EC"/>
            </a:solidFill>
            <a:prstDash val="solid"/>
          </a:ln>
        </p:spPr>
      </p:sp>
      <p:sp>
        <p:nvSpPr>
          <p:cNvPr id="12" name="Text 10"/>
          <p:cNvSpPr txBox="1"/>
          <p:nvPr/>
        </p:nvSpPr>
        <p:spPr>
          <a:xfrm>
            <a:off x="822960" y="3246120"/>
            <a:ext cx="914400" cy="822960"/>
          </a:xfrm>
          <a:prstGeom prst="rect">
            <a:avLst/>
          </a:prstGeom>
          <a:noFill/>
          <a:ln/>
        </p:spPr>
        <p:txBody>
          <a:bodyPr wrap="square" lIns="0" tIns="0" rIns="0" bIns="0" rtlCol="0" anchor="ctr"/>
          <a:lstStyle/>
          <a:p>
            <a:pPr indent="0" marL="0">
              <a:buNone/>
            </a:pPr>
            <a:r>
              <a:rPr lang="en-US" sz="3600" b="1" dirty="0">
                <a:solidFill>
                  <a:srgbClr val="7E5BB5"/>
                </a:solidFill>
                <a:latin typeface="Arial" pitchFamily="34" charset="0"/>
                <a:ea typeface="Arial" pitchFamily="34" charset="-122"/>
                <a:cs typeface="Arial" pitchFamily="34" charset="-120"/>
              </a:rPr>
              <a:t>03</a:t>
            </a:r>
            <a:endParaRPr lang="en-US" sz="3600" dirty="0"/>
          </a:p>
        </p:txBody>
      </p:sp>
      <p:sp>
        <p:nvSpPr>
          <p:cNvPr id="13" name="Text 11"/>
          <p:cNvSpPr txBox="1"/>
          <p:nvPr/>
        </p:nvSpPr>
        <p:spPr>
          <a:xfrm>
            <a:off x="1874520" y="3218688"/>
            <a:ext cx="3931920" cy="384048"/>
          </a:xfrm>
          <a:prstGeom prst="rect">
            <a:avLst/>
          </a:prstGeom>
          <a:noFill/>
          <a:ln/>
        </p:spPr>
        <p:txBody>
          <a:bodyPr wrap="square" lIns="0" tIns="0" rIns="0" bIns="0" rtlCol="0" anchor="ctr"/>
          <a:lstStyle/>
          <a:p>
            <a:pPr indent="0" marL="0">
              <a:buNone/>
            </a:pPr>
            <a:r>
              <a:rPr lang="en-US" sz="1800" b="1" dirty="0">
                <a:solidFill>
                  <a:schemeClr val="tx2"/>
                </a:solidFill>
              </a:rPr>
              <a:t>Product tour</a:t>
            </a:r>
            <a:endParaRPr lang="en-US" sz="1800" dirty="0"/>
          </a:p>
        </p:txBody>
      </p:sp>
      <p:sp>
        <p:nvSpPr>
          <p:cNvPr id="14" name="Text 12"/>
          <p:cNvSpPr txBox="1"/>
          <p:nvPr/>
        </p:nvSpPr>
        <p:spPr>
          <a:xfrm>
            <a:off x="1874520" y="3621024"/>
            <a:ext cx="3931920" cy="594360"/>
          </a:xfrm>
          <a:prstGeom prst="rect">
            <a:avLst/>
          </a:prstGeom>
          <a:noFill/>
          <a:ln/>
        </p:spPr>
        <p:txBody>
          <a:bodyPr wrap="square" lIns="0" tIns="0" rIns="0" bIns="0" rtlCol="0" anchor="t"/>
          <a:lstStyle/>
          <a:p>
            <a:pPr indent="0" marL="0">
              <a:buNone/>
            </a:pPr>
            <a:r>
              <a:rPr lang="en-US" sz="1400" dirty="0">
                <a:solidFill>
                  <a:schemeClr val="tx1"/>
                </a:solidFill>
              </a:rPr>
              <a:t>Real screens: dashboards, publications, manuscripts, proposals, ethics and trials</a:t>
            </a:r>
            <a:endParaRPr lang="en-US" sz="1400" dirty="0"/>
          </a:p>
        </p:txBody>
      </p:sp>
      <p:sp>
        <p:nvSpPr>
          <p:cNvPr id="15" name="Agenda 04"/>
          <p:cNvSpPr/>
          <p:nvPr/>
        </p:nvSpPr>
        <p:spPr>
          <a:xfrm>
            <a:off x="6172200" y="3017520"/>
            <a:ext cx="5440680" cy="1325880"/>
          </a:xfrm>
          <a:prstGeom prst="roundRect">
            <a:avLst>
              <a:gd name="adj" fmla="val 6897"/>
            </a:avLst>
          </a:prstGeom>
          <a:solidFill>
            <a:srgbClr val="EFEAF8"/>
          </a:solidFill>
          <a:ln w="9525">
            <a:solidFill>
              <a:srgbClr val="C9B9E8"/>
            </a:solidFill>
            <a:prstDash val="solid"/>
          </a:ln>
        </p:spPr>
      </p:sp>
      <p:sp>
        <p:nvSpPr>
          <p:cNvPr id="16" name="Text 14"/>
          <p:cNvSpPr txBox="1"/>
          <p:nvPr/>
        </p:nvSpPr>
        <p:spPr>
          <a:xfrm>
            <a:off x="6446520" y="3246120"/>
            <a:ext cx="914400" cy="822960"/>
          </a:xfrm>
          <a:prstGeom prst="rect">
            <a:avLst/>
          </a:prstGeom>
          <a:noFill/>
          <a:ln/>
        </p:spPr>
        <p:txBody>
          <a:bodyPr wrap="square" lIns="0" tIns="0" rIns="0" bIns="0" rtlCol="0" anchor="ctr"/>
          <a:lstStyle/>
          <a:p>
            <a:pPr indent="0" marL="0">
              <a:buNone/>
            </a:pPr>
            <a:r>
              <a:rPr lang="en-US" sz="3600" b="1" dirty="0">
                <a:solidFill>
                  <a:srgbClr val="2A9DC0"/>
                </a:solidFill>
                <a:latin typeface="Arial" pitchFamily="34" charset="0"/>
                <a:ea typeface="Arial" pitchFamily="34" charset="-122"/>
                <a:cs typeface="Arial" pitchFamily="34" charset="-120"/>
              </a:rPr>
              <a:t>04</a:t>
            </a:r>
            <a:endParaRPr lang="en-US" sz="3600" dirty="0"/>
          </a:p>
        </p:txBody>
      </p:sp>
      <p:sp>
        <p:nvSpPr>
          <p:cNvPr id="17" name="Text 15"/>
          <p:cNvSpPr txBox="1"/>
          <p:nvPr/>
        </p:nvSpPr>
        <p:spPr>
          <a:xfrm>
            <a:off x="7498080" y="3218688"/>
            <a:ext cx="3931920" cy="384048"/>
          </a:xfrm>
          <a:prstGeom prst="rect">
            <a:avLst/>
          </a:prstGeom>
          <a:noFill/>
          <a:ln/>
        </p:spPr>
        <p:txBody>
          <a:bodyPr wrap="square" lIns="0" tIns="0" rIns="0" bIns="0" rtlCol="0" anchor="ctr"/>
          <a:lstStyle/>
          <a:p>
            <a:pPr indent="0" marL="0">
              <a:buNone/>
            </a:pPr>
            <a:r>
              <a:rPr lang="en-US" sz="1800" b="1" dirty="0">
                <a:solidFill>
                  <a:schemeClr val="tx2"/>
                </a:solidFill>
              </a:rPr>
              <a:t>AI integration</a:t>
            </a:r>
            <a:endParaRPr lang="en-US" sz="1800" dirty="0"/>
          </a:p>
        </p:txBody>
      </p:sp>
      <p:sp>
        <p:nvSpPr>
          <p:cNvPr id="18" name="Text 16"/>
          <p:cNvSpPr txBox="1"/>
          <p:nvPr/>
        </p:nvSpPr>
        <p:spPr>
          <a:xfrm>
            <a:off x="7498080" y="3621024"/>
            <a:ext cx="3931920" cy="594360"/>
          </a:xfrm>
          <a:prstGeom prst="rect">
            <a:avLst/>
          </a:prstGeom>
          <a:noFill/>
          <a:ln/>
        </p:spPr>
        <p:txBody>
          <a:bodyPr wrap="square" lIns="0" tIns="0" rIns="0" bIns="0" rtlCol="0" anchor="t"/>
          <a:lstStyle/>
          <a:p>
            <a:pPr indent="0" marL="0">
              <a:buNone/>
            </a:pPr>
            <a:r>
              <a:rPr lang="en-US" sz="1400" dirty="0">
                <a:solidFill>
                  <a:schemeClr val="tx1"/>
                </a:solidFill>
              </a:rPr>
              <a:t>What the built-in AI does today, how it is governed, and what comes next</a:t>
            </a:r>
            <a:endParaRPr lang="en-US" sz="1400" dirty="0"/>
          </a:p>
        </p:txBody>
      </p:sp>
      <p:sp>
        <p:nvSpPr>
          <p:cNvPr id="19" name="Agenda 05"/>
          <p:cNvSpPr/>
          <p:nvPr/>
        </p:nvSpPr>
        <p:spPr>
          <a:xfrm>
            <a:off x="548640" y="4572000"/>
            <a:ext cx="5440680" cy="1325880"/>
          </a:xfrm>
          <a:prstGeom prst="roundRect">
            <a:avLst>
              <a:gd name="adj" fmla="val 6897"/>
            </a:avLst>
          </a:prstGeom>
          <a:solidFill>
            <a:srgbClr val="F6F4FB"/>
          </a:solidFill>
          <a:ln w="9525">
            <a:solidFill>
              <a:srgbClr val="DDD8EC"/>
            </a:solidFill>
            <a:prstDash val="solid"/>
          </a:ln>
        </p:spPr>
      </p:sp>
      <p:sp>
        <p:nvSpPr>
          <p:cNvPr id="20" name="Text 18"/>
          <p:cNvSpPr txBox="1"/>
          <p:nvPr/>
        </p:nvSpPr>
        <p:spPr>
          <a:xfrm>
            <a:off x="822960" y="4800600"/>
            <a:ext cx="914400" cy="822960"/>
          </a:xfrm>
          <a:prstGeom prst="rect">
            <a:avLst/>
          </a:prstGeom>
          <a:noFill/>
          <a:ln/>
        </p:spPr>
        <p:txBody>
          <a:bodyPr wrap="square" lIns="0" tIns="0" rIns="0" bIns="0" rtlCol="0" anchor="ctr"/>
          <a:lstStyle/>
          <a:p>
            <a:pPr indent="0" marL="0">
              <a:buNone/>
            </a:pPr>
            <a:r>
              <a:rPr lang="en-US" sz="3600" b="1" dirty="0">
                <a:solidFill>
                  <a:srgbClr val="7E5BB5"/>
                </a:solidFill>
                <a:latin typeface="Arial" pitchFamily="34" charset="0"/>
                <a:ea typeface="Arial" pitchFamily="34" charset="-122"/>
                <a:cs typeface="Arial" pitchFamily="34" charset="-120"/>
              </a:rPr>
              <a:t>05</a:t>
            </a:r>
            <a:endParaRPr lang="en-US" sz="3600" dirty="0"/>
          </a:p>
        </p:txBody>
      </p:sp>
      <p:sp>
        <p:nvSpPr>
          <p:cNvPr id="21" name="Text 19"/>
          <p:cNvSpPr txBox="1"/>
          <p:nvPr/>
        </p:nvSpPr>
        <p:spPr>
          <a:xfrm>
            <a:off x="1874520" y="4773168"/>
            <a:ext cx="3931920" cy="384048"/>
          </a:xfrm>
          <a:prstGeom prst="rect">
            <a:avLst/>
          </a:prstGeom>
          <a:noFill/>
          <a:ln/>
        </p:spPr>
        <p:txBody>
          <a:bodyPr wrap="square" lIns="0" tIns="0" rIns="0" bIns="0" rtlCol="0" anchor="ctr"/>
          <a:lstStyle/>
          <a:p>
            <a:pPr indent="0" marL="0">
              <a:buNone/>
            </a:pPr>
            <a:r>
              <a:rPr lang="en-US" sz="1800" b="1" dirty="0">
                <a:solidFill>
                  <a:schemeClr val="tx2"/>
                </a:solidFill>
              </a:rPr>
              <a:t>Trust &amp; deployment</a:t>
            </a:r>
            <a:endParaRPr lang="en-US" sz="1800" dirty="0"/>
          </a:p>
        </p:txBody>
      </p:sp>
      <p:sp>
        <p:nvSpPr>
          <p:cNvPr id="22" name="Text 20"/>
          <p:cNvSpPr txBox="1"/>
          <p:nvPr/>
        </p:nvSpPr>
        <p:spPr>
          <a:xfrm>
            <a:off x="1874520" y="5175504"/>
            <a:ext cx="3931920" cy="594360"/>
          </a:xfrm>
          <a:prstGeom prst="rect">
            <a:avLst/>
          </a:prstGeom>
          <a:noFill/>
          <a:ln/>
        </p:spPr>
        <p:txBody>
          <a:bodyPr wrap="square" lIns="0" tIns="0" rIns="0" bIns="0" rtlCol="0" anchor="t"/>
          <a:lstStyle/>
          <a:p>
            <a:pPr indent="0" marL="0">
              <a:buNone/>
            </a:pPr>
            <a:r>
              <a:rPr lang="en-US" sz="1400" dirty="0">
                <a:solidFill>
                  <a:schemeClr val="tx1"/>
                </a:solidFill>
              </a:rPr>
              <a:t>Integrations, security, hosting options and the change for your institution</a:t>
            </a:r>
            <a:endParaRPr lang="en-US" sz="1400" dirty="0"/>
          </a:p>
        </p:txBody>
      </p:sp>
      <p:sp>
        <p:nvSpPr>
          <p:cNvPr id="23" name="Agenda 06"/>
          <p:cNvSpPr/>
          <p:nvPr/>
        </p:nvSpPr>
        <p:spPr>
          <a:xfrm>
            <a:off x="6172200" y="4572000"/>
            <a:ext cx="5440680" cy="1325880"/>
          </a:xfrm>
          <a:prstGeom prst="roundRect">
            <a:avLst>
              <a:gd name="adj" fmla="val 6897"/>
            </a:avLst>
          </a:prstGeom>
          <a:solidFill>
            <a:srgbClr val="F6F4FB"/>
          </a:solidFill>
          <a:ln w="9525">
            <a:solidFill>
              <a:srgbClr val="DDD8EC"/>
            </a:solidFill>
            <a:prstDash val="solid"/>
          </a:ln>
        </p:spPr>
      </p:sp>
      <p:sp>
        <p:nvSpPr>
          <p:cNvPr id="24" name="Text 22"/>
          <p:cNvSpPr txBox="1"/>
          <p:nvPr/>
        </p:nvSpPr>
        <p:spPr>
          <a:xfrm>
            <a:off x="6446520" y="4800600"/>
            <a:ext cx="914400" cy="822960"/>
          </a:xfrm>
          <a:prstGeom prst="rect">
            <a:avLst/>
          </a:prstGeom>
          <a:noFill/>
          <a:ln/>
        </p:spPr>
        <p:txBody>
          <a:bodyPr wrap="square" lIns="0" tIns="0" rIns="0" bIns="0" rtlCol="0" anchor="ctr"/>
          <a:lstStyle/>
          <a:p>
            <a:pPr indent="0" marL="0">
              <a:buNone/>
            </a:pPr>
            <a:r>
              <a:rPr lang="en-US" sz="3600" b="1" dirty="0">
                <a:solidFill>
                  <a:srgbClr val="2A9DC0"/>
                </a:solidFill>
                <a:latin typeface="Arial" pitchFamily="34" charset="0"/>
                <a:ea typeface="Arial" pitchFamily="34" charset="-122"/>
                <a:cs typeface="Arial" pitchFamily="34" charset="-120"/>
              </a:rPr>
              <a:t>06</a:t>
            </a:r>
            <a:endParaRPr lang="en-US" sz="3600" dirty="0"/>
          </a:p>
        </p:txBody>
      </p:sp>
      <p:sp>
        <p:nvSpPr>
          <p:cNvPr id="25" name="Text 23"/>
          <p:cNvSpPr txBox="1"/>
          <p:nvPr/>
        </p:nvSpPr>
        <p:spPr>
          <a:xfrm>
            <a:off x="7498080" y="4773168"/>
            <a:ext cx="3931920" cy="384048"/>
          </a:xfrm>
          <a:prstGeom prst="rect">
            <a:avLst/>
          </a:prstGeom>
          <a:noFill/>
          <a:ln/>
        </p:spPr>
        <p:txBody>
          <a:bodyPr wrap="square" lIns="0" tIns="0" rIns="0" bIns="0" rtlCol="0" anchor="ctr"/>
          <a:lstStyle/>
          <a:p>
            <a:pPr indent="0" marL="0">
              <a:buNone/>
            </a:pPr>
            <a:r>
              <a:rPr lang="en-US" sz="1800" b="1" dirty="0">
                <a:solidFill>
                  <a:schemeClr val="tx2"/>
                </a:solidFill>
              </a:rPr>
              <a:t>Getting started</a:t>
            </a:r>
            <a:endParaRPr lang="en-US" sz="1800" dirty="0"/>
          </a:p>
        </p:txBody>
      </p:sp>
      <p:sp>
        <p:nvSpPr>
          <p:cNvPr id="26" name="Text 24"/>
          <p:cNvSpPr txBox="1"/>
          <p:nvPr/>
        </p:nvSpPr>
        <p:spPr>
          <a:xfrm>
            <a:off x="7498080" y="5175504"/>
            <a:ext cx="3931920" cy="594360"/>
          </a:xfrm>
          <a:prstGeom prst="rect">
            <a:avLst/>
          </a:prstGeom>
          <a:noFill/>
          <a:ln/>
        </p:spPr>
        <p:txBody>
          <a:bodyPr wrap="square" lIns="0" tIns="0" rIns="0" bIns="0" rtlCol="0" anchor="t"/>
          <a:lstStyle/>
          <a:p>
            <a:pPr indent="0" marL="0">
              <a:buNone/>
            </a:pPr>
            <a:r>
              <a:rPr lang="en-US" sz="1400" dirty="0">
                <a:solidFill>
                  <a:schemeClr val="tx1"/>
                </a:solidFill>
              </a:rPr>
              <a:t>Onboarding plan and next steps toward a pilot</a:t>
            </a:r>
            <a:endParaRPr lang="en-US" sz="14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C78"/>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chemeClr val="tx2"/>
                </a:solidFill>
              </a:rPr>
              <a:t>Health research is happening, but it is hard to see and hard to govern</a:t>
            </a:r>
            <a:endParaRPr lang="en-US" sz="3200" dirty="0"/>
          </a:p>
        </p:txBody>
      </p:sp>
      <p:sp>
        <p:nvSpPr>
          <p:cNvPr id="3" name="Pain card 1"/>
          <p:cNvSpPr/>
          <p:nvPr/>
        </p:nvSpPr>
        <p:spPr>
          <a:xfrm>
            <a:off x="548640" y="1737360"/>
            <a:ext cx="2103120" cy="3291840"/>
          </a:xfrm>
          <a:prstGeom prst="roundRect">
            <a:avLst>
              <a:gd name="adj" fmla="val 4348"/>
            </a:avLst>
          </a:prstGeom>
          <a:solidFill>
            <a:srgbClr val="F6F4FB"/>
          </a:solidFill>
          <a:ln w="9525">
            <a:solidFill>
              <a:srgbClr val="DDD8EC"/>
            </a:solidFill>
            <a:prstDash val="solid"/>
          </a:ln>
        </p:spPr>
      </p:sp>
      <p:sp>
        <p:nvSpPr>
          <p:cNvPr id="4" name="Shape 2"/>
          <p:cNvSpPr/>
          <p:nvPr/>
        </p:nvSpPr>
        <p:spPr>
          <a:xfrm>
            <a:off x="777240" y="2011680"/>
            <a:ext cx="640080" cy="640080"/>
          </a:xfrm>
          <a:prstGeom prst="ellipse">
            <a:avLst/>
          </a:prstGeom>
          <a:solidFill>
            <a:srgbClr val="EFEAF8"/>
          </a:solidFill>
          <a:ln w="12700">
            <a:solidFill>
              <a:srgbClr val="EFEAF8"/>
            </a:solidFill>
            <a:prstDash val="solid"/>
          </a:ln>
        </p:spPr>
      </p:sp>
      <p:pic>
        <p:nvPicPr>
          <p:cNvPr id="5" name="Image 0" descr="preencoded.png">    </p:cNvPr>
          <p:cNvPicPr>
            <a:picLocks noChangeAspect="1"/>
          </p:cNvPicPr>
          <p:nvPr/>
        </p:nvPicPr>
        <p:blipFill>
          <a:blip r:embed="rId1"/>
          <a:stretch>
            <a:fillRect/>
          </a:stretch>
        </p:blipFill>
        <p:spPr>
          <a:xfrm>
            <a:off x="930859" y="2165299"/>
            <a:ext cx="332842" cy="332842"/>
          </a:xfrm>
          <a:prstGeom prst="rect">
            <a:avLst/>
          </a:prstGeom>
        </p:spPr>
      </p:pic>
      <p:sp>
        <p:nvSpPr>
          <p:cNvPr id="6" name="Text 3"/>
          <p:cNvSpPr txBox="1"/>
          <p:nvPr/>
        </p:nvSpPr>
        <p:spPr>
          <a:xfrm>
            <a:off x="777240" y="2788920"/>
            <a:ext cx="1645920" cy="685800"/>
          </a:xfrm>
          <a:prstGeom prst="rect">
            <a:avLst/>
          </a:prstGeom>
          <a:noFill/>
          <a:ln/>
        </p:spPr>
        <p:txBody>
          <a:bodyPr wrap="square" lIns="0" tIns="0" rIns="0" bIns="0" rtlCol="0" anchor="t"/>
          <a:lstStyle/>
          <a:p>
            <a:pPr indent="0" marL="0">
              <a:buNone/>
            </a:pPr>
            <a:r>
              <a:rPr lang="en-US" sz="1600" b="1" dirty="0">
                <a:solidFill>
                  <a:schemeClr val="tx2"/>
                </a:solidFill>
              </a:rPr>
              <a:t>Fragmented data</a:t>
            </a:r>
            <a:endParaRPr lang="en-US" sz="1600" dirty="0"/>
          </a:p>
        </p:txBody>
      </p:sp>
      <p:sp>
        <p:nvSpPr>
          <p:cNvPr id="7" name="Text 4"/>
          <p:cNvSpPr txBox="1"/>
          <p:nvPr/>
        </p:nvSpPr>
        <p:spPr>
          <a:xfrm>
            <a:off x="777240" y="3474720"/>
            <a:ext cx="1645920" cy="1417320"/>
          </a:xfrm>
          <a:prstGeom prst="rect">
            <a:avLst/>
          </a:prstGeom>
          <a:noFill/>
          <a:ln/>
        </p:spPr>
        <p:txBody>
          <a:bodyPr wrap="square" lIns="0" tIns="0" rIns="0" bIns="0" rtlCol="0" anchor="t"/>
          <a:lstStyle/>
          <a:p>
            <a:pPr indent="0" marL="0">
              <a:buNone/>
            </a:pPr>
            <a:r>
              <a:rPr lang="en-US" sz="1400" dirty="0">
                <a:solidFill>
                  <a:schemeClr val="tx1"/>
                </a:solidFill>
              </a:rPr>
              <a:t>Proposals, approvals and outputs sit in spreadsheets, inboxes and departmental folders.</a:t>
            </a:r>
            <a:endParaRPr lang="en-US" sz="1400" dirty="0"/>
          </a:p>
        </p:txBody>
      </p:sp>
      <p:sp>
        <p:nvSpPr>
          <p:cNvPr id="8" name="Pain card 2"/>
          <p:cNvSpPr/>
          <p:nvPr/>
        </p:nvSpPr>
        <p:spPr>
          <a:xfrm>
            <a:off x="2788920" y="1737360"/>
            <a:ext cx="2103120" cy="3291840"/>
          </a:xfrm>
          <a:prstGeom prst="roundRect">
            <a:avLst>
              <a:gd name="adj" fmla="val 4348"/>
            </a:avLst>
          </a:prstGeom>
          <a:solidFill>
            <a:srgbClr val="F6F4FB"/>
          </a:solidFill>
          <a:ln w="9525">
            <a:solidFill>
              <a:srgbClr val="DDD8EC"/>
            </a:solidFill>
            <a:prstDash val="solid"/>
          </a:ln>
        </p:spPr>
      </p:sp>
      <p:sp>
        <p:nvSpPr>
          <p:cNvPr id="9" name="Shape 6"/>
          <p:cNvSpPr/>
          <p:nvPr/>
        </p:nvSpPr>
        <p:spPr>
          <a:xfrm>
            <a:off x="3017520" y="2011680"/>
            <a:ext cx="640080" cy="640080"/>
          </a:xfrm>
          <a:prstGeom prst="ellipse">
            <a:avLst/>
          </a:prstGeom>
          <a:solidFill>
            <a:srgbClr val="EFEAF8"/>
          </a:solidFill>
          <a:ln w="12700">
            <a:solidFill>
              <a:srgbClr val="EFEAF8"/>
            </a:solidFill>
            <a:prstDash val="solid"/>
          </a:ln>
        </p:spPr>
      </p:sp>
      <p:pic>
        <p:nvPicPr>
          <p:cNvPr id="10" name="Image 1" descr="preencoded.png">    </p:cNvPr>
          <p:cNvPicPr>
            <a:picLocks noChangeAspect="1"/>
          </p:cNvPicPr>
          <p:nvPr/>
        </p:nvPicPr>
        <p:blipFill>
          <a:blip r:embed="rId2"/>
          <a:stretch>
            <a:fillRect/>
          </a:stretch>
        </p:blipFill>
        <p:spPr>
          <a:xfrm>
            <a:off x="3171139" y="2165299"/>
            <a:ext cx="332842" cy="332842"/>
          </a:xfrm>
          <a:prstGeom prst="rect">
            <a:avLst/>
          </a:prstGeom>
        </p:spPr>
      </p:pic>
      <p:sp>
        <p:nvSpPr>
          <p:cNvPr id="11" name="Text 7"/>
          <p:cNvSpPr txBox="1"/>
          <p:nvPr/>
        </p:nvSpPr>
        <p:spPr>
          <a:xfrm>
            <a:off x="3017520" y="2788920"/>
            <a:ext cx="1645920" cy="685800"/>
          </a:xfrm>
          <a:prstGeom prst="rect">
            <a:avLst/>
          </a:prstGeom>
          <a:noFill/>
          <a:ln/>
        </p:spPr>
        <p:txBody>
          <a:bodyPr wrap="square" lIns="0" tIns="0" rIns="0" bIns="0" rtlCol="0" anchor="t"/>
          <a:lstStyle/>
          <a:p>
            <a:pPr indent="0" marL="0">
              <a:buNone/>
            </a:pPr>
            <a:r>
              <a:rPr lang="en-US" sz="1600" b="1" dirty="0">
                <a:solidFill>
                  <a:schemeClr val="tx2"/>
                </a:solidFill>
              </a:rPr>
              <a:t>Manual, error-prone reporting</a:t>
            </a:r>
            <a:endParaRPr lang="en-US" sz="1600" dirty="0"/>
          </a:p>
        </p:txBody>
      </p:sp>
      <p:sp>
        <p:nvSpPr>
          <p:cNvPr id="12" name="Text 8"/>
          <p:cNvSpPr txBox="1"/>
          <p:nvPr/>
        </p:nvSpPr>
        <p:spPr>
          <a:xfrm>
            <a:off x="3017520" y="3474720"/>
            <a:ext cx="1645920" cy="1417320"/>
          </a:xfrm>
          <a:prstGeom prst="rect">
            <a:avLst/>
          </a:prstGeom>
          <a:noFill/>
          <a:ln/>
        </p:spPr>
        <p:txBody>
          <a:bodyPr wrap="square" lIns="0" tIns="0" rIns="0" bIns="0" rtlCol="0" anchor="t"/>
          <a:lstStyle/>
          <a:p>
            <a:pPr indent="0" marL="0">
              <a:buNone/>
            </a:pPr>
            <a:r>
              <a:rPr lang="en-US" sz="1400" dirty="0">
                <a:solidFill>
                  <a:schemeClr val="tx1"/>
                </a:solidFill>
              </a:rPr>
              <a:t>Every board report or funder update means chasing researchers for numbers.</a:t>
            </a:r>
            <a:endParaRPr lang="en-US" sz="1400" dirty="0"/>
          </a:p>
        </p:txBody>
      </p:sp>
      <p:sp>
        <p:nvSpPr>
          <p:cNvPr id="13" name="Pain card 3"/>
          <p:cNvSpPr/>
          <p:nvPr/>
        </p:nvSpPr>
        <p:spPr>
          <a:xfrm>
            <a:off x="5029200" y="1737360"/>
            <a:ext cx="2103120" cy="3291840"/>
          </a:xfrm>
          <a:prstGeom prst="roundRect">
            <a:avLst>
              <a:gd name="adj" fmla="val 4348"/>
            </a:avLst>
          </a:prstGeom>
          <a:solidFill>
            <a:srgbClr val="F6F4FB"/>
          </a:solidFill>
          <a:ln w="9525">
            <a:solidFill>
              <a:srgbClr val="DDD8EC"/>
            </a:solidFill>
            <a:prstDash val="solid"/>
          </a:ln>
        </p:spPr>
      </p:sp>
      <p:sp>
        <p:nvSpPr>
          <p:cNvPr id="14" name="Shape 10"/>
          <p:cNvSpPr/>
          <p:nvPr/>
        </p:nvSpPr>
        <p:spPr>
          <a:xfrm>
            <a:off x="5257800" y="2011680"/>
            <a:ext cx="640080" cy="640080"/>
          </a:xfrm>
          <a:prstGeom prst="ellipse">
            <a:avLst/>
          </a:prstGeom>
          <a:solidFill>
            <a:srgbClr val="EFEAF8"/>
          </a:solidFill>
          <a:ln w="12700">
            <a:solidFill>
              <a:srgbClr val="EFEAF8"/>
            </a:solidFill>
            <a:prstDash val="solid"/>
          </a:ln>
        </p:spPr>
      </p:sp>
      <p:pic>
        <p:nvPicPr>
          <p:cNvPr id="15" name="Image 2" descr="preencoded.png">    </p:cNvPr>
          <p:cNvPicPr>
            <a:picLocks noChangeAspect="1"/>
          </p:cNvPicPr>
          <p:nvPr/>
        </p:nvPicPr>
        <p:blipFill>
          <a:blip r:embed="rId3"/>
          <a:stretch>
            <a:fillRect/>
          </a:stretch>
        </p:blipFill>
        <p:spPr>
          <a:xfrm>
            <a:off x="5411419" y="2165299"/>
            <a:ext cx="332842" cy="332842"/>
          </a:xfrm>
          <a:prstGeom prst="rect">
            <a:avLst/>
          </a:prstGeom>
        </p:spPr>
      </p:pic>
      <p:sp>
        <p:nvSpPr>
          <p:cNvPr id="16" name="Text 11"/>
          <p:cNvSpPr txBox="1"/>
          <p:nvPr/>
        </p:nvSpPr>
        <p:spPr>
          <a:xfrm>
            <a:off x="5257800" y="2788920"/>
            <a:ext cx="1645920" cy="685800"/>
          </a:xfrm>
          <a:prstGeom prst="rect">
            <a:avLst/>
          </a:prstGeom>
          <a:noFill/>
          <a:ln/>
        </p:spPr>
        <p:txBody>
          <a:bodyPr wrap="square" lIns="0" tIns="0" rIns="0" bIns="0" rtlCol="0" anchor="t"/>
          <a:lstStyle/>
          <a:p>
            <a:pPr indent="0" marL="0">
              <a:buNone/>
            </a:pPr>
            <a:r>
              <a:rPr lang="en-US" sz="1600" b="1" dirty="0">
                <a:solidFill>
                  <a:schemeClr val="tx2"/>
                </a:solidFill>
              </a:rPr>
              <a:t>Low visibility</a:t>
            </a:r>
            <a:endParaRPr lang="en-US" sz="1600" dirty="0"/>
          </a:p>
        </p:txBody>
      </p:sp>
      <p:sp>
        <p:nvSpPr>
          <p:cNvPr id="17" name="Text 12"/>
          <p:cNvSpPr txBox="1"/>
          <p:nvPr/>
        </p:nvSpPr>
        <p:spPr>
          <a:xfrm>
            <a:off x="5257800" y="3474720"/>
            <a:ext cx="1645920" cy="1417320"/>
          </a:xfrm>
          <a:prstGeom prst="rect">
            <a:avLst/>
          </a:prstGeom>
          <a:noFill/>
          <a:ln/>
        </p:spPr>
        <p:txBody>
          <a:bodyPr wrap="square" lIns="0" tIns="0" rIns="0" bIns="0" rtlCol="0" anchor="t"/>
          <a:lstStyle/>
          <a:p>
            <a:pPr indent="0" marL="0">
              <a:buNone/>
            </a:pPr>
            <a:r>
              <a:rPr lang="en-US" sz="1400" dirty="0">
                <a:solidFill>
                  <a:schemeClr val="tx1"/>
                </a:solidFill>
              </a:rPr>
              <a:t>Your institution's publications and expertise are hard for funders and partners to find.</a:t>
            </a:r>
            <a:endParaRPr lang="en-US" sz="1400" dirty="0"/>
          </a:p>
        </p:txBody>
      </p:sp>
      <p:sp>
        <p:nvSpPr>
          <p:cNvPr id="18" name="Pain card 4"/>
          <p:cNvSpPr/>
          <p:nvPr/>
        </p:nvSpPr>
        <p:spPr>
          <a:xfrm>
            <a:off x="7269480" y="1737360"/>
            <a:ext cx="2103120" cy="3291840"/>
          </a:xfrm>
          <a:prstGeom prst="roundRect">
            <a:avLst>
              <a:gd name="adj" fmla="val 4348"/>
            </a:avLst>
          </a:prstGeom>
          <a:solidFill>
            <a:srgbClr val="F6F4FB"/>
          </a:solidFill>
          <a:ln w="9525">
            <a:solidFill>
              <a:srgbClr val="DDD8EC"/>
            </a:solidFill>
            <a:prstDash val="solid"/>
          </a:ln>
        </p:spPr>
      </p:sp>
      <p:sp>
        <p:nvSpPr>
          <p:cNvPr id="19" name="Shape 14"/>
          <p:cNvSpPr/>
          <p:nvPr/>
        </p:nvSpPr>
        <p:spPr>
          <a:xfrm>
            <a:off x="7498080" y="2011680"/>
            <a:ext cx="640080" cy="640080"/>
          </a:xfrm>
          <a:prstGeom prst="ellipse">
            <a:avLst/>
          </a:prstGeom>
          <a:solidFill>
            <a:srgbClr val="EFEAF8"/>
          </a:solidFill>
          <a:ln w="12700">
            <a:solidFill>
              <a:srgbClr val="EFEAF8"/>
            </a:solidFill>
            <a:prstDash val="solid"/>
          </a:ln>
        </p:spPr>
      </p:sp>
      <p:pic>
        <p:nvPicPr>
          <p:cNvPr id="20" name="Image 3" descr="preencoded.png">    </p:cNvPr>
          <p:cNvPicPr>
            <a:picLocks noChangeAspect="1"/>
          </p:cNvPicPr>
          <p:nvPr/>
        </p:nvPicPr>
        <p:blipFill>
          <a:blip r:embed="rId4"/>
          <a:stretch>
            <a:fillRect/>
          </a:stretch>
        </p:blipFill>
        <p:spPr>
          <a:xfrm>
            <a:off x="7651699" y="2165299"/>
            <a:ext cx="332842" cy="332842"/>
          </a:xfrm>
          <a:prstGeom prst="rect">
            <a:avLst/>
          </a:prstGeom>
        </p:spPr>
      </p:pic>
      <p:sp>
        <p:nvSpPr>
          <p:cNvPr id="21" name="Text 15"/>
          <p:cNvSpPr txBox="1"/>
          <p:nvPr/>
        </p:nvSpPr>
        <p:spPr>
          <a:xfrm>
            <a:off x="7498080" y="2788920"/>
            <a:ext cx="1645920" cy="685800"/>
          </a:xfrm>
          <a:prstGeom prst="rect">
            <a:avLst/>
          </a:prstGeom>
          <a:noFill/>
          <a:ln/>
        </p:spPr>
        <p:txBody>
          <a:bodyPr wrap="square" lIns="0" tIns="0" rIns="0" bIns="0" rtlCol="0" anchor="t"/>
          <a:lstStyle/>
          <a:p>
            <a:pPr indent="0" marL="0">
              <a:buNone/>
            </a:pPr>
            <a:r>
              <a:rPr lang="en-US" sz="1600" b="1" dirty="0">
                <a:solidFill>
                  <a:schemeClr val="tx2"/>
                </a:solidFill>
              </a:rPr>
              <a:t>Compliance pressure</a:t>
            </a:r>
            <a:endParaRPr lang="en-US" sz="1600" dirty="0"/>
          </a:p>
        </p:txBody>
      </p:sp>
      <p:sp>
        <p:nvSpPr>
          <p:cNvPr id="22" name="Text 16"/>
          <p:cNvSpPr txBox="1"/>
          <p:nvPr/>
        </p:nvSpPr>
        <p:spPr>
          <a:xfrm>
            <a:off x="7498080" y="3474720"/>
            <a:ext cx="1645920" cy="1417320"/>
          </a:xfrm>
          <a:prstGeom prst="rect">
            <a:avLst/>
          </a:prstGeom>
          <a:noFill/>
          <a:ln/>
        </p:spPr>
        <p:txBody>
          <a:bodyPr wrap="square" lIns="0" tIns="0" rIns="0" bIns="0" rtlCol="0" anchor="t"/>
          <a:lstStyle/>
          <a:p>
            <a:pPr indent="0" marL="0">
              <a:buNone/>
            </a:pPr>
            <a:r>
              <a:rPr lang="en-US" sz="1400" dirty="0">
                <a:solidFill>
                  <a:schemeClr val="tx1"/>
                </a:solidFill>
              </a:rPr>
              <a:t>Ethics approvals, trial registrations and audit trails are tracked by hand.</a:t>
            </a:r>
            <a:endParaRPr lang="en-US" sz="1400" dirty="0"/>
          </a:p>
        </p:txBody>
      </p:sp>
      <p:sp>
        <p:nvSpPr>
          <p:cNvPr id="23" name="Pain card 5"/>
          <p:cNvSpPr/>
          <p:nvPr/>
        </p:nvSpPr>
        <p:spPr>
          <a:xfrm>
            <a:off x="9509760" y="1737360"/>
            <a:ext cx="2103120" cy="3291840"/>
          </a:xfrm>
          <a:prstGeom prst="roundRect">
            <a:avLst>
              <a:gd name="adj" fmla="val 4348"/>
            </a:avLst>
          </a:prstGeom>
          <a:solidFill>
            <a:srgbClr val="F6F4FB"/>
          </a:solidFill>
          <a:ln w="9525">
            <a:solidFill>
              <a:srgbClr val="DDD8EC"/>
            </a:solidFill>
            <a:prstDash val="solid"/>
          </a:ln>
        </p:spPr>
      </p:sp>
      <p:sp>
        <p:nvSpPr>
          <p:cNvPr id="24" name="Shape 18"/>
          <p:cNvSpPr/>
          <p:nvPr/>
        </p:nvSpPr>
        <p:spPr>
          <a:xfrm>
            <a:off x="9738360" y="2011680"/>
            <a:ext cx="640080" cy="640080"/>
          </a:xfrm>
          <a:prstGeom prst="ellipse">
            <a:avLst/>
          </a:prstGeom>
          <a:solidFill>
            <a:srgbClr val="EFEAF8"/>
          </a:solidFill>
          <a:ln w="12700">
            <a:solidFill>
              <a:srgbClr val="EFEAF8"/>
            </a:solidFill>
            <a:prstDash val="solid"/>
          </a:ln>
        </p:spPr>
      </p:sp>
      <p:pic>
        <p:nvPicPr>
          <p:cNvPr id="25" name="Image 4" descr="preencoded.png">    </p:cNvPr>
          <p:cNvPicPr>
            <a:picLocks noChangeAspect="1"/>
          </p:cNvPicPr>
          <p:nvPr/>
        </p:nvPicPr>
        <p:blipFill>
          <a:blip r:embed="rId5"/>
          <a:stretch>
            <a:fillRect/>
          </a:stretch>
        </p:blipFill>
        <p:spPr>
          <a:xfrm>
            <a:off x="9891979" y="2165299"/>
            <a:ext cx="332842" cy="332842"/>
          </a:xfrm>
          <a:prstGeom prst="rect">
            <a:avLst/>
          </a:prstGeom>
        </p:spPr>
      </p:pic>
      <p:sp>
        <p:nvSpPr>
          <p:cNvPr id="26" name="Text 19"/>
          <p:cNvSpPr txBox="1"/>
          <p:nvPr/>
        </p:nvSpPr>
        <p:spPr>
          <a:xfrm>
            <a:off x="9738360" y="2788920"/>
            <a:ext cx="1645920" cy="685800"/>
          </a:xfrm>
          <a:prstGeom prst="rect">
            <a:avLst/>
          </a:prstGeom>
          <a:noFill/>
          <a:ln/>
        </p:spPr>
        <p:txBody>
          <a:bodyPr wrap="square" lIns="0" tIns="0" rIns="0" bIns="0" rtlCol="0" anchor="t"/>
          <a:lstStyle/>
          <a:p>
            <a:pPr indent="0" marL="0">
              <a:buNone/>
            </a:pPr>
            <a:r>
              <a:rPr lang="en-US" sz="1600" b="1" dirty="0">
                <a:solidFill>
                  <a:schemeClr val="tx2"/>
                </a:solidFill>
              </a:rPr>
              <a:t>No central researcher profiles</a:t>
            </a:r>
            <a:endParaRPr lang="en-US" sz="1600" dirty="0"/>
          </a:p>
        </p:txBody>
      </p:sp>
      <p:sp>
        <p:nvSpPr>
          <p:cNvPr id="27" name="Text 20"/>
          <p:cNvSpPr txBox="1"/>
          <p:nvPr/>
        </p:nvSpPr>
        <p:spPr>
          <a:xfrm>
            <a:off x="9738360" y="3474720"/>
            <a:ext cx="1645920" cy="1417320"/>
          </a:xfrm>
          <a:prstGeom prst="rect">
            <a:avLst/>
          </a:prstGeom>
          <a:noFill/>
          <a:ln/>
        </p:spPr>
        <p:txBody>
          <a:bodyPr wrap="square" lIns="0" tIns="0" rIns="0" bIns="0" rtlCol="0" anchor="t"/>
          <a:lstStyle/>
          <a:p>
            <a:pPr indent="0" marL="0">
              <a:buNone/>
            </a:pPr>
            <a:r>
              <a:rPr lang="en-US" sz="1400" dirty="0">
                <a:solidFill>
                  <a:schemeClr val="tx1"/>
                </a:solidFill>
              </a:rPr>
              <a:t>Nobody has one up-to-date view of who does what, with whom, and with what impact.</a:t>
            </a:r>
            <a:endParaRPr lang="en-US" sz="1400" dirty="0"/>
          </a:p>
        </p:txBody>
      </p:sp>
      <p:sp>
        <p:nvSpPr>
          <p:cNvPr id="28" name="Text 21"/>
          <p:cNvSpPr txBox="1"/>
          <p:nvPr/>
        </p:nvSpPr>
        <p:spPr>
          <a:xfrm>
            <a:off x="548640" y="5349240"/>
            <a:ext cx="11064240" cy="457200"/>
          </a:xfrm>
          <a:prstGeom prst="rect">
            <a:avLst/>
          </a:prstGeom>
          <a:noFill/>
          <a:ln/>
        </p:spPr>
        <p:txBody>
          <a:bodyPr wrap="square" lIns="0" tIns="0" rIns="0" bIns="0" rtlCol="0" anchor="ctr"/>
          <a:lstStyle/>
          <a:p>
            <a:pPr indent="0" marL="0">
              <a:buNone/>
            </a:pPr>
            <a:r>
              <a:rPr lang="en-US" sz="1800" b="1" dirty="0">
                <a:solidFill>
                  <a:srgbClr val="7E5BB5"/>
                </a:solidFill>
              </a:rPr>
              <a:t>The result: </a:t>
            </a:r>
            <a:pPr indent="0" marL="0">
              <a:buNone/>
            </a:pPr>
            <a:r>
              <a:rPr lang="en-US" sz="1800" dirty="0">
                <a:solidFill>
                  <a:schemeClr val="tx2"/>
                </a:solidFill>
              </a:rPr>
              <a:t>slower approvals, missed funding, and research output that never gets the credit it deserves.</a:t>
            </a:r>
            <a:endParaRPr lang="en-US" sz="18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C7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200" b="1" spc="200" kern="0" dirty="0">
                <a:solidFill>
                  <a:srgbClr val="9FD8EA"/>
                </a:solidFill>
              </a:rPr>
              <a:t>OUR VALUE PROPOSITION</a:t>
            </a:r>
            <a:endParaRPr lang="en-US" sz="1200" dirty="0"/>
          </a:p>
        </p:txBody>
      </p:sp>
      <p:sp>
        <p:nvSpPr>
          <p:cNvPr id="3" name="Text 1"/>
          <p:cNvSpPr txBox="1"/>
          <p:nvPr/>
        </p:nvSpPr>
        <p:spPr>
          <a:xfrm>
            <a:off x="548640" y="960120"/>
            <a:ext cx="10607040" cy="146304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One secure platform for the entire research lifecycle — so your institution can run research faster, stay compliant, and show its impact.</a:t>
            </a:r>
            <a:endParaRPr lang="en-US" sz="3000" dirty="0"/>
          </a:p>
        </p:txBody>
      </p:sp>
      <p:sp>
        <p:nvSpPr>
          <p:cNvPr id="4" name="Shape 2"/>
          <p:cNvSpPr/>
          <p:nvPr/>
        </p:nvSpPr>
        <p:spPr>
          <a:xfrm>
            <a:off x="982980" y="3314700"/>
            <a:ext cx="10195560" cy="0"/>
          </a:xfrm>
          <a:prstGeom prst="line">
            <a:avLst/>
          </a:prstGeom>
          <a:noFill/>
          <a:ln w="25400">
            <a:solidFill>
              <a:srgbClr val="4A4775"/>
            </a:solidFill>
            <a:prstDash val="dash"/>
          </a:ln>
        </p:spPr>
      </p:sp>
      <p:sp>
        <p:nvSpPr>
          <p:cNvPr id="5" name="Shape 3"/>
          <p:cNvSpPr/>
          <p:nvPr/>
        </p:nvSpPr>
        <p:spPr>
          <a:xfrm>
            <a:off x="548640" y="2880360"/>
            <a:ext cx="868680" cy="868680"/>
          </a:xfrm>
          <a:prstGeom prst="ellipse">
            <a:avLst/>
          </a:prstGeom>
          <a:solidFill>
            <a:srgbClr val="7E5BB5"/>
          </a:solidFill>
          <a:ln w="12700">
            <a:solidFill>
              <a:srgbClr val="7E5BB5"/>
            </a:solidFill>
            <a:prstDash val="solid"/>
          </a:ln>
        </p:spPr>
      </p:sp>
      <p:pic>
        <p:nvPicPr>
          <p:cNvPr id="6" name="Image 0" descr="preencoded.png">    </p:cNvPr>
          <p:cNvPicPr>
            <a:picLocks noChangeAspect="1"/>
          </p:cNvPicPr>
          <p:nvPr/>
        </p:nvPicPr>
        <p:blipFill>
          <a:blip r:embed="rId1"/>
          <a:stretch>
            <a:fillRect/>
          </a:stretch>
        </p:blipFill>
        <p:spPr>
          <a:xfrm>
            <a:off x="757123" y="3088843"/>
            <a:ext cx="451714" cy="451714"/>
          </a:xfrm>
          <a:prstGeom prst="rect">
            <a:avLst/>
          </a:prstGeom>
        </p:spPr>
      </p:pic>
      <p:sp>
        <p:nvSpPr>
          <p:cNvPr id="7" name="Text 4"/>
          <p:cNvSpPr txBox="1"/>
          <p:nvPr/>
        </p:nvSpPr>
        <p:spPr>
          <a:xfrm>
            <a:off x="182880" y="3858768"/>
            <a:ext cx="1600200" cy="365760"/>
          </a:xfrm>
          <a:prstGeom prst="rect">
            <a:avLst/>
          </a:prstGeom>
          <a:noFill/>
          <a:ln/>
        </p:spPr>
        <p:txBody>
          <a:bodyPr wrap="square" lIns="0" tIns="0" rIns="0" bIns="0" rtlCol="0" anchor="ctr"/>
          <a:lstStyle/>
          <a:p>
            <a:pPr algn="ctr" indent="0" marL="0">
              <a:buNone/>
            </a:pPr>
            <a:r>
              <a:rPr lang="en-US" sz="1500" b="1" dirty="0">
                <a:solidFill>
                  <a:srgbClr val="FFFFFF"/>
                </a:solidFill>
              </a:rPr>
              <a:t>Propose</a:t>
            </a:r>
            <a:endParaRPr lang="en-US" sz="1500" dirty="0"/>
          </a:p>
        </p:txBody>
      </p:sp>
      <p:sp>
        <p:nvSpPr>
          <p:cNvPr id="8" name="Shape 5"/>
          <p:cNvSpPr/>
          <p:nvPr/>
        </p:nvSpPr>
        <p:spPr>
          <a:xfrm>
            <a:off x="2247900" y="2880360"/>
            <a:ext cx="868680" cy="868680"/>
          </a:xfrm>
          <a:prstGeom prst="ellipse">
            <a:avLst/>
          </a:prstGeom>
          <a:solidFill>
            <a:srgbClr val="2A9DC0"/>
          </a:solidFill>
          <a:ln w="12700">
            <a:solidFill>
              <a:srgbClr val="2A9DC0"/>
            </a:solidFill>
            <a:prstDash val="solid"/>
          </a:ln>
        </p:spPr>
      </p:sp>
      <p:pic>
        <p:nvPicPr>
          <p:cNvPr id="9" name="Image 1" descr="preencoded.png">    </p:cNvPr>
          <p:cNvPicPr>
            <a:picLocks noChangeAspect="1"/>
          </p:cNvPicPr>
          <p:nvPr/>
        </p:nvPicPr>
        <p:blipFill>
          <a:blip r:embed="rId2"/>
          <a:stretch>
            <a:fillRect/>
          </a:stretch>
        </p:blipFill>
        <p:spPr>
          <a:xfrm>
            <a:off x="2456383" y="3088843"/>
            <a:ext cx="451714" cy="451714"/>
          </a:xfrm>
          <a:prstGeom prst="rect">
            <a:avLst/>
          </a:prstGeom>
        </p:spPr>
      </p:pic>
      <p:sp>
        <p:nvSpPr>
          <p:cNvPr id="10" name="Text 6"/>
          <p:cNvSpPr txBox="1"/>
          <p:nvPr/>
        </p:nvSpPr>
        <p:spPr>
          <a:xfrm>
            <a:off x="1882140" y="3858768"/>
            <a:ext cx="1600200" cy="365760"/>
          </a:xfrm>
          <a:prstGeom prst="rect">
            <a:avLst/>
          </a:prstGeom>
          <a:noFill/>
          <a:ln/>
        </p:spPr>
        <p:txBody>
          <a:bodyPr wrap="square" lIns="0" tIns="0" rIns="0" bIns="0" rtlCol="0" anchor="ctr"/>
          <a:lstStyle/>
          <a:p>
            <a:pPr algn="ctr" indent="0" marL="0">
              <a:buNone/>
            </a:pPr>
            <a:r>
              <a:rPr lang="en-US" sz="1500" b="1" dirty="0">
                <a:solidFill>
                  <a:srgbClr val="FFFFFF"/>
                </a:solidFill>
              </a:rPr>
              <a:t>Ethics</a:t>
            </a:r>
            <a:endParaRPr lang="en-US" sz="1500" dirty="0"/>
          </a:p>
        </p:txBody>
      </p:sp>
      <p:sp>
        <p:nvSpPr>
          <p:cNvPr id="11" name="Shape 7"/>
          <p:cNvSpPr/>
          <p:nvPr/>
        </p:nvSpPr>
        <p:spPr>
          <a:xfrm>
            <a:off x="3947160" y="2880360"/>
            <a:ext cx="868680" cy="868680"/>
          </a:xfrm>
          <a:prstGeom prst="ellipse">
            <a:avLst/>
          </a:prstGeom>
          <a:solidFill>
            <a:srgbClr val="7E5BB5"/>
          </a:solidFill>
          <a:ln w="12700">
            <a:solidFill>
              <a:srgbClr val="7E5BB5"/>
            </a:solidFill>
            <a:prstDash val="solid"/>
          </a:ln>
        </p:spPr>
      </p:sp>
      <p:pic>
        <p:nvPicPr>
          <p:cNvPr id="12" name="Image 2" descr="preencoded.png">    </p:cNvPr>
          <p:cNvPicPr>
            <a:picLocks noChangeAspect="1"/>
          </p:cNvPicPr>
          <p:nvPr/>
        </p:nvPicPr>
        <p:blipFill>
          <a:blip r:embed="rId3"/>
          <a:stretch>
            <a:fillRect/>
          </a:stretch>
        </p:blipFill>
        <p:spPr>
          <a:xfrm>
            <a:off x="4155643" y="3088843"/>
            <a:ext cx="451714" cy="451714"/>
          </a:xfrm>
          <a:prstGeom prst="rect">
            <a:avLst/>
          </a:prstGeom>
        </p:spPr>
      </p:pic>
      <p:sp>
        <p:nvSpPr>
          <p:cNvPr id="13" name="Text 8"/>
          <p:cNvSpPr txBox="1"/>
          <p:nvPr/>
        </p:nvSpPr>
        <p:spPr>
          <a:xfrm>
            <a:off x="3581400" y="3858768"/>
            <a:ext cx="1600200" cy="365760"/>
          </a:xfrm>
          <a:prstGeom prst="rect">
            <a:avLst/>
          </a:prstGeom>
          <a:noFill/>
          <a:ln/>
        </p:spPr>
        <p:txBody>
          <a:bodyPr wrap="square" lIns="0" tIns="0" rIns="0" bIns="0" rtlCol="0" anchor="ctr"/>
          <a:lstStyle/>
          <a:p>
            <a:pPr algn="ctr" indent="0" marL="0">
              <a:buNone/>
            </a:pPr>
            <a:r>
              <a:rPr lang="en-US" sz="1500" b="1" dirty="0">
                <a:solidFill>
                  <a:srgbClr val="FFFFFF"/>
                </a:solidFill>
              </a:rPr>
              <a:t>Fund</a:t>
            </a:r>
            <a:endParaRPr lang="en-US" sz="1500" dirty="0"/>
          </a:p>
        </p:txBody>
      </p:sp>
      <p:sp>
        <p:nvSpPr>
          <p:cNvPr id="14" name="Shape 9"/>
          <p:cNvSpPr/>
          <p:nvPr/>
        </p:nvSpPr>
        <p:spPr>
          <a:xfrm>
            <a:off x="5646420" y="2880360"/>
            <a:ext cx="868680" cy="868680"/>
          </a:xfrm>
          <a:prstGeom prst="ellipse">
            <a:avLst/>
          </a:prstGeom>
          <a:solidFill>
            <a:srgbClr val="2A9DC0"/>
          </a:solidFill>
          <a:ln w="12700">
            <a:solidFill>
              <a:srgbClr val="2A9DC0"/>
            </a:solidFill>
            <a:prstDash val="solid"/>
          </a:ln>
        </p:spPr>
      </p:sp>
      <p:pic>
        <p:nvPicPr>
          <p:cNvPr id="15" name="Image 3" descr="preencoded.png">    </p:cNvPr>
          <p:cNvPicPr>
            <a:picLocks noChangeAspect="1"/>
          </p:cNvPicPr>
          <p:nvPr/>
        </p:nvPicPr>
        <p:blipFill>
          <a:blip r:embed="rId4"/>
          <a:stretch>
            <a:fillRect/>
          </a:stretch>
        </p:blipFill>
        <p:spPr>
          <a:xfrm>
            <a:off x="5854903" y="3088843"/>
            <a:ext cx="451714" cy="451714"/>
          </a:xfrm>
          <a:prstGeom prst="rect">
            <a:avLst/>
          </a:prstGeom>
        </p:spPr>
      </p:pic>
      <p:sp>
        <p:nvSpPr>
          <p:cNvPr id="16" name="Text 10"/>
          <p:cNvSpPr txBox="1"/>
          <p:nvPr/>
        </p:nvSpPr>
        <p:spPr>
          <a:xfrm>
            <a:off x="5280660" y="3858768"/>
            <a:ext cx="1600200" cy="365760"/>
          </a:xfrm>
          <a:prstGeom prst="rect">
            <a:avLst/>
          </a:prstGeom>
          <a:noFill/>
          <a:ln/>
        </p:spPr>
        <p:txBody>
          <a:bodyPr wrap="square" lIns="0" tIns="0" rIns="0" bIns="0" rtlCol="0" anchor="ctr"/>
          <a:lstStyle/>
          <a:p>
            <a:pPr algn="ctr" indent="0" marL="0">
              <a:buNone/>
            </a:pPr>
            <a:r>
              <a:rPr lang="en-US" sz="1500" b="1" dirty="0">
                <a:solidFill>
                  <a:srgbClr val="FFFFFF"/>
                </a:solidFill>
              </a:rPr>
              <a:t>Run &amp; trial</a:t>
            </a:r>
            <a:endParaRPr lang="en-US" sz="1500" dirty="0"/>
          </a:p>
        </p:txBody>
      </p:sp>
      <p:sp>
        <p:nvSpPr>
          <p:cNvPr id="17" name="Shape 11"/>
          <p:cNvSpPr/>
          <p:nvPr/>
        </p:nvSpPr>
        <p:spPr>
          <a:xfrm>
            <a:off x="7345680" y="2880360"/>
            <a:ext cx="868680" cy="868680"/>
          </a:xfrm>
          <a:prstGeom prst="ellipse">
            <a:avLst/>
          </a:prstGeom>
          <a:solidFill>
            <a:srgbClr val="7E5BB5"/>
          </a:solidFill>
          <a:ln w="12700">
            <a:solidFill>
              <a:srgbClr val="7E5BB5"/>
            </a:solidFill>
            <a:prstDash val="solid"/>
          </a:ln>
        </p:spPr>
      </p:sp>
      <p:pic>
        <p:nvPicPr>
          <p:cNvPr id="18" name="Image 4" descr="preencoded.png">    </p:cNvPr>
          <p:cNvPicPr>
            <a:picLocks noChangeAspect="1"/>
          </p:cNvPicPr>
          <p:nvPr/>
        </p:nvPicPr>
        <p:blipFill>
          <a:blip r:embed="rId5"/>
          <a:stretch>
            <a:fillRect/>
          </a:stretch>
        </p:blipFill>
        <p:spPr>
          <a:xfrm>
            <a:off x="7554163" y="3088843"/>
            <a:ext cx="451714" cy="451714"/>
          </a:xfrm>
          <a:prstGeom prst="rect">
            <a:avLst/>
          </a:prstGeom>
        </p:spPr>
      </p:pic>
      <p:sp>
        <p:nvSpPr>
          <p:cNvPr id="19" name="Text 12"/>
          <p:cNvSpPr txBox="1"/>
          <p:nvPr/>
        </p:nvSpPr>
        <p:spPr>
          <a:xfrm>
            <a:off x="6979920" y="3858768"/>
            <a:ext cx="1600200" cy="365760"/>
          </a:xfrm>
          <a:prstGeom prst="rect">
            <a:avLst/>
          </a:prstGeom>
          <a:noFill/>
          <a:ln/>
        </p:spPr>
        <p:txBody>
          <a:bodyPr wrap="square" lIns="0" tIns="0" rIns="0" bIns="0" rtlCol="0" anchor="ctr"/>
          <a:lstStyle/>
          <a:p>
            <a:pPr algn="ctr" indent="0" marL="0">
              <a:buNone/>
            </a:pPr>
            <a:r>
              <a:rPr lang="en-US" sz="1500" b="1" dirty="0">
                <a:solidFill>
                  <a:srgbClr val="FFFFFF"/>
                </a:solidFill>
              </a:rPr>
              <a:t>Write</a:t>
            </a:r>
            <a:endParaRPr lang="en-US" sz="1500" dirty="0"/>
          </a:p>
        </p:txBody>
      </p:sp>
      <p:sp>
        <p:nvSpPr>
          <p:cNvPr id="20" name="Shape 13"/>
          <p:cNvSpPr/>
          <p:nvPr/>
        </p:nvSpPr>
        <p:spPr>
          <a:xfrm>
            <a:off x="9044940" y="2880360"/>
            <a:ext cx="868680" cy="868680"/>
          </a:xfrm>
          <a:prstGeom prst="ellipse">
            <a:avLst/>
          </a:prstGeom>
          <a:solidFill>
            <a:srgbClr val="2A9DC0"/>
          </a:solidFill>
          <a:ln w="12700">
            <a:solidFill>
              <a:srgbClr val="2A9DC0"/>
            </a:solidFill>
            <a:prstDash val="solid"/>
          </a:ln>
        </p:spPr>
      </p:sp>
      <p:pic>
        <p:nvPicPr>
          <p:cNvPr id="21" name="Image 5" descr="preencoded.png">    </p:cNvPr>
          <p:cNvPicPr>
            <a:picLocks noChangeAspect="1"/>
          </p:cNvPicPr>
          <p:nvPr/>
        </p:nvPicPr>
        <p:blipFill>
          <a:blip r:embed="rId6"/>
          <a:stretch>
            <a:fillRect/>
          </a:stretch>
        </p:blipFill>
        <p:spPr>
          <a:xfrm>
            <a:off x="9253423" y="3088843"/>
            <a:ext cx="451714" cy="451714"/>
          </a:xfrm>
          <a:prstGeom prst="rect">
            <a:avLst/>
          </a:prstGeom>
        </p:spPr>
      </p:pic>
      <p:sp>
        <p:nvSpPr>
          <p:cNvPr id="22" name="Text 14"/>
          <p:cNvSpPr txBox="1"/>
          <p:nvPr/>
        </p:nvSpPr>
        <p:spPr>
          <a:xfrm>
            <a:off x="8679180" y="3858768"/>
            <a:ext cx="1600200" cy="365760"/>
          </a:xfrm>
          <a:prstGeom prst="rect">
            <a:avLst/>
          </a:prstGeom>
          <a:noFill/>
          <a:ln/>
        </p:spPr>
        <p:txBody>
          <a:bodyPr wrap="square" lIns="0" tIns="0" rIns="0" bIns="0" rtlCol="0" anchor="ctr"/>
          <a:lstStyle/>
          <a:p>
            <a:pPr algn="ctr" indent="0" marL="0">
              <a:buNone/>
            </a:pPr>
            <a:r>
              <a:rPr lang="en-US" sz="1500" b="1" dirty="0">
                <a:solidFill>
                  <a:srgbClr val="FFFFFF"/>
                </a:solidFill>
              </a:rPr>
              <a:t>Publish</a:t>
            </a:r>
            <a:endParaRPr lang="en-US" sz="1500" dirty="0"/>
          </a:p>
        </p:txBody>
      </p:sp>
      <p:sp>
        <p:nvSpPr>
          <p:cNvPr id="23" name="Shape 15"/>
          <p:cNvSpPr/>
          <p:nvPr/>
        </p:nvSpPr>
        <p:spPr>
          <a:xfrm>
            <a:off x="10744200" y="2880360"/>
            <a:ext cx="868680" cy="868680"/>
          </a:xfrm>
          <a:prstGeom prst="ellipse">
            <a:avLst/>
          </a:prstGeom>
          <a:solidFill>
            <a:srgbClr val="7E5BB5"/>
          </a:solidFill>
          <a:ln w="12700">
            <a:solidFill>
              <a:srgbClr val="7E5BB5"/>
            </a:solidFill>
            <a:prstDash val="solid"/>
          </a:ln>
        </p:spPr>
      </p:sp>
      <p:pic>
        <p:nvPicPr>
          <p:cNvPr id="24" name="Image 6" descr="preencoded.png">    </p:cNvPr>
          <p:cNvPicPr>
            <a:picLocks noChangeAspect="1"/>
          </p:cNvPicPr>
          <p:nvPr/>
        </p:nvPicPr>
        <p:blipFill>
          <a:blip r:embed="rId7"/>
          <a:stretch>
            <a:fillRect/>
          </a:stretch>
        </p:blipFill>
        <p:spPr>
          <a:xfrm>
            <a:off x="10952683" y="3088843"/>
            <a:ext cx="451714" cy="451714"/>
          </a:xfrm>
          <a:prstGeom prst="rect">
            <a:avLst/>
          </a:prstGeom>
        </p:spPr>
      </p:pic>
      <p:sp>
        <p:nvSpPr>
          <p:cNvPr id="25" name="Text 16"/>
          <p:cNvSpPr txBox="1"/>
          <p:nvPr/>
        </p:nvSpPr>
        <p:spPr>
          <a:xfrm>
            <a:off x="10378440" y="3858768"/>
            <a:ext cx="1600200" cy="365760"/>
          </a:xfrm>
          <a:prstGeom prst="rect">
            <a:avLst/>
          </a:prstGeom>
          <a:noFill/>
          <a:ln/>
        </p:spPr>
        <p:txBody>
          <a:bodyPr wrap="square" lIns="0" tIns="0" rIns="0" bIns="0" rtlCol="0" anchor="ctr"/>
          <a:lstStyle/>
          <a:p>
            <a:pPr algn="ctr" indent="0" marL="0">
              <a:buNone/>
            </a:pPr>
            <a:r>
              <a:rPr lang="en-US" sz="1500" b="1" dirty="0">
                <a:solidFill>
                  <a:srgbClr val="FFFFFF"/>
                </a:solidFill>
              </a:rPr>
              <a:t>Measure</a:t>
            </a:r>
            <a:endParaRPr lang="en-US" sz="1500" dirty="0"/>
          </a:p>
        </p:txBody>
      </p:sp>
      <p:sp>
        <p:nvSpPr>
          <p:cNvPr id="26" name="Pillar Centralised"/>
          <p:cNvSpPr/>
          <p:nvPr/>
        </p:nvSpPr>
        <p:spPr>
          <a:xfrm>
            <a:off x="548640" y="4617720"/>
            <a:ext cx="3566160" cy="1600200"/>
          </a:xfrm>
          <a:prstGeom prst="roundRect">
            <a:avLst>
              <a:gd name="adj" fmla="val 5714"/>
            </a:avLst>
          </a:prstGeom>
          <a:solidFill>
            <a:srgbClr val="2A2852"/>
          </a:solidFill>
          <a:ln w="9525">
            <a:solidFill>
              <a:srgbClr val="3A3768"/>
            </a:solidFill>
            <a:prstDash val="solid"/>
          </a:ln>
        </p:spPr>
      </p:sp>
      <p:sp>
        <p:nvSpPr>
          <p:cNvPr id="27" name="Text 18"/>
          <p:cNvSpPr txBox="1"/>
          <p:nvPr/>
        </p:nvSpPr>
        <p:spPr>
          <a:xfrm>
            <a:off x="777240" y="4754880"/>
            <a:ext cx="3108960" cy="365760"/>
          </a:xfrm>
          <a:prstGeom prst="rect">
            <a:avLst/>
          </a:prstGeom>
          <a:noFill/>
          <a:ln/>
        </p:spPr>
        <p:txBody>
          <a:bodyPr wrap="square" lIns="0" tIns="0" rIns="0" bIns="0" rtlCol="0" anchor="ctr"/>
          <a:lstStyle/>
          <a:p>
            <a:pPr indent="0" marL="0">
              <a:buNone/>
            </a:pPr>
            <a:r>
              <a:rPr lang="en-US" sz="1800" b="1" dirty="0">
                <a:solidFill>
                  <a:srgbClr val="9FD8EA"/>
                </a:solidFill>
              </a:rPr>
              <a:t>Centralised</a:t>
            </a:r>
            <a:endParaRPr lang="en-US" sz="1800" dirty="0"/>
          </a:p>
        </p:txBody>
      </p:sp>
      <p:sp>
        <p:nvSpPr>
          <p:cNvPr id="28" name="Text 19"/>
          <p:cNvSpPr txBox="1"/>
          <p:nvPr/>
        </p:nvSpPr>
        <p:spPr>
          <a:xfrm>
            <a:off x="777240" y="5138928"/>
            <a:ext cx="3154680" cy="1005840"/>
          </a:xfrm>
          <a:prstGeom prst="rect">
            <a:avLst/>
          </a:prstGeom>
          <a:noFill/>
          <a:ln/>
        </p:spPr>
        <p:txBody>
          <a:bodyPr wrap="square" lIns="0" tIns="0" rIns="0" bIns="0" rtlCol="0" anchor="t"/>
          <a:lstStyle/>
          <a:p>
            <a:pPr indent="0" marL="0">
              <a:buNone/>
            </a:pPr>
            <a:r>
              <a:rPr lang="en-US" sz="1400" dirty="0">
                <a:solidFill>
                  <a:srgbClr val="E4E1F3"/>
                </a:solidFill>
              </a:rPr>
              <a:t>Every proposal, approval, grant, trial and paper in one place, with a single researcher profile.</a:t>
            </a:r>
            <a:endParaRPr lang="en-US" sz="1400" dirty="0"/>
          </a:p>
        </p:txBody>
      </p:sp>
      <p:sp>
        <p:nvSpPr>
          <p:cNvPr id="29" name="Pillar Compliant"/>
          <p:cNvSpPr/>
          <p:nvPr/>
        </p:nvSpPr>
        <p:spPr>
          <a:xfrm>
            <a:off x="4297680" y="4617720"/>
            <a:ext cx="3566160" cy="1600200"/>
          </a:xfrm>
          <a:prstGeom prst="roundRect">
            <a:avLst>
              <a:gd name="adj" fmla="val 5714"/>
            </a:avLst>
          </a:prstGeom>
          <a:solidFill>
            <a:srgbClr val="2A2852"/>
          </a:solidFill>
          <a:ln w="9525">
            <a:solidFill>
              <a:srgbClr val="3A3768"/>
            </a:solidFill>
            <a:prstDash val="solid"/>
          </a:ln>
        </p:spPr>
      </p:sp>
      <p:sp>
        <p:nvSpPr>
          <p:cNvPr id="30" name="Text 21"/>
          <p:cNvSpPr txBox="1"/>
          <p:nvPr/>
        </p:nvSpPr>
        <p:spPr>
          <a:xfrm>
            <a:off x="4526280" y="4754880"/>
            <a:ext cx="3108960" cy="365760"/>
          </a:xfrm>
          <a:prstGeom prst="rect">
            <a:avLst/>
          </a:prstGeom>
          <a:noFill/>
          <a:ln/>
        </p:spPr>
        <p:txBody>
          <a:bodyPr wrap="square" lIns="0" tIns="0" rIns="0" bIns="0" rtlCol="0" anchor="ctr"/>
          <a:lstStyle/>
          <a:p>
            <a:pPr indent="0" marL="0">
              <a:buNone/>
            </a:pPr>
            <a:r>
              <a:rPr lang="en-US" sz="1800" b="1" dirty="0">
                <a:solidFill>
                  <a:srgbClr val="9FD8EA"/>
                </a:solidFill>
              </a:rPr>
              <a:t>Compliant</a:t>
            </a:r>
            <a:endParaRPr lang="en-US" sz="1800" dirty="0"/>
          </a:p>
        </p:txBody>
      </p:sp>
      <p:sp>
        <p:nvSpPr>
          <p:cNvPr id="31" name="Text 22"/>
          <p:cNvSpPr txBox="1"/>
          <p:nvPr/>
        </p:nvSpPr>
        <p:spPr>
          <a:xfrm>
            <a:off x="4526280" y="5138928"/>
            <a:ext cx="3154680" cy="1005840"/>
          </a:xfrm>
          <a:prstGeom prst="rect">
            <a:avLst/>
          </a:prstGeom>
          <a:noFill/>
          <a:ln/>
        </p:spPr>
        <p:txBody>
          <a:bodyPr wrap="square" lIns="0" tIns="0" rIns="0" bIns="0" rtlCol="0" anchor="t"/>
          <a:lstStyle/>
          <a:p>
            <a:pPr indent="0" marL="0">
              <a:buNone/>
            </a:pPr>
            <a:r>
              <a:rPr lang="en-US" sz="1400" dirty="0">
                <a:solidFill>
                  <a:srgbClr val="E4E1F3"/>
                </a:solidFill>
              </a:rPr>
              <a:t>Built-in ethics review, trial registry exports, image integrity checks and audit trails.</a:t>
            </a:r>
            <a:endParaRPr lang="en-US" sz="1400" dirty="0"/>
          </a:p>
        </p:txBody>
      </p:sp>
      <p:sp>
        <p:nvSpPr>
          <p:cNvPr id="32" name="Pillar Visible"/>
          <p:cNvSpPr/>
          <p:nvPr/>
        </p:nvSpPr>
        <p:spPr>
          <a:xfrm>
            <a:off x="8046720" y="4617720"/>
            <a:ext cx="3566160" cy="1600200"/>
          </a:xfrm>
          <a:prstGeom prst="roundRect">
            <a:avLst>
              <a:gd name="adj" fmla="val 5714"/>
            </a:avLst>
          </a:prstGeom>
          <a:solidFill>
            <a:srgbClr val="2A2852"/>
          </a:solidFill>
          <a:ln w="9525">
            <a:solidFill>
              <a:srgbClr val="3A3768"/>
            </a:solidFill>
            <a:prstDash val="solid"/>
          </a:ln>
        </p:spPr>
      </p:sp>
      <p:sp>
        <p:nvSpPr>
          <p:cNvPr id="33" name="Text 24"/>
          <p:cNvSpPr txBox="1"/>
          <p:nvPr/>
        </p:nvSpPr>
        <p:spPr>
          <a:xfrm>
            <a:off x="8275320" y="4754880"/>
            <a:ext cx="3108960" cy="365760"/>
          </a:xfrm>
          <a:prstGeom prst="rect">
            <a:avLst/>
          </a:prstGeom>
          <a:noFill/>
          <a:ln/>
        </p:spPr>
        <p:txBody>
          <a:bodyPr wrap="square" lIns="0" tIns="0" rIns="0" bIns="0" rtlCol="0" anchor="ctr"/>
          <a:lstStyle/>
          <a:p>
            <a:pPr indent="0" marL="0">
              <a:buNone/>
            </a:pPr>
            <a:r>
              <a:rPr lang="en-US" sz="1800" b="1" dirty="0">
                <a:solidFill>
                  <a:srgbClr val="9FD8EA"/>
                </a:solidFill>
              </a:rPr>
              <a:t>Visible</a:t>
            </a:r>
            <a:endParaRPr lang="en-US" sz="1800" dirty="0"/>
          </a:p>
        </p:txBody>
      </p:sp>
      <p:sp>
        <p:nvSpPr>
          <p:cNvPr id="34" name="Text 25"/>
          <p:cNvSpPr txBox="1"/>
          <p:nvPr/>
        </p:nvSpPr>
        <p:spPr>
          <a:xfrm>
            <a:off x="8275320" y="5138928"/>
            <a:ext cx="3154680" cy="1005840"/>
          </a:xfrm>
          <a:prstGeom prst="rect">
            <a:avLst/>
          </a:prstGeom>
          <a:noFill/>
          <a:ln/>
        </p:spPr>
        <p:txBody>
          <a:bodyPr wrap="square" lIns="0" tIns="0" rIns="0" bIns="0" rtlCol="0" anchor="t"/>
          <a:lstStyle/>
          <a:p>
            <a:pPr indent="0" marL="0">
              <a:buNone/>
            </a:pPr>
            <a:r>
              <a:rPr lang="en-US" sz="1400" dirty="0">
                <a:solidFill>
                  <a:srgbClr val="E4E1F3"/>
                </a:solidFill>
              </a:rPr>
              <a:t>ORCID, Crossref and DataCite links plus AI-powered analytics that turn activity into reportable impact.</a:t>
            </a:r>
            <a:endParaRPr lang="en-US" sz="1400" dirty="0"/>
          </a:p>
        </p:txBody>
      </p:sp>
      <p:sp>
        <p:nvSpPr>
          <p:cNvPr id="36"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endParaRPr lang="en-US" sz="3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chemeClr val="tx2"/>
                </a:solidFill>
              </a:rPr>
              <a:t>Built for everyone in the research ecosystem</a:t>
            </a:r>
            <a:endParaRPr lang="en-US" sz="3200" dirty="0"/>
          </a:p>
        </p:txBody>
      </p:sp>
      <p:sp>
        <p:nvSpPr>
          <p:cNvPr id="3" name="Text 1"/>
          <p:cNvSpPr txBox="1"/>
          <p:nvPr/>
        </p:nvSpPr>
        <p:spPr>
          <a:xfrm>
            <a:off x="548640" y="1143000"/>
            <a:ext cx="11064240" cy="457200"/>
          </a:xfrm>
          <a:prstGeom prst="rect">
            <a:avLst/>
          </a:prstGeom>
          <a:noFill/>
          <a:ln/>
        </p:spPr>
        <p:txBody>
          <a:bodyPr wrap="square" lIns="0" tIns="0" rIns="0" bIns="0" rtlCol="0" anchor="ctr"/>
          <a:lstStyle/>
          <a:p>
            <a:pPr indent="0" marL="0">
              <a:buNone/>
            </a:pPr>
            <a:r>
              <a:rPr lang="en-US" sz="1600" dirty="0">
                <a:solidFill>
                  <a:schemeClr val="tx1"/>
                </a:solidFill>
              </a:rPr>
              <a:t>Each role gets its own workspace on the same shared data.</a:t>
            </a:r>
            <a:endParaRPr lang="en-US" sz="1600" dirty="0"/>
          </a:p>
        </p:txBody>
      </p:sp>
      <p:sp>
        <p:nvSpPr>
          <p:cNvPr id="4" name="Audience 1"/>
          <p:cNvSpPr/>
          <p:nvPr/>
        </p:nvSpPr>
        <p:spPr>
          <a:xfrm>
            <a:off x="548640" y="1828800"/>
            <a:ext cx="5440680" cy="1920240"/>
          </a:xfrm>
          <a:prstGeom prst="roundRect">
            <a:avLst>
              <a:gd name="adj" fmla="val 4762"/>
            </a:avLst>
          </a:prstGeom>
          <a:solidFill>
            <a:srgbClr val="F6F4FB"/>
          </a:solidFill>
          <a:ln w="9525">
            <a:solidFill>
              <a:srgbClr val="DDD8EC"/>
            </a:solidFill>
            <a:prstDash val="solid"/>
          </a:ln>
        </p:spPr>
      </p:sp>
      <p:sp>
        <p:nvSpPr>
          <p:cNvPr id="5" name="Shape 3"/>
          <p:cNvSpPr/>
          <p:nvPr/>
        </p:nvSpPr>
        <p:spPr>
          <a:xfrm>
            <a:off x="822960" y="2148840"/>
            <a:ext cx="822960" cy="822960"/>
          </a:xfrm>
          <a:prstGeom prst="ellipse">
            <a:avLst/>
          </a:prstGeom>
          <a:solidFill>
            <a:srgbClr val="7E5BB5"/>
          </a:solidFill>
          <a:ln w="12700">
            <a:solidFill>
              <a:srgbClr val="7E5BB5"/>
            </a:solidFill>
            <a:prstDash val="solid"/>
          </a:ln>
        </p:spPr>
      </p:sp>
      <p:pic>
        <p:nvPicPr>
          <p:cNvPr id="6" name="Image 0" descr="preencoded.png">    </p:cNvPr>
          <p:cNvPicPr>
            <a:picLocks noChangeAspect="1"/>
          </p:cNvPicPr>
          <p:nvPr/>
        </p:nvPicPr>
        <p:blipFill>
          <a:blip r:embed="rId1"/>
          <a:stretch>
            <a:fillRect/>
          </a:stretch>
        </p:blipFill>
        <p:spPr>
          <a:xfrm>
            <a:off x="1020470" y="2346350"/>
            <a:ext cx="427939" cy="427939"/>
          </a:xfrm>
          <a:prstGeom prst="rect">
            <a:avLst/>
          </a:prstGeom>
        </p:spPr>
      </p:pic>
      <p:sp>
        <p:nvSpPr>
          <p:cNvPr id="7" name="Text 4"/>
          <p:cNvSpPr txBox="1"/>
          <p:nvPr/>
        </p:nvSpPr>
        <p:spPr>
          <a:xfrm>
            <a:off x="1874520" y="2103120"/>
            <a:ext cx="3886200" cy="411480"/>
          </a:xfrm>
          <a:prstGeom prst="rect">
            <a:avLst/>
          </a:prstGeom>
          <a:noFill/>
          <a:ln/>
        </p:spPr>
        <p:txBody>
          <a:bodyPr wrap="square" lIns="0" tIns="0" rIns="0" bIns="0" rtlCol="0" anchor="ctr"/>
          <a:lstStyle/>
          <a:p>
            <a:pPr indent="0" marL="0">
              <a:buNone/>
            </a:pPr>
            <a:r>
              <a:rPr lang="en-US" sz="1800" b="1" dirty="0">
                <a:solidFill>
                  <a:schemeClr val="tx2"/>
                </a:solidFill>
              </a:rPr>
              <a:t>Universities &amp; research offices</a:t>
            </a:r>
            <a:endParaRPr lang="en-US" sz="1800" dirty="0"/>
          </a:p>
        </p:txBody>
      </p:sp>
      <p:sp>
        <p:nvSpPr>
          <p:cNvPr id="8" name="Text 5"/>
          <p:cNvSpPr txBox="1"/>
          <p:nvPr/>
        </p:nvSpPr>
        <p:spPr>
          <a:xfrm>
            <a:off x="1874520" y="2560320"/>
            <a:ext cx="3886200" cy="1005840"/>
          </a:xfrm>
          <a:prstGeom prst="rect">
            <a:avLst/>
          </a:prstGeom>
          <a:noFill/>
          <a:ln/>
        </p:spPr>
        <p:txBody>
          <a:bodyPr wrap="square" lIns="0" tIns="0" rIns="0" bIns="0" rtlCol="0" anchor="t"/>
          <a:lstStyle/>
          <a:p>
            <a:pPr indent="0" marL="0">
              <a:buNone/>
            </a:pPr>
            <a:r>
              <a:rPr lang="en-US" sz="1400" dirty="0">
                <a:solidFill>
                  <a:schemeClr val="tx1"/>
                </a:solidFill>
              </a:rPr>
              <a:t>Oversee proposals, ethics and outputs across faculties; report to leadership in minutes, not weeks.</a:t>
            </a:r>
            <a:endParaRPr lang="en-US" sz="1400" dirty="0"/>
          </a:p>
        </p:txBody>
      </p:sp>
      <p:sp>
        <p:nvSpPr>
          <p:cNvPr id="9" name="Audience 2"/>
          <p:cNvSpPr/>
          <p:nvPr/>
        </p:nvSpPr>
        <p:spPr>
          <a:xfrm>
            <a:off x="6172200" y="1828800"/>
            <a:ext cx="5440680" cy="1920240"/>
          </a:xfrm>
          <a:prstGeom prst="roundRect">
            <a:avLst>
              <a:gd name="adj" fmla="val 4762"/>
            </a:avLst>
          </a:prstGeom>
          <a:solidFill>
            <a:srgbClr val="F6F4FB"/>
          </a:solidFill>
          <a:ln w="9525">
            <a:solidFill>
              <a:srgbClr val="DDD8EC"/>
            </a:solidFill>
            <a:prstDash val="solid"/>
          </a:ln>
        </p:spPr>
      </p:sp>
      <p:sp>
        <p:nvSpPr>
          <p:cNvPr id="10" name="Shape 7"/>
          <p:cNvSpPr/>
          <p:nvPr/>
        </p:nvSpPr>
        <p:spPr>
          <a:xfrm>
            <a:off x="6446520" y="2148840"/>
            <a:ext cx="822960" cy="822960"/>
          </a:xfrm>
          <a:prstGeom prst="ellipse">
            <a:avLst/>
          </a:prstGeom>
          <a:solidFill>
            <a:srgbClr val="2A9DC0"/>
          </a:solidFill>
          <a:ln w="12700">
            <a:solidFill>
              <a:srgbClr val="2A9DC0"/>
            </a:solidFill>
            <a:prstDash val="solid"/>
          </a:ln>
        </p:spPr>
      </p:sp>
      <p:pic>
        <p:nvPicPr>
          <p:cNvPr id="11" name="Image 1" descr="preencoded.png">    </p:cNvPr>
          <p:cNvPicPr>
            <a:picLocks noChangeAspect="1"/>
          </p:cNvPicPr>
          <p:nvPr/>
        </p:nvPicPr>
        <p:blipFill>
          <a:blip r:embed="rId2"/>
          <a:stretch>
            <a:fillRect/>
          </a:stretch>
        </p:blipFill>
        <p:spPr>
          <a:xfrm>
            <a:off x="6644030" y="2346350"/>
            <a:ext cx="427939" cy="427939"/>
          </a:xfrm>
          <a:prstGeom prst="rect">
            <a:avLst/>
          </a:prstGeom>
        </p:spPr>
      </p:pic>
      <p:sp>
        <p:nvSpPr>
          <p:cNvPr id="12" name="Text 8"/>
          <p:cNvSpPr txBox="1"/>
          <p:nvPr/>
        </p:nvSpPr>
        <p:spPr>
          <a:xfrm>
            <a:off x="7498080" y="2103120"/>
            <a:ext cx="3886200" cy="411480"/>
          </a:xfrm>
          <a:prstGeom prst="rect">
            <a:avLst/>
          </a:prstGeom>
          <a:noFill/>
          <a:ln/>
        </p:spPr>
        <p:txBody>
          <a:bodyPr wrap="square" lIns="0" tIns="0" rIns="0" bIns="0" rtlCol="0" anchor="ctr"/>
          <a:lstStyle/>
          <a:p>
            <a:pPr indent="0" marL="0">
              <a:buNone/>
            </a:pPr>
            <a:r>
              <a:rPr lang="en-US" sz="1800" b="1" dirty="0">
                <a:solidFill>
                  <a:schemeClr val="tx2"/>
                </a:solidFill>
              </a:rPr>
              <a:t>Hospitals &amp; clinical research units</a:t>
            </a:r>
            <a:endParaRPr lang="en-US" sz="1800" dirty="0"/>
          </a:p>
        </p:txBody>
      </p:sp>
      <p:sp>
        <p:nvSpPr>
          <p:cNvPr id="13" name="Text 9"/>
          <p:cNvSpPr txBox="1"/>
          <p:nvPr/>
        </p:nvSpPr>
        <p:spPr>
          <a:xfrm>
            <a:off x="7498080" y="2560320"/>
            <a:ext cx="3886200" cy="1005840"/>
          </a:xfrm>
          <a:prstGeom prst="rect">
            <a:avLst/>
          </a:prstGeom>
          <a:noFill/>
          <a:ln/>
        </p:spPr>
        <p:txBody>
          <a:bodyPr wrap="square" lIns="0" tIns="0" rIns="0" bIns="0" rtlCol="0" anchor="t"/>
          <a:lstStyle/>
          <a:p>
            <a:pPr indent="0" marL="0">
              <a:buNone/>
            </a:pPr>
            <a:r>
              <a:rPr lang="en-US" sz="1400" dirty="0">
                <a:solidFill>
                  <a:schemeClr val="tx1"/>
                </a:solidFill>
              </a:rPr>
              <a:t>Govern clinical trials, ethics approvals and safety reporting with registry-ready exports and audit trails.</a:t>
            </a:r>
            <a:endParaRPr lang="en-US" sz="1400" dirty="0"/>
          </a:p>
        </p:txBody>
      </p:sp>
      <p:sp>
        <p:nvSpPr>
          <p:cNvPr id="14" name="Audience 3"/>
          <p:cNvSpPr/>
          <p:nvPr/>
        </p:nvSpPr>
        <p:spPr>
          <a:xfrm>
            <a:off x="548640" y="3977640"/>
            <a:ext cx="5440680" cy="1920240"/>
          </a:xfrm>
          <a:prstGeom prst="roundRect">
            <a:avLst>
              <a:gd name="adj" fmla="val 4762"/>
            </a:avLst>
          </a:prstGeom>
          <a:solidFill>
            <a:srgbClr val="F6F4FB"/>
          </a:solidFill>
          <a:ln w="9525">
            <a:solidFill>
              <a:srgbClr val="DDD8EC"/>
            </a:solidFill>
            <a:prstDash val="solid"/>
          </a:ln>
        </p:spPr>
      </p:sp>
      <p:sp>
        <p:nvSpPr>
          <p:cNvPr id="15" name="Shape 11"/>
          <p:cNvSpPr/>
          <p:nvPr/>
        </p:nvSpPr>
        <p:spPr>
          <a:xfrm>
            <a:off x="822960" y="4297680"/>
            <a:ext cx="822960" cy="822960"/>
          </a:xfrm>
          <a:prstGeom prst="ellipse">
            <a:avLst/>
          </a:prstGeom>
          <a:solidFill>
            <a:srgbClr val="7E5BB5"/>
          </a:solidFill>
          <a:ln w="12700">
            <a:solidFill>
              <a:srgbClr val="7E5BB5"/>
            </a:solidFill>
            <a:prstDash val="solid"/>
          </a:ln>
        </p:spPr>
      </p:sp>
      <p:pic>
        <p:nvPicPr>
          <p:cNvPr id="16" name="Image 2" descr="preencoded.png">    </p:cNvPr>
          <p:cNvPicPr>
            <a:picLocks noChangeAspect="1"/>
          </p:cNvPicPr>
          <p:nvPr/>
        </p:nvPicPr>
        <p:blipFill>
          <a:blip r:embed="rId3"/>
          <a:stretch>
            <a:fillRect/>
          </a:stretch>
        </p:blipFill>
        <p:spPr>
          <a:xfrm>
            <a:off x="1020470" y="4495190"/>
            <a:ext cx="427939" cy="427939"/>
          </a:xfrm>
          <a:prstGeom prst="rect">
            <a:avLst/>
          </a:prstGeom>
        </p:spPr>
      </p:pic>
      <p:sp>
        <p:nvSpPr>
          <p:cNvPr id="17" name="Text 12"/>
          <p:cNvSpPr txBox="1"/>
          <p:nvPr/>
        </p:nvSpPr>
        <p:spPr>
          <a:xfrm>
            <a:off x="1874520" y="4251960"/>
            <a:ext cx="3886200" cy="411480"/>
          </a:xfrm>
          <a:prstGeom prst="rect">
            <a:avLst/>
          </a:prstGeom>
          <a:noFill/>
          <a:ln/>
        </p:spPr>
        <p:txBody>
          <a:bodyPr wrap="square" lIns="0" tIns="0" rIns="0" bIns="0" rtlCol="0" anchor="ctr"/>
          <a:lstStyle/>
          <a:p>
            <a:pPr indent="0" marL="0">
              <a:buNone/>
            </a:pPr>
            <a:r>
              <a:rPr lang="en-US" sz="1800" b="1" dirty="0">
                <a:solidFill>
                  <a:schemeClr val="tx2"/>
                </a:solidFill>
              </a:rPr>
              <a:t>Funding foundations</a:t>
            </a:r>
            <a:endParaRPr lang="en-US" sz="1800" dirty="0"/>
          </a:p>
        </p:txBody>
      </p:sp>
      <p:sp>
        <p:nvSpPr>
          <p:cNvPr id="18" name="Text 13"/>
          <p:cNvSpPr txBox="1"/>
          <p:nvPr/>
        </p:nvSpPr>
        <p:spPr>
          <a:xfrm>
            <a:off x="1874520" y="4709160"/>
            <a:ext cx="3886200" cy="1005840"/>
          </a:xfrm>
          <a:prstGeom prst="rect">
            <a:avLst/>
          </a:prstGeom>
          <a:noFill/>
          <a:ln/>
        </p:spPr>
        <p:txBody>
          <a:bodyPr wrap="square" lIns="0" tIns="0" rIns="0" bIns="0" rtlCol="0" anchor="t"/>
          <a:lstStyle/>
          <a:p>
            <a:pPr indent="0" marL="0">
              <a:buNone/>
            </a:pPr>
            <a:r>
              <a:rPr lang="en-US" sz="1400" dirty="0">
                <a:solidFill>
                  <a:schemeClr val="tx1"/>
                </a:solidFill>
              </a:rPr>
              <a:t>Run grant calls, internal funding requests, campaigns and donors, and track what every grant delivered.</a:t>
            </a:r>
            <a:endParaRPr lang="en-US" sz="1400" dirty="0"/>
          </a:p>
        </p:txBody>
      </p:sp>
      <p:sp>
        <p:nvSpPr>
          <p:cNvPr id="19" name="Audience 4"/>
          <p:cNvSpPr/>
          <p:nvPr/>
        </p:nvSpPr>
        <p:spPr>
          <a:xfrm>
            <a:off x="6172200" y="3977640"/>
            <a:ext cx="5440680" cy="1920240"/>
          </a:xfrm>
          <a:prstGeom prst="roundRect">
            <a:avLst>
              <a:gd name="adj" fmla="val 4762"/>
            </a:avLst>
          </a:prstGeom>
          <a:solidFill>
            <a:srgbClr val="F6F4FB"/>
          </a:solidFill>
          <a:ln w="9525">
            <a:solidFill>
              <a:srgbClr val="DDD8EC"/>
            </a:solidFill>
            <a:prstDash val="solid"/>
          </a:ln>
        </p:spPr>
      </p:sp>
      <p:sp>
        <p:nvSpPr>
          <p:cNvPr id="20" name="Shape 15"/>
          <p:cNvSpPr/>
          <p:nvPr/>
        </p:nvSpPr>
        <p:spPr>
          <a:xfrm>
            <a:off x="6446520" y="4297680"/>
            <a:ext cx="822960" cy="822960"/>
          </a:xfrm>
          <a:prstGeom prst="ellipse">
            <a:avLst/>
          </a:prstGeom>
          <a:solidFill>
            <a:srgbClr val="2A9DC0"/>
          </a:solidFill>
          <a:ln w="12700">
            <a:solidFill>
              <a:srgbClr val="2A9DC0"/>
            </a:solidFill>
            <a:prstDash val="solid"/>
          </a:ln>
        </p:spPr>
      </p:sp>
      <p:pic>
        <p:nvPicPr>
          <p:cNvPr id="21" name="Image 3" descr="preencoded.png">    </p:cNvPr>
          <p:cNvPicPr>
            <a:picLocks noChangeAspect="1"/>
          </p:cNvPicPr>
          <p:nvPr/>
        </p:nvPicPr>
        <p:blipFill>
          <a:blip r:embed="rId4"/>
          <a:stretch>
            <a:fillRect/>
          </a:stretch>
        </p:blipFill>
        <p:spPr>
          <a:xfrm>
            <a:off x="6644030" y="4495190"/>
            <a:ext cx="427939" cy="427939"/>
          </a:xfrm>
          <a:prstGeom prst="rect">
            <a:avLst/>
          </a:prstGeom>
        </p:spPr>
      </p:pic>
      <p:sp>
        <p:nvSpPr>
          <p:cNvPr id="22" name="Text 16"/>
          <p:cNvSpPr txBox="1"/>
          <p:nvPr/>
        </p:nvSpPr>
        <p:spPr>
          <a:xfrm>
            <a:off x="7498080" y="4251960"/>
            <a:ext cx="3886200" cy="411480"/>
          </a:xfrm>
          <a:prstGeom prst="rect">
            <a:avLst/>
          </a:prstGeom>
          <a:noFill/>
          <a:ln/>
        </p:spPr>
        <p:txBody>
          <a:bodyPr wrap="square" lIns="0" tIns="0" rIns="0" bIns="0" rtlCol="0" anchor="ctr"/>
          <a:lstStyle/>
          <a:p>
            <a:pPr indent="0" marL="0">
              <a:buNone/>
            </a:pPr>
            <a:r>
              <a:rPr lang="en-US" sz="1800" b="1" dirty="0">
                <a:solidFill>
                  <a:schemeClr val="tx2"/>
                </a:solidFill>
              </a:rPr>
              <a:t>Researchers &amp; labs</a:t>
            </a:r>
            <a:endParaRPr lang="en-US" sz="1800" dirty="0"/>
          </a:p>
        </p:txBody>
      </p:sp>
      <p:sp>
        <p:nvSpPr>
          <p:cNvPr id="23" name="Text 17"/>
          <p:cNvSpPr txBox="1"/>
          <p:nvPr/>
        </p:nvSpPr>
        <p:spPr>
          <a:xfrm>
            <a:off x="7498080" y="4709160"/>
            <a:ext cx="3886200" cy="1005840"/>
          </a:xfrm>
          <a:prstGeom prst="rect">
            <a:avLst/>
          </a:prstGeom>
          <a:noFill/>
          <a:ln/>
        </p:spPr>
        <p:txBody>
          <a:bodyPr wrap="square" lIns="0" tIns="0" rIns="0" bIns="0" rtlCol="0" anchor="t"/>
          <a:lstStyle/>
          <a:p>
            <a:pPr indent="0" marL="0">
              <a:buNone/>
            </a:pPr>
            <a:r>
              <a:rPr lang="en-US" sz="1400" dirty="0">
                <a:solidFill>
                  <a:schemeClr val="tx1"/>
                </a:solidFill>
              </a:rPr>
              <a:t>Import publications, co-write manuscripts, submit proposals and track impact from one dashboard.</a:t>
            </a:r>
            <a:endParaRPr lang="en-US" sz="14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C78"/>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chemeClr val="tx2"/>
                </a:solidFill>
              </a:rPr>
              <a:t>How it fits together: one data core, four workspaces</a:t>
            </a:r>
            <a:endParaRPr lang="en-US" sz="3200" dirty="0"/>
          </a:p>
        </p:txBody>
      </p:sp>
      <p:sp>
        <p:nvSpPr>
          <p:cNvPr id="3" name="Text 1"/>
          <p:cNvSpPr txBox="1"/>
          <p:nvPr/>
        </p:nvSpPr>
        <p:spPr>
          <a:xfrm>
            <a:off x="548640" y="1143000"/>
            <a:ext cx="11064240" cy="457200"/>
          </a:xfrm>
          <a:prstGeom prst="rect">
            <a:avLst/>
          </a:prstGeom>
          <a:noFill/>
          <a:ln/>
        </p:spPr>
        <p:txBody>
          <a:bodyPr wrap="square" lIns="0" tIns="0" rIns="0" bIns="0" rtlCol="0" anchor="ctr"/>
          <a:lstStyle/>
          <a:p>
            <a:pPr indent="0" marL="0">
              <a:buNone/>
            </a:pPr>
            <a:r>
              <a:rPr lang="en-US" sz="1600" dirty="0">
                <a:solidFill>
                  <a:schemeClr val="tx1"/>
                </a:solidFill>
              </a:rPr>
              <a:t>Every user works in a portal designed for their role, on the same shared, permissioned research record.</a:t>
            </a:r>
            <a:endParaRPr lang="en-US" sz="1600" dirty="0"/>
          </a:p>
        </p:txBody>
      </p:sp>
      <p:sp>
        <p:nvSpPr>
          <p:cNvPr id="4" name="Data core"/>
          <p:cNvSpPr/>
          <p:nvPr/>
        </p:nvSpPr>
        <p:spPr>
          <a:xfrm>
            <a:off x="4251960" y="2880360"/>
            <a:ext cx="3657600" cy="1737360"/>
          </a:xfrm>
          <a:prstGeom prst="roundRect">
            <a:avLst>
              <a:gd name="adj" fmla="val 7895"/>
            </a:avLst>
          </a:prstGeom>
          <a:solidFill>
            <a:srgbClr val="1C1B3A"/>
          </a:solidFill>
          <a:ln w="12700">
            <a:solidFill>
              <a:srgbClr val="1C1B3A"/>
            </a:solidFill>
            <a:prstDash val="solid"/>
          </a:ln>
          <a:effectLst>
            <a:outerShdw sx="100000" sy="100000" kx="0" ky="0" algn="bl" rotWithShape="0" blurRad="152400" dist="50800" dir="5400000">
              <a:srgbClr val="000000">
                <a:alpha val="18000"/>
              </a:srgbClr>
            </a:outerShdw>
          </a:effectLst>
        </p:spPr>
      </p:sp>
      <p:sp>
        <p:nvSpPr>
          <p:cNvPr id="5" name="Text 3"/>
          <p:cNvSpPr txBox="1"/>
          <p:nvPr/>
        </p:nvSpPr>
        <p:spPr>
          <a:xfrm>
            <a:off x="4480560" y="3063240"/>
            <a:ext cx="3200400" cy="1371600"/>
          </a:xfrm>
          <a:prstGeom prst="rect">
            <a:avLst/>
          </a:prstGeom>
          <a:noFill/>
          <a:ln/>
        </p:spPr>
        <p:txBody>
          <a:bodyPr wrap="square" lIns="0" tIns="0" rIns="0" bIns="0" rtlCol="0" anchor="ctr"/>
          <a:lstStyle/>
          <a:p>
            <a:pPr algn="ctr" indent="0" marL="0">
              <a:buNone/>
            </a:pPr>
            <a:r>
              <a:rPr lang="en-US" sz="1800" b="1" dirty="0">
                <a:solidFill>
                  <a:srgbClr val="FFFFFF"/>
                </a:solidFill>
              </a:rPr>
              <a:t>HospitiumRIS research record</a:t>
            </a:r>
            <a:endParaRPr lang="en-US" sz="1800" dirty="0"/>
          </a:p>
          <a:p>
            <a:pPr algn="ctr" indent="0" marL="0">
              <a:buNone/>
            </a:pPr>
            <a:r>
              <a:rPr lang="en-US" sz="1300" dirty="0">
                <a:solidFill>
                  <a:srgbClr val="CFCBE6"/>
                </a:solidFill>
              </a:rPr>
              <a:t>People · projects · proposals · ethics · trials · grants · manuscripts · publications · datasets</a:t>
            </a:r>
            <a:endParaRPr lang="en-US" sz="1800" dirty="0"/>
          </a:p>
        </p:txBody>
      </p:sp>
      <p:sp>
        <p:nvSpPr>
          <p:cNvPr id="6" name="AI layer"/>
          <p:cNvSpPr/>
          <p:nvPr/>
        </p:nvSpPr>
        <p:spPr>
          <a:xfrm>
            <a:off x="4800600" y="4846320"/>
            <a:ext cx="2560320" cy="457200"/>
          </a:xfrm>
          <a:prstGeom prst="roundRect">
            <a:avLst>
              <a:gd name="adj" fmla="val 50000"/>
            </a:avLst>
          </a:prstGeom>
          <a:solidFill>
            <a:srgbClr val="EFEAF8"/>
          </a:solidFill>
          <a:ln w="9525">
            <a:solidFill>
              <a:srgbClr val="C9B9E8"/>
            </a:solidFill>
            <a:prstDash val="solid"/>
          </a:ln>
        </p:spPr>
      </p:sp>
      <p:sp>
        <p:nvSpPr>
          <p:cNvPr id="7" name="Text 5"/>
          <p:cNvSpPr txBox="1"/>
          <p:nvPr/>
        </p:nvSpPr>
        <p:spPr>
          <a:xfrm>
            <a:off x="4800600" y="4846320"/>
            <a:ext cx="2560320" cy="457200"/>
          </a:xfrm>
          <a:prstGeom prst="rect">
            <a:avLst/>
          </a:prstGeom>
          <a:noFill/>
          <a:ln/>
        </p:spPr>
        <p:txBody>
          <a:bodyPr wrap="square" lIns="0" tIns="0" rIns="0" bIns="0" rtlCol="0" anchor="ctr"/>
          <a:lstStyle/>
          <a:p>
            <a:pPr algn="ctr" indent="0" marL="0">
              <a:buNone/>
            </a:pPr>
            <a:r>
              <a:rPr lang="en-US" sz="1400" b="1" dirty="0">
                <a:solidFill>
                  <a:srgbClr val="7E5BB5"/>
                </a:solidFill>
              </a:rPr>
              <a:t>AI insight layer</a:t>
            </a:r>
            <a:endParaRPr lang="en-US" sz="1400" dirty="0"/>
          </a:p>
        </p:txBody>
      </p:sp>
      <p:sp>
        <p:nvSpPr>
          <p:cNvPr id="8" name="Researcher portal"/>
          <p:cNvSpPr/>
          <p:nvPr/>
        </p:nvSpPr>
        <p:spPr>
          <a:xfrm>
            <a:off x="548640" y="1874520"/>
            <a:ext cx="3474720" cy="1783080"/>
          </a:xfrm>
          <a:prstGeom prst="roundRect">
            <a:avLst>
              <a:gd name="adj" fmla="val 5128"/>
            </a:avLst>
          </a:prstGeom>
          <a:solidFill>
            <a:srgbClr val="F6F4FB"/>
          </a:solidFill>
          <a:ln w="9525">
            <a:solidFill>
              <a:srgbClr val="DDD8EC"/>
            </a:solidFill>
            <a:prstDash val="solid"/>
          </a:ln>
        </p:spPr>
      </p:sp>
      <p:sp>
        <p:nvSpPr>
          <p:cNvPr id="9" name="Shape 7"/>
          <p:cNvSpPr/>
          <p:nvPr/>
        </p:nvSpPr>
        <p:spPr>
          <a:xfrm>
            <a:off x="777240" y="2103120"/>
            <a:ext cx="548640" cy="548640"/>
          </a:xfrm>
          <a:prstGeom prst="ellipse">
            <a:avLst/>
          </a:prstGeom>
          <a:solidFill>
            <a:srgbClr val="7E5BB5"/>
          </a:solidFill>
          <a:ln w="12700">
            <a:solidFill>
              <a:srgbClr val="7E5BB5"/>
            </a:solidFill>
            <a:prstDash val="solid"/>
          </a:ln>
        </p:spPr>
      </p:sp>
      <p:pic>
        <p:nvPicPr>
          <p:cNvPr id="10" name="Image 0" descr="preencoded.png">    </p:cNvPr>
          <p:cNvPicPr>
            <a:picLocks noChangeAspect="1"/>
          </p:cNvPicPr>
          <p:nvPr/>
        </p:nvPicPr>
        <p:blipFill>
          <a:blip r:embed="rId1"/>
          <a:stretch>
            <a:fillRect/>
          </a:stretch>
        </p:blipFill>
        <p:spPr>
          <a:xfrm>
            <a:off x="908914" y="2234794"/>
            <a:ext cx="285293" cy="285293"/>
          </a:xfrm>
          <a:prstGeom prst="rect">
            <a:avLst/>
          </a:prstGeom>
        </p:spPr>
      </p:pic>
      <p:sp>
        <p:nvSpPr>
          <p:cNvPr id="11" name="Text 8"/>
          <p:cNvSpPr txBox="1"/>
          <p:nvPr/>
        </p:nvSpPr>
        <p:spPr>
          <a:xfrm>
            <a:off x="1463040" y="2148840"/>
            <a:ext cx="2468880" cy="411480"/>
          </a:xfrm>
          <a:prstGeom prst="rect">
            <a:avLst/>
          </a:prstGeom>
          <a:noFill/>
          <a:ln/>
        </p:spPr>
        <p:txBody>
          <a:bodyPr wrap="square" lIns="0" tIns="0" rIns="0" bIns="0" rtlCol="0" anchor="ctr"/>
          <a:lstStyle/>
          <a:p>
            <a:pPr indent="0" marL="0">
              <a:buNone/>
            </a:pPr>
            <a:r>
              <a:rPr lang="en-US" sz="1600" b="1" dirty="0">
                <a:solidFill>
                  <a:schemeClr val="tx2"/>
                </a:solidFill>
              </a:rPr>
              <a:t>Researcher portal</a:t>
            </a:r>
            <a:endParaRPr lang="en-US" sz="1600" dirty="0"/>
          </a:p>
        </p:txBody>
      </p:sp>
      <p:sp>
        <p:nvSpPr>
          <p:cNvPr id="12" name="Text 9"/>
          <p:cNvSpPr txBox="1"/>
          <p:nvPr/>
        </p:nvSpPr>
        <p:spPr>
          <a:xfrm>
            <a:off x="777240" y="2788920"/>
            <a:ext cx="3063240" cy="777240"/>
          </a:xfrm>
          <a:prstGeom prst="rect">
            <a:avLst/>
          </a:prstGeom>
          <a:noFill/>
          <a:ln/>
        </p:spPr>
        <p:txBody>
          <a:bodyPr wrap="square" lIns="0" tIns="0" rIns="0" bIns="0" rtlCol="0" anchor="t"/>
          <a:lstStyle/>
          <a:p>
            <a:pPr indent="0" marL="0">
              <a:buNone/>
            </a:pPr>
            <a:r>
              <a:rPr lang="en-US" sz="1300" dirty="0">
                <a:solidFill>
                  <a:schemeClr val="tx1"/>
                </a:solidFill>
              </a:rPr>
              <a:t>Profile, publications, manuscripts, proposals, ethics, trials, training</a:t>
            </a:r>
            <a:endParaRPr lang="en-US" sz="1300" dirty="0"/>
          </a:p>
        </p:txBody>
      </p:sp>
      <p:sp>
        <p:nvSpPr>
          <p:cNvPr id="13" name="Shape 10"/>
          <p:cNvSpPr/>
          <p:nvPr/>
        </p:nvSpPr>
        <p:spPr>
          <a:xfrm>
            <a:off x="4023360" y="2761488"/>
            <a:ext cx="228600" cy="0"/>
          </a:xfrm>
          <a:prstGeom prst="line">
            <a:avLst/>
          </a:prstGeom>
          <a:noFill/>
          <a:ln w="19050">
            <a:solidFill>
              <a:srgbClr val="B9AEDB"/>
            </a:solidFill>
            <a:prstDash val="dash"/>
          </a:ln>
        </p:spPr>
      </p:sp>
      <p:sp>
        <p:nvSpPr>
          <p:cNvPr id="14" name="Institution portal"/>
          <p:cNvSpPr/>
          <p:nvPr/>
        </p:nvSpPr>
        <p:spPr>
          <a:xfrm>
            <a:off x="8183880" y="1874520"/>
            <a:ext cx="3474720" cy="1783080"/>
          </a:xfrm>
          <a:prstGeom prst="roundRect">
            <a:avLst>
              <a:gd name="adj" fmla="val 5128"/>
            </a:avLst>
          </a:prstGeom>
          <a:solidFill>
            <a:srgbClr val="F6F4FB"/>
          </a:solidFill>
          <a:ln w="9525">
            <a:solidFill>
              <a:srgbClr val="DDD8EC"/>
            </a:solidFill>
            <a:prstDash val="solid"/>
          </a:ln>
        </p:spPr>
      </p:sp>
      <p:sp>
        <p:nvSpPr>
          <p:cNvPr id="15" name="Shape 12"/>
          <p:cNvSpPr/>
          <p:nvPr/>
        </p:nvSpPr>
        <p:spPr>
          <a:xfrm>
            <a:off x="8412480" y="2103120"/>
            <a:ext cx="548640" cy="548640"/>
          </a:xfrm>
          <a:prstGeom prst="ellipse">
            <a:avLst/>
          </a:prstGeom>
          <a:solidFill>
            <a:srgbClr val="7E5BB5"/>
          </a:solidFill>
          <a:ln w="12700">
            <a:solidFill>
              <a:srgbClr val="7E5BB5"/>
            </a:solidFill>
            <a:prstDash val="solid"/>
          </a:ln>
        </p:spPr>
      </p:sp>
      <p:pic>
        <p:nvPicPr>
          <p:cNvPr id="16" name="Image 1" descr="preencoded.png">    </p:cNvPr>
          <p:cNvPicPr>
            <a:picLocks noChangeAspect="1"/>
          </p:cNvPicPr>
          <p:nvPr/>
        </p:nvPicPr>
        <p:blipFill>
          <a:blip r:embed="rId2"/>
          <a:stretch>
            <a:fillRect/>
          </a:stretch>
        </p:blipFill>
        <p:spPr>
          <a:xfrm>
            <a:off x="8544154" y="2234794"/>
            <a:ext cx="285293" cy="285293"/>
          </a:xfrm>
          <a:prstGeom prst="rect">
            <a:avLst/>
          </a:prstGeom>
        </p:spPr>
      </p:pic>
      <p:sp>
        <p:nvSpPr>
          <p:cNvPr id="17" name="Text 13"/>
          <p:cNvSpPr txBox="1"/>
          <p:nvPr/>
        </p:nvSpPr>
        <p:spPr>
          <a:xfrm>
            <a:off x="9098280" y="2148840"/>
            <a:ext cx="2468880" cy="411480"/>
          </a:xfrm>
          <a:prstGeom prst="rect">
            <a:avLst/>
          </a:prstGeom>
          <a:noFill/>
          <a:ln/>
        </p:spPr>
        <p:txBody>
          <a:bodyPr wrap="square" lIns="0" tIns="0" rIns="0" bIns="0" rtlCol="0" anchor="ctr"/>
          <a:lstStyle/>
          <a:p>
            <a:pPr indent="0" marL="0">
              <a:buNone/>
            </a:pPr>
            <a:r>
              <a:rPr lang="en-US" sz="1600" b="1" dirty="0">
                <a:solidFill>
                  <a:schemeClr val="tx2"/>
                </a:solidFill>
              </a:rPr>
              <a:t>Institution portal</a:t>
            </a:r>
            <a:endParaRPr lang="en-US" sz="1600" dirty="0"/>
          </a:p>
        </p:txBody>
      </p:sp>
      <p:sp>
        <p:nvSpPr>
          <p:cNvPr id="18" name="Text 14"/>
          <p:cNvSpPr txBox="1"/>
          <p:nvPr/>
        </p:nvSpPr>
        <p:spPr>
          <a:xfrm>
            <a:off x="8412480" y="2788920"/>
            <a:ext cx="3063240" cy="777240"/>
          </a:xfrm>
          <a:prstGeom prst="rect">
            <a:avLst/>
          </a:prstGeom>
          <a:noFill/>
          <a:ln/>
        </p:spPr>
        <p:txBody>
          <a:bodyPr wrap="square" lIns="0" tIns="0" rIns="0" bIns="0" rtlCol="0" anchor="t"/>
          <a:lstStyle/>
          <a:p>
            <a:pPr indent="0" marL="0">
              <a:buNone/>
            </a:pPr>
            <a:r>
              <a:rPr lang="en-US" sz="1300" dirty="0">
                <a:solidFill>
                  <a:schemeClr val="tx1"/>
                </a:solidFill>
              </a:rPr>
              <a:t>Review pipelines, ethics boards, trial oversight, analytics, users</a:t>
            </a:r>
            <a:endParaRPr lang="en-US" sz="1300" dirty="0"/>
          </a:p>
        </p:txBody>
      </p:sp>
      <p:sp>
        <p:nvSpPr>
          <p:cNvPr id="19" name="Shape 15"/>
          <p:cNvSpPr/>
          <p:nvPr/>
        </p:nvSpPr>
        <p:spPr>
          <a:xfrm>
            <a:off x="7909560" y="2761488"/>
            <a:ext cx="274320" cy="0"/>
          </a:xfrm>
          <a:prstGeom prst="line">
            <a:avLst/>
          </a:prstGeom>
          <a:noFill/>
          <a:ln w="19050">
            <a:solidFill>
              <a:srgbClr val="B9AEDB"/>
            </a:solidFill>
            <a:prstDash val="dash"/>
          </a:ln>
        </p:spPr>
      </p:sp>
      <p:sp>
        <p:nvSpPr>
          <p:cNvPr id="20" name="Foundation portal"/>
          <p:cNvSpPr/>
          <p:nvPr/>
        </p:nvSpPr>
        <p:spPr>
          <a:xfrm>
            <a:off x="548640" y="4251960"/>
            <a:ext cx="3474720" cy="1783080"/>
          </a:xfrm>
          <a:prstGeom prst="roundRect">
            <a:avLst>
              <a:gd name="adj" fmla="val 5128"/>
            </a:avLst>
          </a:prstGeom>
          <a:solidFill>
            <a:srgbClr val="F6F4FB"/>
          </a:solidFill>
          <a:ln w="9525">
            <a:solidFill>
              <a:srgbClr val="DDD8EC"/>
            </a:solidFill>
            <a:prstDash val="solid"/>
          </a:ln>
        </p:spPr>
      </p:sp>
      <p:sp>
        <p:nvSpPr>
          <p:cNvPr id="21" name="Shape 17"/>
          <p:cNvSpPr/>
          <p:nvPr/>
        </p:nvSpPr>
        <p:spPr>
          <a:xfrm>
            <a:off x="777240" y="4480560"/>
            <a:ext cx="548640" cy="548640"/>
          </a:xfrm>
          <a:prstGeom prst="ellipse">
            <a:avLst/>
          </a:prstGeom>
          <a:solidFill>
            <a:srgbClr val="7E5BB5"/>
          </a:solidFill>
          <a:ln w="12700">
            <a:solidFill>
              <a:srgbClr val="7E5BB5"/>
            </a:solidFill>
            <a:prstDash val="solid"/>
          </a:ln>
        </p:spPr>
      </p:sp>
      <p:pic>
        <p:nvPicPr>
          <p:cNvPr id="22" name="Image 2" descr="preencoded.png">    </p:cNvPr>
          <p:cNvPicPr>
            <a:picLocks noChangeAspect="1"/>
          </p:cNvPicPr>
          <p:nvPr/>
        </p:nvPicPr>
        <p:blipFill>
          <a:blip r:embed="rId3"/>
          <a:stretch>
            <a:fillRect/>
          </a:stretch>
        </p:blipFill>
        <p:spPr>
          <a:xfrm>
            <a:off x="908914" y="4612234"/>
            <a:ext cx="285293" cy="285293"/>
          </a:xfrm>
          <a:prstGeom prst="rect">
            <a:avLst/>
          </a:prstGeom>
        </p:spPr>
      </p:pic>
      <p:sp>
        <p:nvSpPr>
          <p:cNvPr id="23" name="Text 18"/>
          <p:cNvSpPr txBox="1"/>
          <p:nvPr/>
        </p:nvSpPr>
        <p:spPr>
          <a:xfrm>
            <a:off x="1463040" y="4526280"/>
            <a:ext cx="2468880" cy="411480"/>
          </a:xfrm>
          <a:prstGeom prst="rect">
            <a:avLst/>
          </a:prstGeom>
          <a:noFill/>
          <a:ln/>
        </p:spPr>
        <p:txBody>
          <a:bodyPr wrap="square" lIns="0" tIns="0" rIns="0" bIns="0" rtlCol="0" anchor="ctr"/>
          <a:lstStyle/>
          <a:p>
            <a:pPr indent="0" marL="0">
              <a:buNone/>
            </a:pPr>
            <a:r>
              <a:rPr lang="en-US" sz="1600" b="1" dirty="0">
                <a:solidFill>
                  <a:schemeClr val="tx2"/>
                </a:solidFill>
              </a:rPr>
              <a:t>Foundation portal</a:t>
            </a:r>
            <a:endParaRPr lang="en-US" sz="1600" dirty="0"/>
          </a:p>
        </p:txBody>
      </p:sp>
      <p:sp>
        <p:nvSpPr>
          <p:cNvPr id="24" name="Text 19"/>
          <p:cNvSpPr txBox="1"/>
          <p:nvPr/>
        </p:nvSpPr>
        <p:spPr>
          <a:xfrm>
            <a:off x="777240" y="5166360"/>
            <a:ext cx="3063240" cy="777240"/>
          </a:xfrm>
          <a:prstGeom prst="rect">
            <a:avLst/>
          </a:prstGeom>
          <a:noFill/>
          <a:ln/>
        </p:spPr>
        <p:txBody>
          <a:bodyPr wrap="square" lIns="0" tIns="0" rIns="0" bIns="0" rtlCol="0" anchor="t"/>
          <a:lstStyle/>
          <a:p>
            <a:pPr indent="0" marL="0">
              <a:buNone/>
            </a:pPr>
            <a:r>
              <a:rPr lang="en-US" sz="1300" dirty="0">
                <a:solidFill>
                  <a:schemeClr val="tx1"/>
                </a:solidFill>
              </a:rPr>
              <a:t>Grant calls, internal requests, tracking, campaigns, donors, reports</a:t>
            </a:r>
            <a:endParaRPr lang="en-US" sz="1300" dirty="0"/>
          </a:p>
        </p:txBody>
      </p:sp>
      <p:sp>
        <p:nvSpPr>
          <p:cNvPr id="25" name="Shape 20"/>
          <p:cNvSpPr/>
          <p:nvPr/>
        </p:nvSpPr>
        <p:spPr>
          <a:xfrm>
            <a:off x="4023360" y="5138928"/>
            <a:ext cx="228600" cy="0"/>
          </a:xfrm>
          <a:prstGeom prst="line">
            <a:avLst/>
          </a:prstGeom>
          <a:noFill/>
          <a:ln w="19050">
            <a:solidFill>
              <a:srgbClr val="B9AEDB"/>
            </a:solidFill>
            <a:prstDash val="dash"/>
          </a:ln>
        </p:spPr>
      </p:sp>
      <p:sp>
        <p:nvSpPr>
          <p:cNvPr id="26" name="Platform administration"/>
          <p:cNvSpPr/>
          <p:nvPr/>
        </p:nvSpPr>
        <p:spPr>
          <a:xfrm>
            <a:off x="8183880" y="4251960"/>
            <a:ext cx="3474720" cy="1783080"/>
          </a:xfrm>
          <a:prstGeom prst="roundRect">
            <a:avLst>
              <a:gd name="adj" fmla="val 5128"/>
            </a:avLst>
          </a:prstGeom>
          <a:solidFill>
            <a:srgbClr val="F6F4FB"/>
          </a:solidFill>
          <a:ln w="9525">
            <a:solidFill>
              <a:srgbClr val="DDD8EC"/>
            </a:solidFill>
            <a:prstDash val="solid"/>
          </a:ln>
        </p:spPr>
      </p:sp>
      <p:sp>
        <p:nvSpPr>
          <p:cNvPr id="27" name="Shape 22"/>
          <p:cNvSpPr/>
          <p:nvPr/>
        </p:nvSpPr>
        <p:spPr>
          <a:xfrm>
            <a:off x="8412480" y="4480560"/>
            <a:ext cx="548640" cy="548640"/>
          </a:xfrm>
          <a:prstGeom prst="ellipse">
            <a:avLst/>
          </a:prstGeom>
          <a:solidFill>
            <a:srgbClr val="7E5BB5"/>
          </a:solidFill>
          <a:ln w="12700">
            <a:solidFill>
              <a:srgbClr val="7E5BB5"/>
            </a:solidFill>
            <a:prstDash val="solid"/>
          </a:ln>
        </p:spPr>
      </p:sp>
      <p:pic>
        <p:nvPicPr>
          <p:cNvPr id="28" name="Image 3" descr="preencoded.png">    </p:cNvPr>
          <p:cNvPicPr>
            <a:picLocks noChangeAspect="1"/>
          </p:cNvPicPr>
          <p:nvPr/>
        </p:nvPicPr>
        <p:blipFill>
          <a:blip r:embed="rId4"/>
          <a:stretch>
            <a:fillRect/>
          </a:stretch>
        </p:blipFill>
        <p:spPr>
          <a:xfrm>
            <a:off x="8544154" y="4612234"/>
            <a:ext cx="285293" cy="285293"/>
          </a:xfrm>
          <a:prstGeom prst="rect">
            <a:avLst/>
          </a:prstGeom>
        </p:spPr>
      </p:pic>
      <p:sp>
        <p:nvSpPr>
          <p:cNvPr id="29" name="Text 23"/>
          <p:cNvSpPr txBox="1"/>
          <p:nvPr/>
        </p:nvSpPr>
        <p:spPr>
          <a:xfrm>
            <a:off x="9098280" y="4526280"/>
            <a:ext cx="2468880" cy="411480"/>
          </a:xfrm>
          <a:prstGeom prst="rect">
            <a:avLst/>
          </a:prstGeom>
          <a:noFill/>
          <a:ln/>
        </p:spPr>
        <p:txBody>
          <a:bodyPr wrap="square" lIns="0" tIns="0" rIns="0" bIns="0" rtlCol="0" anchor="ctr"/>
          <a:lstStyle/>
          <a:p>
            <a:pPr indent="0" marL="0">
              <a:buNone/>
            </a:pPr>
            <a:r>
              <a:rPr lang="en-US" sz="1600" b="1" dirty="0">
                <a:solidFill>
                  <a:schemeClr val="tx2"/>
                </a:solidFill>
              </a:rPr>
              <a:t>Platform administration</a:t>
            </a:r>
            <a:endParaRPr lang="en-US" sz="1600" dirty="0"/>
          </a:p>
        </p:txBody>
      </p:sp>
      <p:sp>
        <p:nvSpPr>
          <p:cNvPr id="30" name="Text 24"/>
          <p:cNvSpPr txBox="1"/>
          <p:nvPr/>
        </p:nvSpPr>
        <p:spPr>
          <a:xfrm>
            <a:off x="8412480" y="5166360"/>
            <a:ext cx="3063240" cy="777240"/>
          </a:xfrm>
          <a:prstGeom prst="rect">
            <a:avLst/>
          </a:prstGeom>
          <a:noFill/>
          <a:ln/>
        </p:spPr>
        <p:txBody>
          <a:bodyPr wrap="square" lIns="0" tIns="0" rIns="0" bIns="0" rtlCol="0" anchor="t"/>
          <a:lstStyle/>
          <a:p>
            <a:pPr indent="0" marL="0">
              <a:buNone/>
            </a:pPr>
            <a:r>
              <a:rPr lang="en-US" sz="1300" dirty="0">
                <a:solidFill>
                  <a:schemeClr val="tx1"/>
                </a:solidFill>
              </a:rPr>
              <a:t>Institutions, verified domains, security, logs, system health</a:t>
            </a:r>
            <a:endParaRPr lang="en-US" sz="1300" dirty="0"/>
          </a:p>
        </p:txBody>
      </p:sp>
      <p:sp>
        <p:nvSpPr>
          <p:cNvPr id="31" name="Shape 25"/>
          <p:cNvSpPr/>
          <p:nvPr/>
        </p:nvSpPr>
        <p:spPr>
          <a:xfrm>
            <a:off x="7909560" y="5138928"/>
            <a:ext cx="274320" cy="0"/>
          </a:xfrm>
          <a:prstGeom prst="line">
            <a:avLst/>
          </a:prstGeom>
          <a:noFill/>
          <a:ln w="19050">
            <a:solidFill>
              <a:srgbClr val="B9AEDB"/>
            </a:solidFill>
            <a:prstDash val="dash"/>
          </a:ln>
        </p:spPr>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C7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chemeClr val="tx2"/>
                </a:solidFill>
              </a:rPr>
              <a:t>A personal command centre for every researcher</a:t>
            </a:r>
            <a:endParaRPr lang="en-US" sz="3200" dirty="0"/>
          </a:p>
        </p:txBody>
      </p:sp>
      <p:sp>
        <p:nvSpPr>
          <p:cNvPr id="3" name="Researcher dashboard frame"/>
          <p:cNvSpPr/>
          <p:nvPr/>
        </p:nvSpPr>
        <p:spPr>
          <a:xfrm>
            <a:off x="548640" y="1371600"/>
            <a:ext cx="7315200" cy="4540803"/>
          </a:xfrm>
          <a:prstGeom prst="roundRect">
            <a:avLst>
              <a:gd name="adj" fmla="val 1611"/>
            </a:avLst>
          </a:prstGeom>
          <a:solidFill>
            <a:srgbClr val="ECEAF2"/>
          </a:solidFill>
          <a:ln w="9525">
            <a:solidFill>
              <a:srgbClr val="DDD8EC"/>
            </a:solidFill>
            <a:prstDash val="solid"/>
          </a:ln>
          <a:effectLst>
            <a:outerShdw sx="100000" sy="100000" kx="0" ky="0" algn="bl" rotWithShape="0" blurRad="152400" dist="50800" dir="5400000">
              <a:srgbClr val="000000">
                <a:alpha val="18000"/>
              </a:srgbClr>
            </a:outerShdw>
          </a:effectLst>
        </p:spPr>
      </p:sp>
      <p:sp>
        <p:nvSpPr>
          <p:cNvPr id="4" name="Shape 2"/>
          <p:cNvSpPr/>
          <p:nvPr/>
        </p:nvSpPr>
        <p:spPr>
          <a:xfrm>
            <a:off x="676656" y="1444752"/>
            <a:ext cx="91440" cy="91440"/>
          </a:xfrm>
          <a:prstGeom prst="ellipse">
            <a:avLst/>
          </a:prstGeom>
          <a:solidFill>
            <a:srgbClr val="E86B6B"/>
          </a:solidFill>
          <a:ln w="12700">
            <a:solidFill>
              <a:srgbClr val="E86B6B"/>
            </a:solidFill>
            <a:prstDash val="solid"/>
          </a:ln>
        </p:spPr>
      </p:sp>
      <p:sp>
        <p:nvSpPr>
          <p:cNvPr id="5" name="Shape 3"/>
          <p:cNvSpPr/>
          <p:nvPr/>
        </p:nvSpPr>
        <p:spPr>
          <a:xfrm>
            <a:off x="822960" y="1444752"/>
            <a:ext cx="91440" cy="91440"/>
          </a:xfrm>
          <a:prstGeom prst="ellipse">
            <a:avLst/>
          </a:prstGeom>
          <a:solidFill>
            <a:srgbClr val="F2C14E"/>
          </a:solidFill>
          <a:ln w="12700">
            <a:solidFill>
              <a:srgbClr val="F2C14E"/>
            </a:solidFill>
            <a:prstDash val="solid"/>
          </a:ln>
        </p:spPr>
      </p:sp>
      <p:sp>
        <p:nvSpPr>
          <p:cNvPr id="6" name="Shape 4"/>
          <p:cNvSpPr/>
          <p:nvPr/>
        </p:nvSpPr>
        <p:spPr>
          <a:xfrm>
            <a:off x="969264" y="1444752"/>
            <a:ext cx="91440" cy="91440"/>
          </a:xfrm>
          <a:prstGeom prst="ellipse">
            <a:avLst/>
          </a:prstGeom>
          <a:solidFill>
            <a:srgbClr val="5DBB7A"/>
          </a:solidFill>
          <a:ln w="12700">
            <a:solidFill>
              <a:srgbClr val="5DBB7A"/>
            </a:solidFill>
            <a:prstDash val="solid"/>
          </a:ln>
        </p:spPr>
      </p:sp>
      <p:pic>
        <p:nvPicPr>
          <p:cNvPr id="7" name="Researcher dashboard screenshot" descr="/home/claude/deck/img/r_dash.png">    </p:cNvPr>
          <p:cNvPicPr>
            <a:picLocks noChangeAspect="1"/>
          </p:cNvPicPr>
          <p:nvPr/>
        </p:nvPicPr>
        <p:blipFill>
          <a:blip r:embed="rId1"/>
          <a:stretch>
            <a:fillRect/>
          </a:stretch>
        </p:blipFill>
        <p:spPr>
          <a:xfrm>
            <a:off x="576072" y="1609344"/>
            <a:ext cx="7260336" cy="4270786"/>
          </a:xfrm>
          <a:prstGeom prst="rect">
            <a:avLst/>
          </a:prstGeom>
        </p:spPr>
      </p:pic>
      <p:sp>
        <p:nvSpPr>
          <p:cNvPr id="8" name="Text 5"/>
          <p:cNvSpPr txBox="1"/>
          <p:nvPr/>
        </p:nvSpPr>
        <p:spPr>
          <a:xfrm>
            <a:off x="8229600" y="1417320"/>
            <a:ext cx="3429000" cy="822960"/>
          </a:xfrm>
          <a:prstGeom prst="rect">
            <a:avLst/>
          </a:prstGeom>
          <a:noFill/>
          <a:ln/>
        </p:spPr>
        <p:txBody>
          <a:bodyPr wrap="square" lIns="0" tIns="0" rIns="0" bIns="0" rtlCol="0" anchor="t"/>
          <a:lstStyle/>
          <a:p>
            <a:pPr indent="0" marL="0">
              <a:buNone/>
            </a:pPr>
            <a:r>
              <a:rPr lang="en-US" sz="1600" b="1" dirty="0">
                <a:solidFill>
                  <a:srgbClr val="7E5BB5"/>
                </a:solidFill>
              </a:rPr>
              <a:t>Everything a researcher needs, the moment they log in.</a:t>
            </a:r>
            <a:endParaRPr lang="en-US" sz="1600" dirty="0"/>
          </a:p>
        </p:txBody>
      </p:sp>
      <p:sp>
        <p:nvSpPr>
          <p:cNvPr id="9" name="Shape 6"/>
          <p:cNvSpPr/>
          <p:nvPr/>
        </p:nvSpPr>
        <p:spPr>
          <a:xfrm>
            <a:off x="8229600" y="2286000"/>
            <a:ext cx="457200" cy="457200"/>
          </a:xfrm>
          <a:prstGeom prst="ellipse">
            <a:avLst/>
          </a:prstGeom>
          <a:solidFill>
            <a:srgbClr val="EFEAF8"/>
          </a:solidFill>
          <a:ln w="12700">
            <a:solidFill>
              <a:srgbClr val="EFEAF8"/>
            </a:solidFill>
            <a:prstDash val="solid"/>
          </a:ln>
        </p:spPr>
      </p:sp>
      <p:pic>
        <p:nvPicPr>
          <p:cNvPr id="10" name="Image 1" descr="preencoded.png">    </p:cNvPr>
          <p:cNvPicPr>
            <a:picLocks noChangeAspect="1"/>
          </p:cNvPicPr>
          <p:nvPr/>
        </p:nvPicPr>
        <p:blipFill>
          <a:blip r:embed="rId2"/>
          <a:stretch>
            <a:fillRect/>
          </a:stretch>
        </p:blipFill>
        <p:spPr>
          <a:xfrm>
            <a:off x="8339328" y="2395728"/>
            <a:ext cx="237744" cy="237744"/>
          </a:xfrm>
          <a:prstGeom prst="rect">
            <a:avLst/>
          </a:prstGeom>
        </p:spPr>
      </p:pic>
      <p:sp>
        <p:nvSpPr>
          <p:cNvPr id="11" name="Text 7"/>
          <p:cNvSpPr txBox="1"/>
          <p:nvPr/>
        </p:nvSpPr>
        <p:spPr>
          <a:xfrm>
            <a:off x="8823960" y="2267712"/>
            <a:ext cx="2834640" cy="320040"/>
          </a:xfrm>
          <a:prstGeom prst="rect">
            <a:avLst/>
          </a:prstGeom>
          <a:noFill/>
          <a:ln/>
        </p:spPr>
        <p:txBody>
          <a:bodyPr wrap="square" lIns="0" tIns="0" rIns="0" bIns="0" rtlCol="0" anchor="ctr"/>
          <a:lstStyle/>
          <a:p>
            <a:pPr indent="0" marL="0">
              <a:buNone/>
            </a:pPr>
            <a:r>
              <a:rPr lang="en-US" sz="1500" b="1" dirty="0">
                <a:solidFill>
                  <a:schemeClr val="tx2"/>
                </a:solidFill>
              </a:rPr>
              <a:t>Live research analytics</a:t>
            </a:r>
            <a:endParaRPr lang="en-US" sz="1500" dirty="0"/>
          </a:p>
        </p:txBody>
      </p:sp>
      <p:sp>
        <p:nvSpPr>
          <p:cNvPr id="12" name="Text 8"/>
          <p:cNvSpPr txBox="1"/>
          <p:nvPr/>
        </p:nvSpPr>
        <p:spPr>
          <a:xfrm>
            <a:off x="8823960" y="2587752"/>
            <a:ext cx="2834640" cy="640080"/>
          </a:xfrm>
          <a:prstGeom prst="rect">
            <a:avLst/>
          </a:prstGeom>
          <a:noFill/>
          <a:ln/>
        </p:spPr>
        <p:txBody>
          <a:bodyPr wrap="square" lIns="0" tIns="0" rIns="0" bIns="0" rtlCol="0" anchor="t"/>
          <a:lstStyle/>
          <a:p>
            <a:pPr indent="0" marL="0">
              <a:buNone/>
            </a:pPr>
            <a:r>
              <a:rPr lang="en-US" sz="1300" dirty="0">
                <a:solidFill>
                  <a:schemeClr val="tx1"/>
                </a:solidFill>
              </a:rPr>
              <a:t>Output trends across publications, projects and trials.</a:t>
            </a:r>
            <a:endParaRPr lang="en-US" sz="1300" dirty="0"/>
          </a:p>
        </p:txBody>
      </p:sp>
      <p:sp>
        <p:nvSpPr>
          <p:cNvPr id="13" name="Shape 9"/>
          <p:cNvSpPr/>
          <p:nvPr/>
        </p:nvSpPr>
        <p:spPr>
          <a:xfrm>
            <a:off x="8229600" y="3273552"/>
            <a:ext cx="457200" cy="457200"/>
          </a:xfrm>
          <a:prstGeom prst="ellipse">
            <a:avLst/>
          </a:prstGeom>
          <a:solidFill>
            <a:srgbClr val="EFEAF8"/>
          </a:solidFill>
          <a:ln w="12700">
            <a:solidFill>
              <a:srgbClr val="EFEAF8"/>
            </a:solidFill>
            <a:prstDash val="solid"/>
          </a:ln>
        </p:spPr>
      </p:sp>
      <p:pic>
        <p:nvPicPr>
          <p:cNvPr id="14" name="Image 2" descr="preencoded.png">    </p:cNvPr>
          <p:cNvPicPr>
            <a:picLocks noChangeAspect="1"/>
          </p:cNvPicPr>
          <p:nvPr/>
        </p:nvPicPr>
        <p:blipFill>
          <a:blip r:embed="rId3"/>
          <a:stretch>
            <a:fillRect/>
          </a:stretch>
        </p:blipFill>
        <p:spPr>
          <a:xfrm>
            <a:off x="8339328" y="3383280"/>
            <a:ext cx="237744" cy="237744"/>
          </a:xfrm>
          <a:prstGeom prst="rect">
            <a:avLst/>
          </a:prstGeom>
        </p:spPr>
      </p:pic>
      <p:sp>
        <p:nvSpPr>
          <p:cNvPr id="15" name="Text 10"/>
          <p:cNvSpPr txBox="1"/>
          <p:nvPr/>
        </p:nvSpPr>
        <p:spPr>
          <a:xfrm>
            <a:off x="8823960" y="3255264"/>
            <a:ext cx="2834640" cy="320040"/>
          </a:xfrm>
          <a:prstGeom prst="rect">
            <a:avLst/>
          </a:prstGeom>
          <a:noFill/>
          <a:ln/>
        </p:spPr>
        <p:txBody>
          <a:bodyPr wrap="square" lIns="0" tIns="0" rIns="0" bIns="0" rtlCol="0" anchor="ctr"/>
          <a:lstStyle/>
          <a:p>
            <a:pPr indent="0" marL="0">
              <a:buNone/>
            </a:pPr>
            <a:r>
              <a:rPr lang="en-US" sz="1500" b="1" dirty="0">
                <a:solidFill>
                  <a:schemeClr val="tx2"/>
                </a:solidFill>
              </a:rPr>
              <a:t>Project health at a glance</a:t>
            </a:r>
            <a:endParaRPr lang="en-US" sz="1500" dirty="0"/>
          </a:p>
        </p:txBody>
      </p:sp>
      <p:sp>
        <p:nvSpPr>
          <p:cNvPr id="16" name="Text 11"/>
          <p:cNvSpPr txBox="1"/>
          <p:nvPr/>
        </p:nvSpPr>
        <p:spPr>
          <a:xfrm>
            <a:off x="8823960" y="3575304"/>
            <a:ext cx="2834640" cy="640080"/>
          </a:xfrm>
          <a:prstGeom prst="rect">
            <a:avLst/>
          </a:prstGeom>
          <a:noFill/>
          <a:ln/>
        </p:spPr>
        <p:txBody>
          <a:bodyPr wrap="square" lIns="0" tIns="0" rIns="0" bIns="0" rtlCol="0" anchor="t"/>
          <a:lstStyle/>
          <a:p>
            <a:pPr indent="0" marL="0">
              <a:buNone/>
            </a:pPr>
            <a:r>
              <a:rPr lang="en-US" sz="1300" dirty="0">
                <a:solidFill>
                  <a:schemeClr val="tx1"/>
                </a:solidFill>
              </a:rPr>
              <a:t>On-track, needs-attention and at-risk projects, with progress.</a:t>
            </a:r>
            <a:endParaRPr lang="en-US" sz="1300" dirty="0"/>
          </a:p>
        </p:txBody>
      </p:sp>
      <p:sp>
        <p:nvSpPr>
          <p:cNvPr id="17" name="Shape 12"/>
          <p:cNvSpPr/>
          <p:nvPr/>
        </p:nvSpPr>
        <p:spPr>
          <a:xfrm>
            <a:off x="8229600" y="4261104"/>
            <a:ext cx="457200" cy="457200"/>
          </a:xfrm>
          <a:prstGeom prst="ellipse">
            <a:avLst/>
          </a:prstGeom>
          <a:solidFill>
            <a:srgbClr val="EFEAF8"/>
          </a:solidFill>
          <a:ln w="12700">
            <a:solidFill>
              <a:srgbClr val="EFEAF8"/>
            </a:solidFill>
            <a:prstDash val="solid"/>
          </a:ln>
        </p:spPr>
      </p:sp>
      <p:pic>
        <p:nvPicPr>
          <p:cNvPr id="18" name="Image 3" descr="preencoded.png">    </p:cNvPr>
          <p:cNvPicPr>
            <a:picLocks noChangeAspect="1"/>
          </p:cNvPicPr>
          <p:nvPr/>
        </p:nvPicPr>
        <p:blipFill>
          <a:blip r:embed="rId4"/>
          <a:stretch>
            <a:fillRect/>
          </a:stretch>
        </p:blipFill>
        <p:spPr>
          <a:xfrm>
            <a:off x="8339328" y="4370832"/>
            <a:ext cx="237744" cy="237744"/>
          </a:xfrm>
          <a:prstGeom prst="rect">
            <a:avLst/>
          </a:prstGeom>
        </p:spPr>
      </p:pic>
      <p:sp>
        <p:nvSpPr>
          <p:cNvPr id="19" name="Text 13"/>
          <p:cNvSpPr txBox="1"/>
          <p:nvPr/>
        </p:nvSpPr>
        <p:spPr>
          <a:xfrm>
            <a:off x="8823960" y="4242816"/>
            <a:ext cx="2834640" cy="320040"/>
          </a:xfrm>
          <a:prstGeom prst="rect">
            <a:avLst/>
          </a:prstGeom>
          <a:noFill/>
          <a:ln/>
        </p:spPr>
        <p:txBody>
          <a:bodyPr wrap="square" lIns="0" tIns="0" rIns="0" bIns="0" rtlCol="0" anchor="ctr"/>
          <a:lstStyle/>
          <a:p>
            <a:pPr indent="0" marL="0">
              <a:buNone/>
            </a:pPr>
            <a:r>
              <a:rPr lang="en-US" sz="1500" b="1" dirty="0">
                <a:solidFill>
                  <a:schemeClr val="tx2"/>
                </a:solidFill>
              </a:rPr>
              <a:t>Customisable layout</a:t>
            </a:r>
            <a:endParaRPr lang="en-US" sz="1500" dirty="0"/>
          </a:p>
        </p:txBody>
      </p:sp>
      <p:sp>
        <p:nvSpPr>
          <p:cNvPr id="20" name="Text 14"/>
          <p:cNvSpPr txBox="1"/>
          <p:nvPr/>
        </p:nvSpPr>
        <p:spPr>
          <a:xfrm>
            <a:off x="8823960" y="4562856"/>
            <a:ext cx="2834640" cy="640080"/>
          </a:xfrm>
          <a:prstGeom prst="rect">
            <a:avLst/>
          </a:prstGeom>
          <a:noFill/>
          <a:ln/>
        </p:spPr>
        <p:txBody>
          <a:bodyPr wrap="square" lIns="0" tIns="0" rIns="0" bIns="0" rtlCol="0" anchor="t"/>
          <a:lstStyle/>
          <a:p>
            <a:pPr indent="0" marL="0">
              <a:buNone/>
            </a:pPr>
            <a:r>
              <a:rPr lang="en-US" sz="1300" dirty="0">
                <a:solidFill>
                  <a:schemeClr val="tx1"/>
                </a:solidFill>
              </a:rPr>
              <a:t>Drag-and-drop widgets; the layout is saved per user.</a:t>
            </a:r>
            <a:endParaRPr lang="en-US" sz="1300" dirty="0"/>
          </a:p>
        </p:txBody>
      </p:sp>
      <p:sp>
        <p:nvSpPr>
          <p:cNvPr id="21" name="Shape 15"/>
          <p:cNvSpPr/>
          <p:nvPr/>
        </p:nvSpPr>
        <p:spPr>
          <a:xfrm>
            <a:off x="8229600" y="5248656"/>
            <a:ext cx="457200" cy="457200"/>
          </a:xfrm>
          <a:prstGeom prst="ellipse">
            <a:avLst/>
          </a:prstGeom>
          <a:solidFill>
            <a:srgbClr val="EFEAF8"/>
          </a:solidFill>
          <a:ln w="12700">
            <a:solidFill>
              <a:srgbClr val="EFEAF8"/>
            </a:solidFill>
            <a:prstDash val="solid"/>
          </a:ln>
        </p:spPr>
      </p:sp>
      <p:pic>
        <p:nvPicPr>
          <p:cNvPr id="22" name="Image 4" descr="preencoded.png">    </p:cNvPr>
          <p:cNvPicPr>
            <a:picLocks noChangeAspect="1"/>
          </p:cNvPicPr>
          <p:nvPr/>
        </p:nvPicPr>
        <p:blipFill>
          <a:blip r:embed="rId5"/>
          <a:stretch>
            <a:fillRect/>
          </a:stretch>
        </p:blipFill>
        <p:spPr>
          <a:xfrm>
            <a:off x="8339328" y="5358384"/>
            <a:ext cx="237744" cy="237744"/>
          </a:xfrm>
          <a:prstGeom prst="rect">
            <a:avLst/>
          </a:prstGeom>
        </p:spPr>
      </p:pic>
      <p:sp>
        <p:nvSpPr>
          <p:cNvPr id="23" name="Text 16"/>
          <p:cNvSpPr txBox="1"/>
          <p:nvPr/>
        </p:nvSpPr>
        <p:spPr>
          <a:xfrm>
            <a:off x="8823960" y="5230368"/>
            <a:ext cx="2834640" cy="320040"/>
          </a:xfrm>
          <a:prstGeom prst="rect">
            <a:avLst/>
          </a:prstGeom>
          <a:noFill/>
          <a:ln/>
        </p:spPr>
        <p:txBody>
          <a:bodyPr wrap="square" lIns="0" tIns="0" rIns="0" bIns="0" rtlCol="0" anchor="ctr"/>
          <a:lstStyle/>
          <a:p>
            <a:pPr indent="0" marL="0">
              <a:buNone/>
            </a:pPr>
            <a:r>
              <a:rPr lang="en-US" sz="1500" b="1" dirty="0">
                <a:solidFill>
                  <a:schemeClr val="tx2"/>
                </a:solidFill>
              </a:rPr>
              <a:t>19 languages</a:t>
            </a:r>
            <a:endParaRPr lang="en-US" sz="1500" dirty="0"/>
          </a:p>
        </p:txBody>
      </p:sp>
      <p:sp>
        <p:nvSpPr>
          <p:cNvPr id="24" name="Text 17"/>
          <p:cNvSpPr txBox="1"/>
          <p:nvPr/>
        </p:nvSpPr>
        <p:spPr>
          <a:xfrm>
            <a:off x="8823960" y="5550408"/>
            <a:ext cx="2834640" cy="640080"/>
          </a:xfrm>
          <a:prstGeom prst="rect">
            <a:avLst/>
          </a:prstGeom>
          <a:noFill/>
          <a:ln/>
        </p:spPr>
        <p:txBody>
          <a:bodyPr wrap="square" lIns="0" tIns="0" rIns="0" bIns="0" rtlCol="0" anchor="t"/>
          <a:lstStyle/>
          <a:p>
            <a:pPr indent="0" marL="0">
              <a:buNone/>
            </a:pPr>
            <a:r>
              <a:rPr lang="en-US" sz="1300" dirty="0">
                <a:solidFill>
                  <a:schemeClr val="tx1"/>
                </a:solidFill>
              </a:rPr>
              <a:t>Including English, Swahili, French, Arabic and Portuguese.</a:t>
            </a:r>
            <a:endParaRPr lang="en-US" sz="13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C7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chemeClr val="tx2"/>
                </a:solidFill>
              </a:rPr>
              <a:t>Researcher profiles that build themselves</a:t>
            </a:r>
            <a:endParaRPr lang="en-US" sz="3200" dirty="0"/>
          </a:p>
        </p:txBody>
      </p:sp>
      <p:sp>
        <p:nvSpPr>
          <p:cNvPr id="3" name="Researcher profile frame"/>
          <p:cNvSpPr/>
          <p:nvPr/>
        </p:nvSpPr>
        <p:spPr>
          <a:xfrm>
            <a:off x="548640" y="1371600"/>
            <a:ext cx="7315200" cy="4540803"/>
          </a:xfrm>
          <a:prstGeom prst="roundRect">
            <a:avLst>
              <a:gd name="adj" fmla="val 1611"/>
            </a:avLst>
          </a:prstGeom>
          <a:solidFill>
            <a:srgbClr val="ECEAF2"/>
          </a:solidFill>
          <a:ln w="9525">
            <a:solidFill>
              <a:srgbClr val="DDD8EC"/>
            </a:solidFill>
            <a:prstDash val="solid"/>
          </a:ln>
          <a:effectLst>
            <a:outerShdw sx="100000" sy="100000" kx="0" ky="0" algn="bl" rotWithShape="0" blurRad="152400" dist="50800" dir="5400000">
              <a:srgbClr val="000000">
                <a:alpha val="18000"/>
              </a:srgbClr>
            </a:outerShdw>
          </a:effectLst>
        </p:spPr>
      </p:sp>
      <p:sp>
        <p:nvSpPr>
          <p:cNvPr id="4" name="Shape 2"/>
          <p:cNvSpPr/>
          <p:nvPr/>
        </p:nvSpPr>
        <p:spPr>
          <a:xfrm>
            <a:off x="676656" y="1444752"/>
            <a:ext cx="91440" cy="91440"/>
          </a:xfrm>
          <a:prstGeom prst="ellipse">
            <a:avLst/>
          </a:prstGeom>
          <a:solidFill>
            <a:srgbClr val="E86B6B"/>
          </a:solidFill>
          <a:ln w="12700">
            <a:solidFill>
              <a:srgbClr val="E86B6B"/>
            </a:solidFill>
            <a:prstDash val="solid"/>
          </a:ln>
        </p:spPr>
      </p:sp>
      <p:sp>
        <p:nvSpPr>
          <p:cNvPr id="5" name="Shape 3"/>
          <p:cNvSpPr/>
          <p:nvPr/>
        </p:nvSpPr>
        <p:spPr>
          <a:xfrm>
            <a:off x="822960" y="1444752"/>
            <a:ext cx="91440" cy="91440"/>
          </a:xfrm>
          <a:prstGeom prst="ellipse">
            <a:avLst/>
          </a:prstGeom>
          <a:solidFill>
            <a:srgbClr val="F2C14E"/>
          </a:solidFill>
          <a:ln w="12700">
            <a:solidFill>
              <a:srgbClr val="F2C14E"/>
            </a:solidFill>
            <a:prstDash val="solid"/>
          </a:ln>
        </p:spPr>
      </p:sp>
      <p:sp>
        <p:nvSpPr>
          <p:cNvPr id="6" name="Shape 4"/>
          <p:cNvSpPr/>
          <p:nvPr/>
        </p:nvSpPr>
        <p:spPr>
          <a:xfrm>
            <a:off x="969264" y="1444752"/>
            <a:ext cx="91440" cy="91440"/>
          </a:xfrm>
          <a:prstGeom prst="ellipse">
            <a:avLst/>
          </a:prstGeom>
          <a:solidFill>
            <a:srgbClr val="5DBB7A"/>
          </a:solidFill>
          <a:ln w="12700">
            <a:solidFill>
              <a:srgbClr val="5DBB7A"/>
            </a:solidFill>
            <a:prstDash val="solid"/>
          </a:ln>
        </p:spPr>
      </p:sp>
      <p:pic>
        <p:nvPicPr>
          <p:cNvPr id="7" name="Researcher profile screenshot" descr="/home/claude/deck/img/r_profile.png">    </p:cNvPr>
          <p:cNvPicPr>
            <a:picLocks noChangeAspect="1"/>
          </p:cNvPicPr>
          <p:nvPr/>
        </p:nvPicPr>
        <p:blipFill>
          <a:blip r:embed="rId1"/>
          <a:stretch>
            <a:fillRect/>
          </a:stretch>
        </p:blipFill>
        <p:spPr>
          <a:xfrm>
            <a:off x="576072" y="1609344"/>
            <a:ext cx="7260336" cy="4270786"/>
          </a:xfrm>
          <a:prstGeom prst="rect">
            <a:avLst/>
          </a:prstGeom>
        </p:spPr>
      </p:pic>
      <p:sp>
        <p:nvSpPr>
          <p:cNvPr id="8" name="Text 5"/>
          <p:cNvSpPr txBox="1"/>
          <p:nvPr/>
        </p:nvSpPr>
        <p:spPr>
          <a:xfrm>
            <a:off x="8229600" y="1417320"/>
            <a:ext cx="3429000" cy="822960"/>
          </a:xfrm>
          <a:prstGeom prst="rect">
            <a:avLst/>
          </a:prstGeom>
          <a:noFill/>
          <a:ln/>
        </p:spPr>
        <p:txBody>
          <a:bodyPr wrap="square" lIns="0" tIns="0" rIns="0" bIns="0" rtlCol="0" anchor="t"/>
          <a:lstStyle/>
          <a:p>
            <a:pPr indent="0" marL="0">
              <a:buNone/>
            </a:pPr>
            <a:r>
              <a:rPr lang="en-US" sz="1600" b="1" dirty="0">
                <a:solidFill>
                  <a:srgbClr val="7E5BB5"/>
                </a:solidFill>
              </a:rPr>
              <a:t>A living CV for every researcher, kept current by the platform.</a:t>
            </a:r>
            <a:endParaRPr lang="en-US" sz="1600" dirty="0"/>
          </a:p>
        </p:txBody>
      </p:sp>
      <p:sp>
        <p:nvSpPr>
          <p:cNvPr id="9" name="Shape 6"/>
          <p:cNvSpPr/>
          <p:nvPr/>
        </p:nvSpPr>
        <p:spPr>
          <a:xfrm>
            <a:off x="8229600" y="2286000"/>
            <a:ext cx="457200" cy="457200"/>
          </a:xfrm>
          <a:prstGeom prst="ellipse">
            <a:avLst/>
          </a:prstGeom>
          <a:solidFill>
            <a:srgbClr val="EFEAF8"/>
          </a:solidFill>
          <a:ln w="12700">
            <a:solidFill>
              <a:srgbClr val="EFEAF8"/>
            </a:solidFill>
            <a:prstDash val="solid"/>
          </a:ln>
        </p:spPr>
      </p:sp>
      <p:pic>
        <p:nvPicPr>
          <p:cNvPr id="10" name="Image 1" descr="preencoded.png">    </p:cNvPr>
          <p:cNvPicPr>
            <a:picLocks noChangeAspect="1"/>
          </p:cNvPicPr>
          <p:nvPr/>
        </p:nvPicPr>
        <p:blipFill>
          <a:blip r:embed="rId2"/>
          <a:stretch>
            <a:fillRect/>
          </a:stretch>
        </p:blipFill>
        <p:spPr>
          <a:xfrm>
            <a:off x="8339328" y="2395728"/>
            <a:ext cx="237744" cy="237744"/>
          </a:xfrm>
          <a:prstGeom prst="rect">
            <a:avLst/>
          </a:prstGeom>
        </p:spPr>
      </p:pic>
      <p:sp>
        <p:nvSpPr>
          <p:cNvPr id="11" name="Text 7"/>
          <p:cNvSpPr txBox="1"/>
          <p:nvPr/>
        </p:nvSpPr>
        <p:spPr>
          <a:xfrm>
            <a:off x="8823960" y="2267712"/>
            <a:ext cx="2834640" cy="320040"/>
          </a:xfrm>
          <a:prstGeom prst="rect">
            <a:avLst/>
          </a:prstGeom>
          <a:noFill/>
          <a:ln/>
        </p:spPr>
        <p:txBody>
          <a:bodyPr wrap="square" lIns="0" tIns="0" rIns="0" bIns="0" rtlCol="0" anchor="ctr"/>
          <a:lstStyle/>
          <a:p>
            <a:pPr indent="0" marL="0">
              <a:buNone/>
            </a:pPr>
            <a:r>
              <a:rPr lang="en-US" sz="1500" b="1" dirty="0">
                <a:solidFill>
                  <a:schemeClr val="tx2"/>
                </a:solidFill>
              </a:rPr>
              <a:t>ORCID-linked identity</a:t>
            </a:r>
            <a:endParaRPr lang="en-US" sz="1500" dirty="0"/>
          </a:p>
        </p:txBody>
      </p:sp>
      <p:sp>
        <p:nvSpPr>
          <p:cNvPr id="12" name="Text 8"/>
          <p:cNvSpPr txBox="1"/>
          <p:nvPr/>
        </p:nvSpPr>
        <p:spPr>
          <a:xfrm>
            <a:off x="8823960" y="2587752"/>
            <a:ext cx="2834640" cy="640080"/>
          </a:xfrm>
          <a:prstGeom prst="rect">
            <a:avLst/>
          </a:prstGeom>
          <a:noFill/>
          <a:ln/>
        </p:spPr>
        <p:txBody>
          <a:bodyPr wrap="square" lIns="0" tIns="0" rIns="0" bIns="0" rtlCol="0" anchor="t"/>
          <a:lstStyle/>
          <a:p>
            <a:pPr indent="0" marL="0">
              <a:buNone/>
            </a:pPr>
            <a:r>
              <a:rPr lang="en-US" sz="1300" dirty="0">
                <a:solidFill>
                  <a:schemeClr val="tx1"/>
                </a:solidFill>
              </a:rPr>
              <a:t>Profiles connect to ORCID so names, affiliations and works stay accurate.</a:t>
            </a:r>
            <a:endParaRPr lang="en-US" sz="1300" dirty="0"/>
          </a:p>
        </p:txBody>
      </p:sp>
      <p:sp>
        <p:nvSpPr>
          <p:cNvPr id="13" name="Shape 9"/>
          <p:cNvSpPr/>
          <p:nvPr/>
        </p:nvSpPr>
        <p:spPr>
          <a:xfrm>
            <a:off x="8229600" y="3273552"/>
            <a:ext cx="457200" cy="457200"/>
          </a:xfrm>
          <a:prstGeom prst="ellipse">
            <a:avLst/>
          </a:prstGeom>
          <a:solidFill>
            <a:srgbClr val="EFEAF8"/>
          </a:solidFill>
          <a:ln w="12700">
            <a:solidFill>
              <a:srgbClr val="EFEAF8"/>
            </a:solidFill>
            <a:prstDash val="solid"/>
          </a:ln>
        </p:spPr>
      </p:sp>
      <p:pic>
        <p:nvPicPr>
          <p:cNvPr id="14" name="Image 2" descr="preencoded.png">    </p:cNvPr>
          <p:cNvPicPr>
            <a:picLocks noChangeAspect="1"/>
          </p:cNvPicPr>
          <p:nvPr/>
        </p:nvPicPr>
        <p:blipFill>
          <a:blip r:embed="rId3"/>
          <a:stretch>
            <a:fillRect/>
          </a:stretch>
        </p:blipFill>
        <p:spPr>
          <a:xfrm>
            <a:off x="8339328" y="3383280"/>
            <a:ext cx="237744" cy="237744"/>
          </a:xfrm>
          <a:prstGeom prst="rect">
            <a:avLst/>
          </a:prstGeom>
        </p:spPr>
      </p:pic>
      <p:sp>
        <p:nvSpPr>
          <p:cNvPr id="15" name="Text 10"/>
          <p:cNvSpPr txBox="1"/>
          <p:nvPr/>
        </p:nvSpPr>
        <p:spPr>
          <a:xfrm>
            <a:off x="8823960" y="3255264"/>
            <a:ext cx="2834640" cy="320040"/>
          </a:xfrm>
          <a:prstGeom prst="rect">
            <a:avLst/>
          </a:prstGeom>
          <a:noFill/>
          <a:ln/>
        </p:spPr>
        <p:txBody>
          <a:bodyPr wrap="square" lIns="0" tIns="0" rIns="0" bIns="0" rtlCol="0" anchor="ctr"/>
          <a:lstStyle/>
          <a:p>
            <a:pPr indent="0" marL="0">
              <a:buNone/>
            </a:pPr>
            <a:r>
              <a:rPr lang="en-US" sz="1500" b="1" dirty="0">
                <a:solidFill>
                  <a:schemeClr val="tx2"/>
                </a:solidFill>
              </a:rPr>
              <a:t>One-click CV export</a:t>
            </a:r>
            <a:endParaRPr lang="en-US" sz="1500" dirty="0"/>
          </a:p>
        </p:txBody>
      </p:sp>
      <p:sp>
        <p:nvSpPr>
          <p:cNvPr id="16" name="Text 11"/>
          <p:cNvSpPr txBox="1"/>
          <p:nvPr/>
        </p:nvSpPr>
        <p:spPr>
          <a:xfrm>
            <a:off x="8823960" y="3575304"/>
            <a:ext cx="2834640" cy="640080"/>
          </a:xfrm>
          <a:prstGeom prst="rect">
            <a:avLst/>
          </a:prstGeom>
          <a:noFill/>
          <a:ln/>
        </p:spPr>
        <p:txBody>
          <a:bodyPr wrap="square" lIns="0" tIns="0" rIns="0" bIns="0" rtlCol="0" anchor="t"/>
          <a:lstStyle/>
          <a:p>
            <a:pPr indent="0" marL="0">
              <a:buNone/>
            </a:pPr>
            <a:r>
              <a:rPr lang="en-US" sz="1300" dirty="0">
                <a:solidFill>
                  <a:schemeClr val="tx1"/>
                </a:solidFill>
              </a:rPr>
              <a:t>Academic CV, skills and awards ready for grant applications.</a:t>
            </a:r>
            <a:endParaRPr lang="en-US" sz="1300" dirty="0"/>
          </a:p>
        </p:txBody>
      </p:sp>
      <p:sp>
        <p:nvSpPr>
          <p:cNvPr id="17" name="Shape 12"/>
          <p:cNvSpPr/>
          <p:nvPr/>
        </p:nvSpPr>
        <p:spPr>
          <a:xfrm>
            <a:off x="8229600" y="4261104"/>
            <a:ext cx="457200" cy="457200"/>
          </a:xfrm>
          <a:prstGeom prst="ellipse">
            <a:avLst/>
          </a:prstGeom>
          <a:solidFill>
            <a:srgbClr val="EFEAF8"/>
          </a:solidFill>
          <a:ln w="12700">
            <a:solidFill>
              <a:srgbClr val="EFEAF8"/>
            </a:solidFill>
            <a:prstDash val="solid"/>
          </a:ln>
        </p:spPr>
      </p:sp>
      <p:pic>
        <p:nvPicPr>
          <p:cNvPr id="18" name="Image 3" descr="preencoded.png">    </p:cNvPr>
          <p:cNvPicPr>
            <a:picLocks noChangeAspect="1"/>
          </p:cNvPicPr>
          <p:nvPr/>
        </p:nvPicPr>
        <p:blipFill>
          <a:blip r:embed="rId4"/>
          <a:stretch>
            <a:fillRect/>
          </a:stretch>
        </p:blipFill>
        <p:spPr>
          <a:xfrm>
            <a:off x="8339328" y="4370832"/>
            <a:ext cx="237744" cy="237744"/>
          </a:xfrm>
          <a:prstGeom prst="rect">
            <a:avLst/>
          </a:prstGeom>
        </p:spPr>
      </p:pic>
      <p:sp>
        <p:nvSpPr>
          <p:cNvPr id="19" name="Text 13"/>
          <p:cNvSpPr txBox="1"/>
          <p:nvPr/>
        </p:nvSpPr>
        <p:spPr>
          <a:xfrm>
            <a:off x="8823960" y="4242816"/>
            <a:ext cx="2834640" cy="320040"/>
          </a:xfrm>
          <a:prstGeom prst="rect">
            <a:avLst/>
          </a:prstGeom>
          <a:noFill/>
          <a:ln/>
        </p:spPr>
        <p:txBody>
          <a:bodyPr wrap="square" lIns="0" tIns="0" rIns="0" bIns="0" rtlCol="0" anchor="ctr"/>
          <a:lstStyle/>
          <a:p>
            <a:pPr indent="0" marL="0">
              <a:buNone/>
            </a:pPr>
            <a:r>
              <a:rPr lang="en-US" sz="1500" b="1" dirty="0">
                <a:solidFill>
                  <a:schemeClr val="tx2"/>
                </a:solidFill>
              </a:rPr>
              <a:t>Public profile link</a:t>
            </a:r>
            <a:endParaRPr lang="en-US" sz="1500" dirty="0"/>
          </a:p>
        </p:txBody>
      </p:sp>
      <p:sp>
        <p:nvSpPr>
          <p:cNvPr id="20" name="Text 14"/>
          <p:cNvSpPr txBox="1"/>
          <p:nvPr/>
        </p:nvSpPr>
        <p:spPr>
          <a:xfrm>
            <a:off x="8823960" y="4562856"/>
            <a:ext cx="2834640" cy="640080"/>
          </a:xfrm>
          <a:prstGeom prst="rect">
            <a:avLst/>
          </a:prstGeom>
          <a:noFill/>
          <a:ln/>
        </p:spPr>
        <p:txBody>
          <a:bodyPr wrap="square" lIns="0" tIns="0" rIns="0" bIns="0" rtlCol="0" anchor="t"/>
          <a:lstStyle/>
          <a:p>
            <a:pPr indent="0" marL="0">
              <a:buNone/>
            </a:pPr>
            <a:r>
              <a:rPr lang="en-US" sz="1300" dirty="0">
                <a:solidFill>
                  <a:schemeClr val="tx1"/>
                </a:solidFill>
              </a:rPr>
              <a:t>Share expertise with funders and partners to raise visibility.</a:t>
            </a:r>
            <a:endParaRPr lang="en-US" sz="1300" dirty="0"/>
          </a:p>
        </p:txBody>
      </p:sp>
      <p:sp>
        <p:nvSpPr>
          <p:cNvPr id="21" name="Shape 15"/>
          <p:cNvSpPr/>
          <p:nvPr/>
        </p:nvSpPr>
        <p:spPr>
          <a:xfrm>
            <a:off x="8229600" y="5248656"/>
            <a:ext cx="457200" cy="457200"/>
          </a:xfrm>
          <a:prstGeom prst="ellipse">
            <a:avLst/>
          </a:prstGeom>
          <a:solidFill>
            <a:srgbClr val="EFEAF8"/>
          </a:solidFill>
          <a:ln w="12700">
            <a:solidFill>
              <a:srgbClr val="EFEAF8"/>
            </a:solidFill>
            <a:prstDash val="solid"/>
          </a:ln>
        </p:spPr>
      </p:sp>
      <p:pic>
        <p:nvPicPr>
          <p:cNvPr id="22" name="Image 4" descr="preencoded.png">    </p:cNvPr>
          <p:cNvPicPr>
            <a:picLocks noChangeAspect="1"/>
          </p:cNvPicPr>
          <p:nvPr/>
        </p:nvPicPr>
        <p:blipFill>
          <a:blip r:embed="rId5"/>
          <a:stretch>
            <a:fillRect/>
          </a:stretch>
        </p:blipFill>
        <p:spPr>
          <a:xfrm>
            <a:off x="8339328" y="5358384"/>
            <a:ext cx="237744" cy="237744"/>
          </a:xfrm>
          <a:prstGeom prst="rect">
            <a:avLst/>
          </a:prstGeom>
        </p:spPr>
      </p:pic>
      <p:sp>
        <p:nvSpPr>
          <p:cNvPr id="23" name="Text 16"/>
          <p:cNvSpPr txBox="1"/>
          <p:nvPr/>
        </p:nvSpPr>
        <p:spPr>
          <a:xfrm>
            <a:off x="8823960" y="5230368"/>
            <a:ext cx="2834640" cy="320040"/>
          </a:xfrm>
          <a:prstGeom prst="rect">
            <a:avLst/>
          </a:prstGeom>
          <a:noFill/>
          <a:ln/>
        </p:spPr>
        <p:txBody>
          <a:bodyPr wrap="square" lIns="0" tIns="0" rIns="0" bIns="0" rtlCol="0" anchor="ctr"/>
          <a:lstStyle/>
          <a:p>
            <a:pPr indent="0" marL="0">
              <a:buNone/>
            </a:pPr>
            <a:r>
              <a:rPr lang="en-US" sz="1500" b="1" dirty="0">
                <a:solidFill>
                  <a:schemeClr val="tx2"/>
                </a:solidFill>
              </a:rPr>
              <a:t>Impact summary</a:t>
            </a:r>
            <a:endParaRPr lang="en-US" sz="1500" dirty="0"/>
          </a:p>
        </p:txBody>
      </p:sp>
      <p:sp>
        <p:nvSpPr>
          <p:cNvPr id="24" name="Text 17"/>
          <p:cNvSpPr txBox="1"/>
          <p:nvPr/>
        </p:nvSpPr>
        <p:spPr>
          <a:xfrm>
            <a:off x="8823960" y="5550408"/>
            <a:ext cx="2834640" cy="640080"/>
          </a:xfrm>
          <a:prstGeom prst="rect">
            <a:avLst/>
          </a:prstGeom>
          <a:noFill/>
          <a:ln/>
        </p:spPr>
        <p:txBody>
          <a:bodyPr wrap="square" lIns="0" tIns="0" rIns="0" bIns="0" rtlCol="0" anchor="t"/>
          <a:lstStyle/>
          <a:p>
            <a:pPr indent="0" marL="0">
              <a:buNone/>
            </a:pPr>
            <a:r>
              <a:rPr lang="en-US" sz="1300" dirty="0">
                <a:solidFill>
                  <a:schemeClr val="tx1"/>
                </a:solidFill>
              </a:rPr>
              <a:t>Publications and citations roll up automatically from the library.</a:t>
            </a:r>
            <a:endParaRPr lang="en-US" sz="13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C78"/>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chemeClr val="tx2"/>
                </a:solidFill>
              </a:rPr>
              <a:t>Publications and citations, without the busywork</a:t>
            </a:r>
            <a:endParaRPr lang="en-US" sz="3200" dirty="0"/>
          </a:p>
        </p:txBody>
      </p:sp>
      <p:sp>
        <p:nvSpPr>
          <p:cNvPr id="3" name="Import publications frame"/>
          <p:cNvSpPr/>
          <p:nvPr/>
        </p:nvSpPr>
        <p:spPr>
          <a:xfrm>
            <a:off x="548640" y="1371600"/>
            <a:ext cx="5669280" cy="3572615"/>
          </a:xfrm>
          <a:prstGeom prst="roundRect">
            <a:avLst>
              <a:gd name="adj" fmla="val 2048"/>
            </a:avLst>
          </a:prstGeom>
          <a:solidFill>
            <a:srgbClr val="ECEAF2"/>
          </a:solidFill>
          <a:ln w="9525">
            <a:solidFill>
              <a:srgbClr val="DDD8EC"/>
            </a:solidFill>
            <a:prstDash val="solid"/>
          </a:ln>
          <a:effectLst>
            <a:outerShdw sx="100000" sy="100000" kx="0" ky="0" algn="bl" rotWithShape="0" blurRad="152400" dist="50800" dir="5400000">
              <a:srgbClr val="000000">
                <a:alpha val="18000"/>
              </a:srgbClr>
            </a:outerShdw>
          </a:effectLst>
        </p:spPr>
      </p:sp>
      <p:sp>
        <p:nvSpPr>
          <p:cNvPr id="4" name="Shape 2"/>
          <p:cNvSpPr/>
          <p:nvPr/>
        </p:nvSpPr>
        <p:spPr>
          <a:xfrm>
            <a:off x="676656" y="1444752"/>
            <a:ext cx="91440" cy="91440"/>
          </a:xfrm>
          <a:prstGeom prst="ellipse">
            <a:avLst/>
          </a:prstGeom>
          <a:solidFill>
            <a:srgbClr val="E86B6B"/>
          </a:solidFill>
          <a:ln w="12700">
            <a:solidFill>
              <a:srgbClr val="E86B6B"/>
            </a:solidFill>
            <a:prstDash val="solid"/>
          </a:ln>
        </p:spPr>
      </p:sp>
      <p:sp>
        <p:nvSpPr>
          <p:cNvPr id="5" name="Shape 3"/>
          <p:cNvSpPr/>
          <p:nvPr/>
        </p:nvSpPr>
        <p:spPr>
          <a:xfrm>
            <a:off x="822960" y="1444752"/>
            <a:ext cx="91440" cy="91440"/>
          </a:xfrm>
          <a:prstGeom prst="ellipse">
            <a:avLst/>
          </a:prstGeom>
          <a:solidFill>
            <a:srgbClr val="F2C14E"/>
          </a:solidFill>
          <a:ln w="12700">
            <a:solidFill>
              <a:srgbClr val="F2C14E"/>
            </a:solidFill>
            <a:prstDash val="solid"/>
          </a:ln>
        </p:spPr>
      </p:sp>
      <p:sp>
        <p:nvSpPr>
          <p:cNvPr id="6" name="Shape 4"/>
          <p:cNvSpPr/>
          <p:nvPr/>
        </p:nvSpPr>
        <p:spPr>
          <a:xfrm>
            <a:off x="969264" y="1444752"/>
            <a:ext cx="91440" cy="91440"/>
          </a:xfrm>
          <a:prstGeom prst="ellipse">
            <a:avLst/>
          </a:prstGeom>
          <a:solidFill>
            <a:srgbClr val="5DBB7A"/>
          </a:solidFill>
          <a:ln w="12700">
            <a:solidFill>
              <a:srgbClr val="5DBB7A"/>
            </a:solidFill>
            <a:prstDash val="solid"/>
          </a:ln>
        </p:spPr>
      </p:sp>
      <p:pic>
        <p:nvPicPr>
          <p:cNvPr id="7" name="Import publications screenshot" descr="/home/claude/deck/img/r_import.png">    </p:cNvPr>
          <p:cNvPicPr>
            <a:picLocks noChangeAspect="1"/>
          </p:cNvPicPr>
          <p:nvPr/>
        </p:nvPicPr>
        <p:blipFill>
          <a:blip r:embed="rId1"/>
          <a:stretch>
            <a:fillRect/>
          </a:stretch>
        </p:blipFill>
        <p:spPr>
          <a:xfrm>
            <a:off x="576072" y="1609344"/>
            <a:ext cx="5614416" cy="3302598"/>
          </a:xfrm>
          <a:prstGeom prst="rect">
            <a:avLst/>
          </a:prstGeom>
        </p:spPr>
      </p:pic>
      <p:sp>
        <p:nvSpPr>
          <p:cNvPr id="8" name="Manage publications frame"/>
          <p:cNvSpPr/>
          <p:nvPr/>
        </p:nvSpPr>
        <p:spPr>
          <a:xfrm>
            <a:off x="3108960" y="3063240"/>
            <a:ext cx="5120640" cy="3249885"/>
          </a:xfrm>
          <a:prstGeom prst="roundRect">
            <a:avLst>
              <a:gd name="adj" fmla="val 2251"/>
            </a:avLst>
          </a:prstGeom>
          <a:solidFill>
            <a:srgbClr val="ECEAF2"/>
          </a:solidFill>
          <a:ln w="9525">
            <a:solidFill>
              <a:srgbClr val="DDD8EC"/>
            </a:solidFill>
            <a:prstDash val="solid"/>
          </a:ln>
          <a:effectLst>
            <a:outerShdw sx="100000" sy="100000" kx="0" ky="0" algn="bl" rotWithShape="0" blurRad="152400" dist="50800" dir="5400000">
              <a:srgbClr val="000000">
                <a:alpha val="18000"/>
              </a:srgbClr>
            </a:outerShdw>
          </a:effectLst>
        </p:spPr>
      </p:sp>
      <p:sp>
        <p:nvSpPr>
          <p:cNvPr id="9" name="Shape 6"/>
          <p:cNvSpPr/>
          <p:nvPr/>
        </p:nvSpPr>
        <p:spPr>
          <a:xfrm>
            <a:off x="3236976" y="3136392"/>
            <a:ext cx="91440" cy="91440"/>
          </a:xfrm>
          <a:prstGeom prst="ellipse">
            <a:avLst/>
          </a:prstGeom>
          <a:solidFill>
            <a:srgbClr val="E86B6B"/>
          </a:solidFill>
          <a:ln w="12700">
            <a:solidFill>
              <a:srgbClr val="E86B6B"/>
            </a:solidFill>
            <a:prstDash val="solid"/>
          </a:ln>
        </p:spPr>
      </p:sp>
      <p:sp>
        <p:nvSpPr>
          <p:cNvPr id="10" name="Shape 7"/>
          <p:cNvSpPr/>
          <p:nvPr/>
        </p:nvSpPr>
        <p:spPr>
          <a:xfrm>
            <a:off x="3383280" y="3136392"/>
            <a:ext cx="91440" cy="91440"/>
          </a:xfrm>
          <a:prstGeom prst="ellipse">
            <a:avLst/>
          </a:prstGeom>
          <a:solidFill>
            <a:srgbClr val="F2C14E"/>
          </a:solidFill>
          <a:ln w="12700">
            <a:solidFill>
              <a:srgbClr val="F2C14E"/>
            </a:solidFill>
            <a:prstDash val="solid"/>
          </a:ln>
        </p:spPr>
      </p:sp>
      <p:sp>
        <p:nvSpPr>
          <p:cNvPr id="11" name="Shape 8"/>
          <p:cNvSpPr/>
          <p:nvPr/>
        </p:nvSpPr>
        <p:spPr>
          <a:xfrm>
            <a:off x="3529584" y="3136392"/>
            <a:ext cx="91440" cy="91440"/>
          </a:xfrm>
          <a:prstGeom prst="ellipse">
            <a:avLst/>
          </a:prstGeom>
          <a:solidFill>
            <a:srgbClr val="5DBB7A"/>
          </a:solidFill>
          <a:ln w="12700">
            <a:solidFill>
              <a:srgbClr val="5DBB7A"/>
            </a:solidFill>
            <a:prstDash val="solid"/>
          </a:ln>
        </p:spPr>
      </p:sp>
      <p:pic>
        <p:nvPicPr>
          <p:cNvPr id="12" name="Manage publications screenshot" descr="/home/claude/deck/img/r_pubs.png">    </p:cNvPr>
          <p:cNvPicPr>
            <a:picLocks noChangeAspect="1"/>
          </p:cNvPicPr>
          <p:nvPr/>
        </p:nvPicPr>
        <p:blipFill>
          <a:blip r:embed="rId2"/>
          <a:stretch>
            <a:fillRect/>
          </a:stretch>
        </p:blipFill>
        <p:spPr>
          <a:xfrm>
            <a:off x="3136392" y="3300984"/>
            <a:ext cx="5065776" cy="2979868"/>
          </a:xfrm>
          <a:prstGeom prst="rect">
            <a:avLst/>
          </a:prstGeom>
        </p:spPr>
      </p:pic>
      <p:sp>
        <p:nvSpPr>
          <p:cNvPr id="13" name="Shape 9"/>
          <p:cNvSpPr/>
          <p:nvPr/>
        </p:nvSpPr>
        <p:spPr>
          <a:xfrm>
            <a:off x="8641080" y="1463040"/>
            <a:ext cx="457200" cy="457200"/>
          </a:xfrm>
          <a:prstGeom prst="ellipse">
            <a:avLst/>
          </a:prstGeom>
          <a:solidFill>
            <a:srgbClr val="EFEAF8"/>
          </a:solidFill>
          <a:ln w="12700">
            <a:solidFill>
              <a:srgbClr val="EFEAF8"/>
            </a:solidFill>
            <a:prstDash val="solid"/>
          </a:ln>
        </p:spPr>
      </p:sp>
      <p:pic>
        <p:nvPicPr>
          <p:cNvPr id="14" name="Image 2" descr="preencoded.png">    </p:cNvPr>
          <p:cNvPicPr>
            <a:picLocks noChangeAspect="1"/>
          </p:cNvPicPr>
          <p:nvPr/>
        </p:nvPicPr>
        <p:blipFill>
          <a:blip r:embed="rId3"/>
          <a:stretch>
            <a:fillRect/>
          </a:stretch>
        </p:blipFill>
        <p:spPr>
          <a:xfrm>
            <a:off x="8750808" y="1572768"/>
            <a:ext cx="237744" cy="237744"/>
          </a:xfrm>
          <a:prstGeom prst="rect">
            <a:avLst/>
          </a:prstGeom>
        </p:spPr>
      </p:pic>
      <p:sp>
        <p:nvSpPr>
          <p:cNvPr id="15" name="Text 10"/>
          <p:cNvSpPr txBox="1"/>
          <p:nvPr/>
        </p:nvSpPr>
        <p:spPr>
          <a:xfrm>
            <a:off x="9235440" y="1444752"/>
            <a:ext cx="2423160" cy="320040"/>
          </a:xfrm>
          <a:prstGeom prst="rect">
            <a:avLst/>
          </a:prstGeom>
          <a:noFill/>
          <a:ln/>
        </p:spPr>
        <p:txBody>
          <a:bodyPr wrap="square" lIns="0" tIns="0" rIns="0" bIns="0" rtlCol="0" anchor="ctr"/>
          <a:lstStyle/>
          <a:p>
            <a:pPr indent="0" marL="0">
              <a:buNone/>
            </a:pPr>
            <a:r>
              <a:rPr lang="en-US" sz="1500" b="1" dirty="0">
                <a:solidFill>
                  <a:schemeClr val="tx2"/>
                </a:solidFill>
              </a:rPr>
              <a:t>One-click import</a:t>
            </a:r>
            <a:endParaRPr lang="en-US" sz="1500" dirty="0"/>
          </a:p>
        </p:txBody>
      </p:sp>
      <p:sp>
        <p:nvSpPr>
          <p:cNvPr id="16" name="Text 11"/>
          <p:cNvSpPr txBox="1"/>
          <p:nvPr/>
        </p:nvSpPr>
        <p:spPr>
          <a:xfrm>
            <a:off x="9235440" y="1764792"/>
            <a:ext cx="2423160" cy="777240"/>
          </a:xfrm>
          <a:prstGeom prst="rect">
            <a:avLst/>
          </a:prstGeom>
          <a:noFill/>
          <a:ln/>
        </p:spPr>
        <p:txBody>
          <a:bodyPr wrap="square" lIns="0" tIns="0" rIns="0" bIns="0" rtlCol="0" anchor="t"/>
          <a:lstStyle/>
          <a:p>
            <a:pPr indent="0" marL="0">
              <a:buNone/>
            </a:pPr>
            <a:r>
              <a:rPr lang="en-US" sz="1300" dirty="0">
                <a:solidFill>
                  <a:schemeClr val="tx1"/>
                </a:solidFill>
              </a:rPr>
              <a:t>PubMed, Crossref/DOI, OpenAlex and Research4Life.</a:t>
            </a:r>
            <a:endParaRPr lang="en-US" sz="1300" dirty="0"/>
          </a:p>
        </p:txBody>
      </p:sp>
      <p:sp>
        <p:nvSpPr>
          <p:cNvPr id="17" name="Shape 12"/>
          <p:cNvSpPr/>
          <p:nvPr/>
        </p:nvSpPr>
        <p:spPr>
          <a:xfrm>
            <a:off x="8641080" y="2651760"/>
            <a:ext cx="457200" cy="457200"/>
          </a:xfrm>
          <a:prstGeom prst="ellipse">
            <a:avLst/>
          </a:prstGeom>
          <a:solidFill>
            <a:srgbClr val="EFEAF8"/>
          </a:solidFill>
          <a:ln w="12700">
            <a:solidFill>
              <a:srgbClr val="EFEAF8"/>
            </a:solidFill>
            <a:prstDash val="solid"/>
          </a:ln>
        </p:spPr>
      </p:sp>
      <p:pic>
        <p:nvPicPr>
          <p:cNvPr id="18" name="Image 3" descr="preencoded.png">    </p:cNvPr>
          <p:cNvPicPr>
            <a:picLocks noChangeAspect="1"/>
          </p:cNvPicPr>
          <p:nvPr/>
        </p:nvPicPr>
        <p:blipFill>
          <a:blip r:embed="rId4"/>
          <a:stretch>
            <a:fillRect/>
          </a:stretch>
        </p:blipFill>
        <p:spPr>
          <a:xfrm>
            <a:off x="8750808" y="2761488"/>
            <a:ext cx="237744" cy="237744"/>
          </a:xfrm>
          <a:prstGeom prst="rect">
            <a:avLst/>
          </a:prstGeom>
        </p:spPr>
      </p:pic>
      <p:sp>
        <p:nvSpPr>
          <p:cNvPr id="19" name="Text 13"/>
          <p:cNvSpPr txBox="1"/>
          <p:nvPr/>
        </p:nvSpPr>
        <p:spPr>
          <a:xfrm>
            <a:off x="9235440" y="2633472"/>
            <a:ext cx="2423160" cy="320040"/>
          </a:xfrm>
          <a:prstGeom prst="rect">
            <a:avLst/>
          </a:prstGeom>
          <a:noFill/>
          <a:ln/>
        </p:spPr>
        <p:txBody>
          <a:bodyPr wrap="square" lIns="0" tIns="0" rIns="0" bIns="0" rtlCol="0" anchor="ctr"/>
          <a:lstStyle/>
          <a:p>
            <a:pPr indent="0" marL="0">
              <a:buNone/>
            </a:pPr>
            <a:r>
              <a:rPr lang="en-US" sz="1500" b="1" dirty="0">
                <a:solidFill>
                  <a:schemeClr val="tx2"/>
                </a:solidFill>
              </a:rPr>
              <a:t>Bring existing libraries</a:t>
            </a:r>
            <a:endParaRPr lang="en-US" sz="1500" dirty="0"/>
          </a:p>
        </p:txBody>
      </p:sp>
      <p:sp>
        <p:nvSpPr>
          <p:cNvPr id="20" name="Text 14"/>
          <p:cNvSpPr txBox="1"/>
          <p:nvPr/>
        </p:nvSpPr>
        <p:spPr>
          <a:xfrm>
            <a:off x="9235440" y="2953512"/>
            <a:ext cx="2423160" cy="777240"/>
          </a:xfrm>
          <a:prstGeom prst="rect">
            <a:avLst/>
          </a:prstGeom>
          <a:noFill/>
          <a:ln/>
        </p:spPr>
        <p:txBody>
          <a:bodyPr wrap="square" lIns="0" tIns="0" rIns="0" bIns="0" rtlCol="0" anchor="t"/>
          <a:lstStyle/>
          <a:p>
            <a:pPr indent="0" marL="0">
              <a:buNone/>
            </a:pPr>
            <a:r>
              <a:rPr lang="en-US" sz="1300" dirty="0">
                <a:solidFill>
                  <a:schemeClr val="tx1"/>
                </a:solidFill>
              </a:rPr>
              <a:t>BibTeX, RIS/EndNote, Mendeley, Zotero and CSV.</a:t>
            </a:r>
            <a:endParaRPr lang="en-US" sz="1300" dirty="0"/>
          </a:p>
        </p:txBody>
      </p:sp>
      <p:sp>
        <p:nvSpPr>
          <p:cNvPr id="21" name="Shape 15"/>
          <p:cNvSpPr/>
          <p:nvPr/>
        </p:nvSpPr>
        <p:spPr>
          <a:xfrm>
            <a:off x="8641080" y="3840480"/>
            <a:ext cx="457200" cy="457200"/>
          </a:xfrm>
          <a:prstGeom prst="ellipse">
            <a:avLst/>
          </a:prstGeom>
          <a:solidFill>
            <a:srgbClr val="EFEAF8"/>
          </a:solidFill>
          <a:ln w="12700">
            <a:solidFill>
              <a:srgbClr val="EFEAF8"/>
            </a:solidFill>
            <a:prstDash val="solid"/>
          </a:ln>
        </p:spPr>
      </p:sp>
      <p:pic>
        <p:nvPicPr>
          <p:cNvPr id="22" name="Image 4" descr="preencoded.png">    </p:cNvPr>
          <p:cNvPicPr>
            <a:picLocks noChangeAspect="1"/>
          </p:cNvPicPr>
          <p:nvPr/>
        </p:nvPicPr>
        <p:blipFill>
          <a:blip r:embed="rId5"/>
          <a:stretch>
            <a:fillRect/>
          </a:stretch>
        </p:blipFill>
        <p:spPr>
          <a:xfrm>
            <a:off x="8750808" y="3950208"/>
            <a:ext cx="237744" cy="237744"/>
          </a:xfrm>
          <a:prstGeom prst="rect">
            <a:avLst/>
          </a:prstGeom>
        </p:spPr>
      </p:pic>
      <p:sp>
        <p:nvSpPr>
          <p:cNvPr id="23" name="Text 16"/>
          <p:cNvSpPr txBox="1"/>
          <p:nvPr/>
        </p:nvSpPr>
        <p:spPr>
          <a:xfrm>
            <a:off x="9235440" y="3822192"/>
            <a:ext cx="2423160" cy="320040"/>
          </a:xfrm>
          <a:prstGeom prst="rect">
            <a:avLst/>
          </a:prstGeom>
          <a:noFill/>
          <a:ln/>
        </p:spPr>
        <p:txBody>
          <a:bodyPr wrap="square" lIns="0" tIns="0" rIns="0" bIns="0" rtlCol="0" anchor="ctr"/>
          <a:lstStyle/>
          <a:p>
            <a:pPr indent="0" marL="0">
              <a:buNone/>
            </a:pPr>
            <a:r>
              <a:rPr lang="en-US" sz="1500" b="1" dirty="0">
                <a:solidFill>
                  <a:schemeClr val="tx2"/>
                </a:solidFill>
              </a:rPr>
              <a:t>Cite as you write</a:t>
            </a:r>
            <a:endParaRPr lang="en-US" sz="1500" dirty="0"/>
          </a:p>
        </p:txBody>
      </p:sp>
      <p:sp>
        <p:nvSpPr>
          <p:cNvPr id="24" name="Text 17"/>
          <p:cNvSpPr txBox="1"/>
          <p:nvPr/>
        </p:nvSpPr>
        <p:spPr>
          <a:xfrm>
            <a:off x="9235440" y="4142232"/>
            <a:ext cx="2423160" cy="777240"/>
          </a:xfrm>
          <a:prstGeom prst="rect">
            <a:avLst/>
          </a:prstGeom>
          <a:noFill/>
          <a:ln/>
        </p:spPr>
        <p:txBody>
          <a:bodyPr wrap="square" lIns="0" tIns="0" rIns="0" bIns="0" rtlCol="0" anchor="t"/>
          <a:lstStyle/>
          <a:p>
            <a:pPr indent="0" marL="0">
              <a:buNone/>
            </a:pPr>
            <a:r>
              <a:rPr lang="en-US" sz="1300" dirty="0">
                <a:solidFill>
                  <a:schemeClr val="tx1"/>
                </a:solidFill>
              </a:rPr>
              <a:t>APA, MLA, Chicago, Harvard, Vancouver, IEEE and AMA.</a:t>
            </a:r>
            <a:endParaRPr lang="en-US" sz="1300" dirty="0"/>
          </a:p>
        </p:txBody>
      </p:sp>
      <p:sp>
        <p:nvSpPr>
          <p:cNvPr id="25" name="Shape 18"/>
          <p:cNvSpPr/>
          <p:nvPr/>
        </p:nvSpPr>
        <p:spPr>
          <a:xfrm>
            <a:off x="8641080" y="5029200"/>
            <a:ext cx="457200" cy="457200"/>
          </a:xfrm>
          <a:prstGeom prst="ellipse">
            <a:avLst/>
          </a:prstGeom>
          <a:solidFill>
            <a:srgbClr val="EFEAF8"/>
          </a:solidFill>
          <a:ln w="12700">
            <a:solidFill>
              <a:srgbClr val="EFEAF8"/>
            </a:solidFill>
            <a:prstDash val="solid"/>
          </a:ln>
        </p:spPr>
      </p:sp>
      <p:pic>
        <p:nvPicPr>
          <p:cNvPr id="26" name="Image 5" descr="preencoded.png">    </p:cNvPr>
          <p:cNvPicPr>
            <a:picLocks noChangeAspect="1"/>
          </p:cNvPicPr>
          <p:nvPr/>
        </p:nvPicPr>
        <p:blipFill>
          <a:blip r:embed="rId6"/>
          <a:stretch>
            <a:fillRect/>
          </a:stretch>
        </p:blipFill>
        <p:spPr>
          <a:xfrm>
            <a:off x="8750808" y="5138928"/>
            <a:ext cx="237744" cy="237744"/>
          </a:xfrm>
          <a:prstGeom prst="rect">
            <a:avLst/>
          </a:prstGeom>
        </p:spPr>
      </p:pic>
      <p:sp>
        <p:nvSpPr>
          <p:cNvPr id="27" name="Text 19"/>
          <p:cNvSpPr txBox="1"/>
          <p:nvPr/>
        </p:nvSpPr>
        <p:spPr>
          <a:xfrm>
            <a:off x="9235440" y="5010912"/>
            <a:ext cx="2423160" cy="320040"/>
          </a:xfrm>
          <a:prstGeom prst="rect">
            <a:avLst/>
          </a:prstGeom>
          <a:noFill/>
          <a:ln/>
        </p:spPr>
        <p:txBody>
          <a:bodyPr wrap="square" lIns="0" tIns="0" rIns="0" bIns="0" rtlCol="0" anchor="ctr"/>
          <a:lstStyle/>
          <a:p>
            <a:pPr indent="0" marL="0">
              <a:buNone/>
            </a:pPr>
            <a:r>
              <a:rPr lang="en-US" sz="1500" b="1" dirty="0">
                <a:solidFill>
                  <a:schemeClr val="tx2"/>
                </a:solidFill>
              </a:rPr>
              <a:t>Organised and deduplicated</a:t>
            </a:r>
            <a:endParaRPr lang="en-US" sz="1500" dirty="0"/>
          </a:p>
        </p:txBody>
      </p:sp>
      <p:sp>
        <p:nvSpPr>
          <p:cNvPr id="28" name="Text 20"/>
          <p:cNvSpPr txBox="1"/>
          <p:nvPr/>
        </p:nvSpPr>
        <p:spPr>
          <a:xfrm>
            <a:off x="9235440" y="5330952"/>
            <a:ext cx="2423160" cy="777240"/>
          </a:xfrm>
          <a:prstGeom prst="rect">
            <a:avLst/>
          </a:prstGeom>
          <a:noFill/>
          <a:ln/>
        </p:spPr>
        <p:txBody>
          <a:bodyPr wrap="square" lIns="0" tIns="0" rIns="0" bIns="0" rtlCol="0" anchor="t"/>
          <a:lstStyle/>
          <a:p>
            <a:pPr indent="0" marL="0">
              <a:buNone/>
            </a:pPr>
            <a:r>
              <a:rPr lang="en-US" sz="1300" dirty="0">
                <a:solidFill>
                  <a:schemeClr val="tx1"/>
                </a:solidFill>
              </a:rPr>
              <a:t>Folders, filters and DOI matching keep libraries clean.</a:t>
            </a:r>
            <a:endParaRPr lang="en-US" sz="13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C78"/>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chemeClr val="tx2"/>
                </a:solidFill>
              </a:rPr>
              <a:t>Write together, in real time, inside the platform</a:t>
            </a:r>
            <a:endParaRPr lang="en-US" sz="3200" dirty="0"/>
          </a:p>
        </p:txBody>
      </p:sp>
      <p:sp>
        <p:nvSpPr>
          <p:cNvPr id="3" name="Manuscript editor frame"/>
          <p:cNvSpPr/>
          <p:nvPr/>
        </p:nvSpPr>
        <p:spPr>
          <a:xfrm>
            <a:off x="548640" y="1371600"/>
            <a:ext cx="7315200" cy="4540803"/>
          </a:xfrm>
          <a:prstGeom prst="roundRect">
            <a:avLst>
              <a:gd name="adj" fmla="val 1611"/>
            </a:avLst>
          </a:prstGeom>
          <a:solidFill>
            <a:srgbClr val="ECEAF2"/>
          </a:solidFill>
          <a:ln w="9525">
            <a:solidFill>
              <a:srgbClr val="DDD8EC"/>
            </a:solidFill>
            <a:prstDash val="solid"/>
          </a:ln>
          <a:effectLst>
            <a:outerShdw sx="100000" sy="100000" kx="0" ky="0" algn="bl" rotWithShape="0" blurRad="152400" dist="50800" dir="5400000">
              <a:srgbClr val="000000">
                <a:alpha val="18000"/>
              </a:srgbClr>
            </a:outerShdw>
          </a:effectLst>
        </p:spPr>
      </p:sp>
      <p:sp>
        <p:nvSpPr>
          <p:cNvPr id="4" name="Shape 2"/>
          <p:cNvSpPr/>
          <p:nvPr/>
        </p:nvSpPr>
        <p:spPr>
          <a:xfrm>
            <a:off x="676656" y="1444752"/>
            <a:ext cx="91440" cy="91440"/>
          </a:xfrm>
          <a:prstGeom prst="ellipse">
            <a:avLst/>
          </a:prstGeom>
          <a:solidFill>
            <a:srgbClr val="E86B6B"/>
          </a:solidFill>
          <a:ln w="12700">
            <a:solidFill>
              <a:srgbClr val="E86B6B"/>
            </a:solidFill>
            <a:prstDash val="solid"/>
          </a:ln>
        </p:spPr>
      </p:sp>
      <p:sp>
        <p:nvSpPr>
          <p:cNvPr id="5" name="Shape 3"/>
          <p:cNvSpPr/>
          <p:nvPr/>
        </p:nvSpPr>
        <p:spPr>
          <a:xfrm>
            <a:off x="822960" y="1444752"/>
            <a:ext cx="91440" cy="91440"/>
          </a:xfrm>
          <a:prstGeom prst="ellipse">
            <a:avLst/>
          </a:prstGeom>
          <a:solidFill>
            <a:srgbClr val="F2C14E"/>
          </a:solidFill>
          <a:ln w="12700">
            <a:solidFill>
              <a:srgbClr val="F2C14E"/>
            </a:solidFill>
            <a:prstDash val="solid"/>
          </a:ln>
        </p:spPr>
      </p:sp>
      <p:sp>
        <p:nvSpPr>
          <p:cNvPr id="6" name="Shape 4"/>
          <p:cNvSpPr/>
          <p:nvPr/>
        </p:nvSpPr>
        <p:spPr>
          <a:xfrm>
            <a:off x="969264" y="1444752"/>
            <a:ext cx="91440" cy="91440"/>
          </a:xfrm>
          <a:prstGeom prst="ellipse">
            <a:avLst/>
          </a:prstGeom>
          <a:solidFill>
            <a:srgbClr val="5DBB7A"/>
          </a:solidFill>
          <a:ln w="12700">
            <a:solidFill>
              <a:srgbClr val="5DBB7A"/>
            </a:solidFill>
            <a:prstDash val="solid"/>
          </a:ln>
        </p:spPr>
      </p:sp>
      <p:pic>
        <p:nvPicPr>
          <p:cNvPr id="7" name="Manuscript editor screenshot" descr="/home/claude/deck/img/r_editor.png">    </p:cNvPr>
          <p:cNvPicPr>
            <a:picLocks noChangeAspect="1"/>
          </p:cNvPicPr>
          <p:nvPr/>
        </p:nvPicPr>
        <p:blipFill>
          <a:blip r:embed="rId1"/>
          <a:stretch>
            <a:fillRect/>
          </a:stretch>
        </p:blipFill>
        <p:spPr>
          <a:xfrm>
            <a:off x="576072" y="1609344"/>
            <a:ext cx="7260336" cy="4270786"/>
          </a:xfrm>
          <a:prstGeom prst="rect">
            <a:avLst/>
          </a:prstGeom>
        </p:spPr>
      </p:pic>
      <p:sp>
        <p:nvSpPr>
          <p:cNvPr id="8" name="Text 5"/>
          <p:cNvSpPr txBox="1"/>
          <p:nvPr/>
        </p:nvSpPr>
        <p:spPr>
          <a:xfrm>
            <a:off x="8229600" y="1417320"/>
            <a:ext cx="3429000" cy="822960"/>
          </a:xfrm>
          <a:prstGeom prst="rect">
            <a:avLst/>
          </a:prstGeom>
          <a:noFill/>
          <a:ln/>
        </p:spPr>
        <p:txBody>
          <a:bodyPr wrap="square" lIns="0" tIns="0" rIns="0" bIns="0" rtlCol="0" anchor="t"/>
          <a:lstStyle/>
          <a:p>
            <a:pPr indent="0" marL="0">
              <a:buNone/>
            </a:pPr>
            <a:r>
              <a:rPr lang="en-US" sz="1600" b="1" dirty="0">
                <a:solidFill>
                  <a:srgbClr val="7E5BB5"/>
                </a:solidFill>
              </a:rPr>
              <a:t>A full manuscript editor with collaboration built in.</a:t>
            </a:r>
            <a:endParaRPr lang="en-US" sz="1600" dirty="0"/>
          </a:p>
        </p:txBody>
      </p:sp>
      <p:sp>
        <p:nvSpPr>
          <p:cNvPr id="9" name="Shape 6"/>
          <p:cNvSpPr/>
          <p:nvPr/>
        </p:nvSpPr>
        <p:spPr>
          <a:xfrm>
            <a:off x="8229600" y="2286000"/>
            <a:ext cx="457200" cy="457200"/>
          </a:xfrm>
          <a:prstGeom prst="ellipse">
            <a:avLst/>
          </a:prstGeom>
          <a:solidFill>
            <a:srgbClr val="EFEAF8"/>
          </a:solidFill>
          <a:ln w="12700">
            <a:solidFill>
              <a:srgbClr val="EFEAF8"/>
            </a:solidFill>
            <a:prstDash val="solid"/>
          </a:ln>
        </p:spPr>
      </p:sp>
      <p:pic>
        <p:nvPicPr>
          <p:cNvPr id="10" name="Image 1" descr="preencoded.png">    </p:cNvPr>
          <p:cNvPicPr>
            <a:picLocks noChangeAspect="1"/>
          </p:cNvPicPr>
          <p:nvPr/>
        </p:nvPicPr>
        <p:blipFill>
          <a:blip r:embed="rId2"/>
          <a:stretch>
            <a:fillRect/>
          </a:stretch>
        </p:blipFill>
        <p:spPr>
          <a:xfrm>
            <a:off x="8339328" y="2395728"/>
            <a:ext cx="237744" cy="237744"/>
          </a:xfrm>
          <a:prstGeom prst="rect">
            <a:avLst/>
          </a:prstGeom>
        </p:spPr>
      </p:pic>
      <p:sp>
        <p:nvSpPr>
          <p:cNvPr id="11" name="Text 7"/>
          <p:cNvSpPr txBox="1"/>
          <p:nvPr/>
        </p:nvSpPr>
        <p:spPr>
          <a:xfrm>
            <a:off x="8823960" y="2267712"/>
            <a:ext cx="2834640" cy="320040"/>
          </a:xfrm>
          <a:prstGeom prst="rect">
            <a:avLst/>
          </a:prstGeom>
          <a:noFill/>
          <a:ln/>
        </p:spPr>
        <p:txBody>
          <a:bodyPr wrap="square" lIns="0" tIns="0" rIns="0" bIns="0" rtlCol="0" anchor="ctr"/>
          <a:lstStyle/>
          <a:p>
            <a:pPr indent="0" marL="0">
              <a:buNone/>
            </a:pPr>
            <a:r>
              <a:rPr lang="en-US" sz="1500" b="1" dirty="0">
                <a:solidFill>
                  <a:schemeClr val="tx2"/>
                </a:solidFill>
              </a:rPr>
              <a:t>Invite by ORCID or email</a:t>
            </a:r>
            <a:endParaRPr lang="en-US" sz="1500" dirty="0"/>
          </a:p>
        </p:txBody>
      </p:sp>
      <p:sp>
        <p:nvSpPr>
          <p:cNvPr id="12" name="Text 8"/>
          <p:cNvSpPr txBox="1"/>
          <p:nvPr/>
        </p:nvSpPr>
        <p:spPr>
          <a:xfrm>
            <a:off x="8823960" y="2587752"/>
            <a:ext cx="2834640" cy="640080"/>
          </a:xfrm>
          <a:prstGeom prst="rect">
            <a:avLst/>
          </a:prstGeom>
          <a:noFill/>
          <a:ln/>
        </p:spPr>
        <p:txBody>
          <a:bodyPr wrap="square" lIns="0" tIns="0" rIns="0" bIns="0" rtlCol="0" anchor="t"/>
          <a:lstStyle/>
          <a:p>
            <a:pPr indent="0" marL="0">
              <a:buNone/>
            </a:pPr>
            <a:r>
              <a:rPr lang="en-US" sz="1300" dirty="0">
                <a:solidFill>
                  <a:schemeClr val="tx1"/>
                </a:solidFill>
              </a:rPr>
              <a:t>Owner, admin, editor, contributor and reviewer roles.</a:t>
            </a:r>
            <a:endParaRPr lang="en-US" sz="1300" dirty="0"/>
          </a:p>
        </p:txBody>
      </p:sp>
      <p:sp>
        <p:nvSpPr>
          <p:cNvPr id="13" name="Shape 9"/>
          <p:cNvSpPr/>
          <p:nvPr/>
        </p:nvSpPr>
        <p:spPr>
          <a:xfrm>
            <a:off x="8229600" y="3273552"/>
            <a:ext cx="457200" cy="457200"/>
          </a:xfrm>
          <a:prstGeom prst="ellipse">
            <a:avLst/>
          </a:prstGeom>
          <a:solidFill>
            <a:srgbClr val="EFEAF8"/>
          </a:solidFill>
          <a:ln w="12700">
            <a:solidFill>
              <a:srgbClr val="EFEAF8"/>
            </a:solidFill>
            <a:prstDash val="solid"/>
          </a:ln>
        </p:spPr>
      </p:sp>
      <p:pic>
        <p:nvPicPr>
          <p:cNvPr id="14" name="Image 2" descr="preencoded.png">    </p:cNvPr>
          <p:cNvPicPr>
            <a:picLocks noChangeAspect="1"/>
          </p:cNvPicPr>
          <p:nvPr/>
        </p:nvPicPr>
        <p:blipFill>
          <a:blip r:embed="rId3"/>
          <a:stretch>
            <a:fillRect/>
          </a:stretch>
        </p:blipFill>
        <p:spPr>
          <a:xfrm>
            <a:off x="8339328" y="3383280"/>
            <a:ext cx="237744" cy="237744"/>
          </a:xfrm>
          <a:prstGeom prst="rect">
            <a:avLst/>
          </a:prstGeom>
        </p:spPr>
      </p:pic>
      <p:sp>
        <p:nvSpPr>
          <p:cNvPr id="15" name="Text 10"/>
          <p:cNvSpPr txBox="1"/>
          <p:nvPr/>
        </p:nvSpPr>
        <p:spPr>
          <a:xfrm>
            <a:off x="8823960" y="3255264"/>
            <a:ext cx="2834640" cy="320040"/>
          </a:xfrm>
          <a:prstGeom prst="rect">
            <a:avLst/>
          </a:prstGeom>
          <a:noFill/>
          <a:ln/>
        </p:spPr>
        <p:txBody>
          <a:bodyPr wrap="square" lIns="0" tIns="0" rIns="0" bIns="0" rtlCol="0" anchor="ctr"/>
          <a:lstStyle/>
          <a:p>
            <a:pPr indent="0" marL="0">
              <a:buNone/>
            </a:pPr>
            <a:r>
              <a:rPr lang="en-US" sz="1500" b="1" dirty="0">
                <a:solidFill>
                  <a:schemeClr val="tx2"/>
                </a:solidFill>
              </a:rPr>
              <a:t>Track changes &amp; comments</a:t>
            </a:r>
            <a:endParaRPr lang="en-US" sz="1500" dirty="0"/>
          </a:p>
        </p:txBody>
      </p:sp>
      <p:sp>
        <p:nvSpPr>
          <p:cNvPr id="16" name="Text 11"/>
          <p:cNvSpPr txBox="1"/>
          <p:nvPr/>
        </p:nvSpPr>
        <p:spPr>
          <a:xfrm>
            <a:off x="8823960" y="3575304"/>
            <a:ext cx="2834640" cy="640080"/>
          </a:xfrm>
          <a:prstGeom prst="rect">
            <a:avLst/>
          </a:prstGeom>
          <a:noFill/>
          <a:ln/>
        </p:spPr>
        <p:txBody>
          <a:bodyPr wrap="square" lIns="0" tIns="0" rIns="0" bIns="0" rtlCol="0" anchor="t"/>
          <a:lstStyle/>
          <a:p>
            <a:pPr indent="0" marL="0">
              <a:buNone/>
            </a:pPr>
            <a:r>
              <a:rPr lang="en-US" sz="1300" dirty="0">
                <a:solidFill>
                  <a:schemeClr val="tx1"/>
                </a:solidFill>
              </a:rPr>
              <a:t>Accept or reject edits; threaded comments and suggestions.</a:t>
            </a:r>
            <a:endParaRPr lang="en-US" sz="1300" dirty="0"/>
          </a:p>
        </p:txBody>
      </p:sp>
      <p:sp>
        <p:nvSpPr>
          <p:cNvPr id="17" name="Shape 12"/>
          <p:cNvSpPr/>
          <p:nvPr/>
        </p:nvSpPr>
        <p:spPr>
          <a:xfrm>
            <a:off x="8229600" y="4261104"/>
            <a:ext cx="457200" cy="457200"/>
          </a:xfrm>
          <a:prstGeom prst="ellipse">
            <a:avLst/>
          </a:prstGeom>
          <a:solidFill>
            <a:srgbClr val="EFEAF8"/>
          </a:solidFill>
          <a:ln w="12700">
            <a:solidFill>
              <a:srgbClr val="EFEAF8"/>
            </a:solidFill>
            <a:prstDash val="solid"/>
          </a:ln>
        </p:spPr>
      </p:sp>
      <p:pic>
        <p:nvPicPr>
          <p:cNvPr id="18" name="Image 3" descr="preencoded.png">    </p:cNvPr>
          <p:cNvPicPr>
            <a:picLocks noChangeAspect="1"/>
          </p:cNvPicPr>
          <p:nvPr/>
        </p:nvPicPr>
        <p:blipFill>
          <a:blip r:embed="rId4"/>
          <a:stretch>
            <a:fillRect/>
          </a:stretch>
        </p:blipFill>
        <p:spPr>
          <a:xfrm>
            <a:off x="8339328" y="4370832"/>
            <a:ext cx="237744" cy="237744"/>
          </a:xfrm>
          <a:prstGeom prst="rect">
            <a:avLst/>
          </a:prstGeom>
        </p:spPr>
      </p:pic>
      <p:sp>
        <p:nvSpPr>
          <p:cNvPr id="19" name="Text 13"/>
          <p:cNvSpPr txBox="1"/>
          <p:nvPr/>
        </p:nvSpPr>
        <p:spPr>
          <a:xfrm>
            <a:off x="8823960" y="4242816"/>
            <a:ext cx="2834640" cy="320040"/>
          </a:xfrm>
          <a:prstGeom prst="rect">
            <a:avLst/>
          </a:prstGeom>
          <a:noFill/>
          <a:ln/>
        </p:spPr>
        <p:txBody>
          <a:bodyPr wrap="square" lIns="0" tIns="0" rIns="0" bIns="0" rtlCol="0" anchor="ctr"/>
          <a:lstStyle/>
          <a:p>
            <a:pPr indent="0" marL="0">
              <a:buNone/>
            </a:pPr>
            <a:r>
              <a:rPr lang="en-US" sz="1500" b="1" dirty="0">
                <a:solidFill>
                  <a:schemeClr val="tx2"/>
                </a:solidFill>
              </a:rPr>
              <a:t>Version history</a:t>
            </a:r>
            <a:endParaRPr lang="en-US" sz="1500" dirty="0"/>
          </a:p>
        </p:txBody>
      </p:sp>
      <p:sp>
        <p:nvSpPr>
          <p:cNvPr id="20" name="Text 14"/>
          <p:cNvSpPr txBox="1"/>
          <p:nvPr/>
        </p:nvSpPr>
        <p:spPr>
          <a:xfrm>
            <a:off x="8823960" y="4562856"/>
            <a:ext cx="2834640" cy="640080"/>
          </a:xfrm>
          <a:prstGeom prst="rect">
            <a:avLst/>
          </a:prstGeom>
          <a:noFill/>
          <a:ln/>
        </p:spPr>
        <p:txBody>
          <a:bodyPr wrap="square" lIns="0" tIns="0" rIns="0" bIns="0" rtlCol="0" anchor="t"/>
          <a:lstStyle/>
          <a:p>
            <a:pPr indent="0" marL="0">
              <a:buNone/>
            </a:pPr>
            <a:r>
              <a:rPr lang="en-US" sz="1300" dirty="0">
                <a:solidFill>
                  <a:schemeClr val="tx1"/>
                </a:solidFill>
              </a:rPr>
              <a:t>Automatic and manual snapshots you can restore.</a:t>
            </a:r>
            <a:endParaRPr lang="en-US" sz="1300" dirty="0"/>
          </a:p>
        </p:txBody>
      </p:sp>
      <p:sp>
        <p:nvSpPr>
          <p:cNvPr id="21" name="Shape 15"/>
          <p:cNvSpPr/>
          <p:nvPr/>
        </p:nvSpPr>
        <p:spPr>
          <a:xfrm>
            <a:off x="8229600" y="5248656"/>
            <a:ext cx="457200" cy="457200"/>
          </a:xfrm>
          <a:prstGeom prst="ellipse">
            <a:avLst/>
          </a:prstGeom>
          <a:solidFill>
            <a:srgbClr val="EFEAF8"/>
          </a:solidFill>
          <a:ln w="12700">
            <a:solidFill>
              <a:srgbClr val="EFEAF8"/>
            </a:solidFill>
            <a:prstDash val="solid"/>
          </a:ln>
        </p:spPr>
      </p:sp>
      <p:pic>
        <p:nvPicPr>
          <p:cNvPr id="22" name="Image 4" descr="preencoded.png">    </p:cNvPr>
          <p:cNvPicPr>
            <a:picLocks noChangeAspect="1"/>
          </p:cNvPicPr>
          <p:nvPr/>
        </p:nvPicPr>
        <p:blipFill>
          <a:blip r:embed="rId5"/>
          <a:stretch>
            <a:fillRect/>
          </a:stretch>
        </p:blipFill>
        <p:spPr>
          <a:xfrm>
            <a:off x="8339328" y="5358384"/>
            <a:ext cx="237744" cy="237744"/>
          </a:xfrm>
          <a:prstGeom prst="rect">
            <a:avLst/>
          </a:prstGeom>
        </p:spPr>
      </p:pic>
      <p:sp>
        <p:nvSpPr>
          <p:cNvPr id="23" name="Text 16"/>
          <p:cNvSpPr txBox="1"/>
          <p:nvPr/>
        </p:nvSpPr>
        <p:spPr>
          <a:xfrm>
            <a:off x="8823960" y="5230368"/>
            <a:ext cx="2834640" cy="320040"/>
          </a:xfrm>
          <a:prstGeom prst="rect">
            <a:avLst/>
          </a:prstGeom>
          <a:noFill/>
          <a:ln/>
        </p:spPr>
        <p:txBody>
          <a:bodyPr wrap="square" lIns="0" tIns="0" rIns="0" bIns="0" rtlCol="0" anchor="ctr"/>
          <a:lstStyle/>
          <a:p>
            <a:pPr indent="0" marL="0">
              <a:buNone/>
            </a:pPr>
            <a:r>
              <a:rPr lang="en-US" sz="1500" b="1" dirty="0">
                <a:solidFill>
                  <a:schemeClr val="tx2"/>
                </a:solidFill>
              </a:rPr>
              <a:t>Integrated citations</a:t>
            </a:r>
            <a:endParaRPr lang="en-US" sz="1500" dirty="0"/>
          </a:p>
        </p:txBody>
      </p:sp>
      <p:sp>
        <p:nvSpPr>
          <p:cNvPr id="24" name="Text 17"/>
          <p:cNvSpPr txBox="1"/>
          <p:nvPr/>
        </p:nvSpPr>
        <p:spPr>
          <a:xfrm>
            <a:off x="8823960" y="5550408"/>
            <a:ext cx="2834640" cy="640080"/>
          </a:xfrm>
          <a:prstGeom prst="rect">
            <a:avLst/>
          </a:prstGeom>
          <a:noFill/>
          <a:ln/>
        </p:spPr>
        <p:txBody>
          <a:bodyPr wrap="square" lIns="0" tIns="0" rIns="0" bIns="0" rtlCol="0" anchor="t"/>
          <a:lstStyle/>
          <a:p>
            <a:pPr indent="0" marL="0">
              <a:buNone/>
            </a:pPr>
            <a:r>
              <a:rPr lang="en-US" sz="1300" dirty="0">
                <a:solidFill>
                  <a:schemeClr val="tx1"/>
                </a:solidFill>
              </a:rPr>
              <a:t>Insert from your library; bibliography builds itself.</a:t>
            </a:r>
            <a:endParaRPr lang="en-US" sz="13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C78"/>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chemeClr val="tx2"/>
                </a:solidFill>
              </a:rPr>
              <a:t>From proposal to funded project, with a clear audit trail</a:t>
            </a:r>
            <a:endParaRPr lang="en-US" sz="3200" dirty="0"/>
          </a:p>
        </p:txBody>
      </p:sp>
      <p:sp>
        <p:nvSpPr>
          <p:cNvPr id="3" name="Research proposals frame"/>
          <p:cNvSpPr/>
          <p:nvPr/>
        </p:nvSpPr>
        <p:spPr>
          <a:xfrm>
            <a:off x="548640" y="1371600"/>
            <a:ext cx="5440680" cy="3438144"/>
          </a:xfrm>
          <a:prstGeom prst="roundRect">
            <a:avLst>
              <a:gd name="adj" fmla="val 2128"/>
            </a:avLst>
          </a:prstGeom>
          <a:solidFill>
            <a:srgbClr val="ECEAF2"/>
          </a:solidFill>
          <a:ln w="9525">
            <a:solidFill>
              <a:srgbClr val="DDD8EC"/>
            </a:solidFill>
            <a:prstDash val="solid"/>
          </a:ln>
          <a:effectLst>
            <a:outerShdw sx="100000" sy="100000" kx="0" ky="0" algn="bl" rotWithShape="0" blurRad="152400" dist="50800" dir="5400000">
              <a:srgbClr val="000000">
                <a:alpha val="18000"/>
              </a:srgbClr>
            </a:outerShdw>
          </a:effectLst>
        </p:spPr>
      </p:sp>
      <p:sp>
        <p:nvSpPr>
          <p:cNvPr id="4" name="Shape 2"/>
          <p:cNvSpPr/>
          <p:nvPr/>
        </p:nvSpPr>
        <p:spPr>
          <a:xfrm>
            <a:off x="676656" y="1444752"/>
            <a:ext cx="91440" cy="91440"/>
          </a:xfrm>
          <a:prstGeom prst="ellipse">
            <a:avLst/>
          </a:prstGeom>
          <a:solidFill>
            <a:srgbClr val="E86B6B"/>
          </a:solidFill>
          <a:ln w="12700">
            <a:solidFill>
              <a:srgbClr val="E86B6B"/>
            </a:solidFill>
            <a:prstDash val="solid"/>
          </a:ln>
        </p:spPr>
      </p:sp>
      <p:sp>
        <p:nvSpPr>
          <p:cNvPr id="5" name="Shape 3"/>
          <p:cNvSpPr/>
          <p:nvPr/>
        </p:nvSpPr>
        <p:spPr>
          <a:xfrm>
            <a:off x="822960" y="1444752"/>
            <a:ext cx="91440" cy="91440"/>
          </a:xfrm>
          <a:prstGeom prst="ellipse">
            <a:avLst/>
          </a:prstGeom>
          <a:solidFill>
            <a:srgbClr val="F2C14E"/>
          </a:solidFill>
          <a:ln w="12700">
            <a:solidFill>
              <a:srgbClr val="F2C14E"/>
            </a:solidFill>
            <a:prstDash val="solid"/>
          </a:ln>
        </p:spPr>
      </p:sp>
      <p:sp>
        <p:nvSpPr>
          <p:cNvPr id="6" name="Shape 4"/>
          <p:cNvSpPr/>
          <p:nvPr/>
        </p:nvSpPr>
        <p:spPr>
          <a:xfrm>
            <a:off x="969264" y="1444752"/>
            <a:ext cx="91440" cy="91440"/>
          </a:xfrm>
          <a:prstGeom prst="ellipse">
            <a:avLst/>
          </a:prstGeom>
          <a:solidFill>
            <a:srgbClr val="5DBB7A"/>
          </a:solidFill>
          <a:ln w="12700">
            <a:solidFill>
              <a:srgbClr val="5DBB7A"/>
            </a:solidFill>
            <a:prstDash val="solid"/>
          </a:ln>
        </p:spPr>
      </p:sp>
      <p:pic>
        <p:nvPicPr>
          <p:cNvPr id="7" name="Research proposals screenshot" descr="/home/claude/deck/img/r_props.png">    </p:cNvPr>
          <p:cNvPicPr>
            <a:picLocks noChangeAspect="1"/>
          </p:cNvPicPr>
          <p:nvPr/>
        </p:nvPicPr>
        <p:blipFill>
          <a:blip r:embed="rId1"/>
          <a:stretch>
            <a:fillRect/>
          </a:stretch>
        </p:blipFill>
        <p:spPr>
          <a:xfrm>
            <a:off x="576072" y="1609344"/>
            <a:ext cx="5385816" cy="3168127"/>
          </a:xfrm>
          <a:prstGeom prst="rect">
            <a:avLst/>
          </a:prstGeom>
        </p:spPr>
      </p:pic>
      <p:sp>
        <p:nvSpPr>
          <p:cNvPr id="8" name="Internal grant requests frame"/>
          <p:cNvSpPr/>
          <p:nvPr/>
        </p:nvSpPr>
        <p:spPr>
          <a:xfrm>
            <a:off x="6217920" y="1371600"/>
            <a:ext cx="5440680" cy="3438144"/>
          </a:xfrm>
          <a:prstGeom prst="roundRect">
            <a:avLst>
              <a:gd name="adj" fmla="val 2128"/>
            </a:avLst>
          </a:prstGeom>
          <a:solidFill>
            <a:srgbClr val="ECEAF2"/>
          </a:solidFill>
          <a:ln w="9525">
            <a:solidFill>
              <a:srgbClr val="DDD8EC"/>
            </a:solidFill>
            <a:prstDash val="solid"/>
          </a:ln>
          <a:effectLst>
            <a:outerShdw sx="100000" sy="100000" kx="0" ky="0" algn="bl" rotWithShape="0" blurRad="152400" dist="50800" dir="5400000">
              <a:srgbClr val="000000">
                <a:alpha val="18000"/>
              </a:srgbClr>
            </a:outerShdw>
          </a:effectLst>
        </p:spPr>
      </p:sp>
      <p:sp>
        <p:nvSpPr>
          <p:cNvPr id="9" name="Shape 6"/>
          <p:cNvSpPr/>
          <p:nvPr/>
        </p:nvSpPr>
        <p:spPr>
          <a:xfrm>
            <a:off x="6345936" y="1444752"/>
            <a:ext cx="91440" cy="91440"/>
          </a:xfrm>
          <a:prstGeom prst="ellipse">
            <a:avLst/>
          </a:prstGeom>
          <a:solidFill>
            <a:srgbClr val="E86B6B"/>
          </a:solidFill>
          <a:ln w="12700">
            <a:solidFill>
              <a:srgbClr val="E86B6B"/>
            </a:solidFill>
            <a:prstDash val="solid"/>
          </a:ln>
        </p:spPr>
      </p:sp>
      <p:sp>
        <p:nvSpPr>
          <p:cNvPr id="10" name="Shape 7"/>
          <p:cNvSpPr/>
          <p:nvPr/>
        </p:nvSpPr>
        <p:spPr>
          <a:xfrm>
            <a:off x="6492240" y="1444752"/>
            <a:ext cx="91440" cy="91440"/>
          </a:xfrm>
          <a:prstGeom prst="ellipse">
            <a:avLst/>
          </a:prstGeom>
          <a:solidFill>
            <a:srgbClr val="F2C14E"/>
          </a:solidFill>
          <a:ln w="12700">
            <a:solidFill>
              <a:srgbClr val="F2C14E"/>
            </a:solidFill>
            <a:prstDash val="solid"/>
          </a:ln>
        </p:spPr>
      </p:sp>
      <p:sp>
        <p:nvSpPr>
          <p:cNvPr id="11" name="Shape 8"/>
          <p:cNvSpPr/>
          <p:nvPr/>
        </p:nvSpPr>
        <p:spPr>
          <a:xfrm>
            <a:off x="6638544" y="1444752"/>
            <a:ext cx="91440" cy="91440"/>
          </a:xfrm>
          <a:prstGeom prst="ellipse">
            <a:avLst/>
          </a:prstGeom>
          <a:solidFill>
            <a:srgbClr val="5DBB7A"/>
          </a:solidFill>
          <a:ln w="12700">
            <a:solidFill>
              <a:srgbClr val="5DBB7A"/>
            </a:solidFill>
            <a:prstDash val="solid"/>
          </a:ln>
        </p:spPr>
      </p:sp>
      <p:pic>
        <p:nvPicPr>
          <p:cNvPr id="12" name="Internal grant requests screenshot" descr="/home/claude/deck/img/f_internal.png">    </p:cNvPr>
          <p:cNvPicPr>
            <a:picLocks noChangeAspect="1"/>
          </p:cNvPicPr>
          <p:nvPr/>
        </p:nvPicPr>
        <p:blipFill>
          <a:blip r:embed="rId2"/>
          <a:stretch>
            <a:fillRect/>
          </a:stretch>
        </p:blipFill>
        <p:spPr>
          <a:xfrm>
            <a:off x="6245352" y="1609344"/>
            <a:ext cx="5385816" cy="3168127"/>
          </a:xfrm>
          <a:prstGeom prst="rect">
            <a:avLst/>
          </a:prstGeom>
        </p:spPr>
      </p:pic>
      <p:sp>
        <p:nvSpPr>
          <p:cNvPr id="13" name="Text 9"/>
          <p:cNvSpPr txBox="1"/>
          <p:nvPr/>
        </p:nvSpPr>
        <p:spPr>
          <a:xfrm>
            <a:off x="548640" y="4937760"/>
            <a:ext cx="5440680" cy="365760"/>
          </a:xfrm>
          <a:prstGeom prst="rect">
            <a:avLst/>
          </a:prstGeom>
          <a:noFill/>
          <a:ln/>
        </p:spPr>
        <p:txBody>
          <a:bodyPr wrap="square" lIns="0" tIns="0" rIns="0" bIns="0" rtlCol="0" anchor="ctr"/>
          <a:lstStyle/>
          <a:p>
            <a:pPr indent="0" marL="0">
              <a:buNone/>
            </a:pPr>
            <a:r>
              <a:rPr lang="en-US" sz="1700" b="1" dirty="0">
                <a:solidFill>
                  <a:srgbClr val="7E5BB5"/>
                </a:solidFill>
              </a:rPr>
              <a:t>For researchers</a:t>
            </a:r>
            <a:endParaRPr lang="en-US" sz="1700" dirty="0"/>
          </a:p>
        </p:txBody>
      </p:sp>
      <p:sp>
        <p:nvSpPr>
          <p:cNvPr id="14" name="Text 10"/>
          <p:cNvSpPr txBox="1"/>
          <p:nvPr/>
        </p:nvSpPr>
        <p:spPr>
          <a:xfrm>
            <a:off x="548640" y="5321808"/>
            <a:ext cx="5440680" cy="868680"/>
          </a:xfrm>
          <a:prstGeom prst="rect">
            <a:avLst/>
          </a:prstGeom>
          <a:noFill/>
          <a:ln/>
        </p:spPr>
        <p:txBody>
          <a:bodyPr wrap="square" lIns="0" tIns="0" rIns="0" bIns="0" rtlCol="0" anchor="t"/>
          <a:lstStyle/>
          <a:p>
            <a:pPr indent="0" marL="0">
              <a:buNone/>
            </a:pPr>
            <a:r>
              <a:rPr lang="en-US" sz="1400" dirty="0">
                <a:solidFill>
                  <a:schemeClr val="tx1"/>
                </a:solidFill>
              </a:rPr>
              <a:t>Structured proposal templates with budgets, milestones, co-investigators, data management plans and linked ethics approvals.</a:t>
            </a:r>
            <a:endParaRPr lang="en-US" sz="1400" dirty="0"/>
          </a:p>
        </p:txBody>
      </p:sp>
      <p:sp>
        <p:nvSpPr>
          <p:cNvPr id="15" name="Text 11"/>
          <p:cNvSpPr txBox="1"/>
          <p:nvPr/>
        </p:nvSpPr>
        <p:spPr>
          <a:xfrm>
            <a:off x="6217920" y="4937760"/>
            <a:ext cx="5440680" cy="365760"/>
          </a:xfrm>
          <a:prstGeom prst="rect">
            <a:avLst/>
          </a:prstGeom>
          <a:noFill/>
          <a:ln/>
        </p:spPr>
        <p:txBody>
          <a:bodyPr wrap="square" lIns="0" tIns="0" rIns="0" bIns="0" rtlCol="0" anchor="ctr"/>
          <a:lstStyle/>
          <a:p>
            <a:pPr indent="0" marL="0">
              <a:buNone/>
            </a:pPr>
            <a:r>
              <a:rPr lang="en-US" sz="1700" b="1" dirty="0">
                <a:solidFill>
                  <a:srgbClr val="7E5BB5"/>
                </a:solidFill>
              </a:rPr>
              <a:t>For research offices &amp; foundations</a:t>
            </a:r>
            <a:endParaRPr lang="en-US" sz="1700" dirty="0"/>
          </a:p>
        </p:txBody>
      </p:sp>
      <p:sp>
        <p:nvSpPr>
          <p:cNvPr id="16" name="Text 12"/>
          <p:cNvSpPr txBox="1"/>
          <p:nvPr/>
        </p:nvSpPr>
        <p:spPr>
          <a:xfrm>
            <a:off x="6217920" y="5321808"/>
            <a:ext cx="5440680" cy="868680"/>
          </a:xfrm>
          <a:prstGeom prst="rect">
            <a:avLst/>
          </a:prstGeom>
          <a:noFill/>
          <a:ln/>
        </p:spPr>
        <p:txBody>
          <a:bodyPr wrap="square" lIns="0" tIns="0" rIns="0" bIns="0" rtlCol="0" anchor="t"/>
          <a:lstStyle/>
          <a:p>
            <a:pPr indent="0" marL="0">
              <a:buNone/>
            </a:pPr>
            <a:r>
              <a:rPr lang="en-US" sz="1400" dirty="0">
                <a:solidFill>
                  <a:schemeClr val="tx1"/>
                </a:solidFill>
              </a:rPr>
              <a:t>Configurable multi-stage review pipelines, internal grant requests, grant tracking from application to award, and donor campaigns.</a:t>
            </a:r>
            <a:endParaRPr lang="en-US" sz="14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C78"/>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chemeClr val="tx2"/>
                </a:solidFill>
              </a:rPr>
              <a:t>Compliance built in: ethics, clinical trials and integrity</a:t>
            </a:r>
            <a:endParaRPr lang="en-US" sz="3200" dirty="0"/>
          </a:p>
        </p:txBody>
      </p:sp>
      <p:sp>
        <p:nvSpPr>
          <p:cNvPr id="3" name="Ethics review frame"/>
          <p:cNvSpPr/>
          <p:nvPr/>
        </p:nvSpPr>
        <p:spPr>
          <a:xfrm>
            <a:off x="548640" y="1371600"/>
            <a:ext cx="5440680" cy="3438144"/>
          </a:xfrm>
          <a:prstGeom prst="roundRect">
            <a:avLst>
              <a:gd name="adj" fmla="val 2128"/>
            </a:avLst>
          </a:prstGeom>
          <a:solidFill>
            <a:srgbClr val="ECEAF2"/>
          </a:solidFill>
          <a:ln w="9525">
            <a:solidFill>
              <a:srgbClr val="DDD8EC"/>
            </a:solidFill>
            <a:prstDash val="solid"/>
          </a:ln>
          <a:effectLst>
            <a:outerShdw sx="100000" sy="100000" kx="0" ky="0" algn="bl" rotWithShape="0" blurRad="152400" dist="50800" dir="5400000">
              <a:srgbClr val="000000">
                <a:alpha val="18000"/>
              </a:srgbClr>
            </a:outerShdw>
          </a:effectLst>
        </p:spPr>
      </p:sp>
      <p:sp>
        <p:nvSpPr>
          <p:cNvPr id="4" name="Shape 2"/>
          <p:cNvSpPr/>
          <p:nvPr/>
        </p:nvSpPr>
        <p:spPr>
          <a:xfrm>
            <a:off x="676656" y="1444752"/>
            <a:ext cx="91440" cy="91440"/>
          </a:xfrm>
          <a:prstGeom prst="ellipse">
            <a:avLst/>
          </a:prstGeom>
          <a:solidFill>
            <a:srgbClr val="E86B6B"/>
          </a:solidFill>
          <a:ln w="12700">
            <a:solidFill>
              <a:srgbClr val="E86B6B"/>
            </a:solidFill>
            <a:prstDash val="solid"/>
          </a:ln>
        </p:spPr>
      </p:sp>
      <p:sp>
        <p:nvSpPr>
          <p:cNvPr id="5" name="Shape 3"/>
          <p:cNvSpPr/>
          <p:nvPr/>
        </p:nvSpPr>
        <p:spPr>
          <a:xfrm>
            <a:off x="822960" y="1444752"/>
            <a:ext cx="91440" cy="91440"/>
          </a:xfrm>
          <a:prstGeom prst="ellipse">
            <a:avLst/>
          </a:prstGeom>
          <a:solidFill>
            <a:srgbClr val="F2C14E"/>
          </a:solidFill>
          <a:ln w="12700">
            <a:solidFill>
              <a:srgbClr val="F2C14E"/>
            </a:solidFill>
            <a:prstDash val="solid"/>
          </a:ln>
        </p:spPr>
      </p:sp>
      <p:sp>
        <p:nvSpPr>
          <p:cNvPr id="6" name="Shape 4"/>
          <p:cNvSpPr/>
          <p:nvPr/>
        </p:nvSpPr>
        <p:spPr>
          <a:xfrm>
            <a:off x="969264" y="1444752"/>
            <a:ext cx="91440" cy="91440"/>
          </a:xfrm>
          <a:prstGeom prst="ellipse">
            <a:avLst/>
          </a:prstGeom>
          <a:solidFill>
            <a:srgbClr val="5DBB7A"/>
          </a:solidFill>
          <a:ln w="12700">
            <a:solidFill>
              <a:srgbClr val="5DBB7A"/>
            </a:solidFill>
            <a:prstDash val="solid"/>
          </a:ln>
        </p:spPr>
      </p:sp>
      <p:pic>
        <p:nvPicPr>
          <p:cNvPr id="7" name="Ethics review screenshot" descr="/home/claude/deck/img/i_ethics.png">    </p:cNvPr>
          <p:cNvPicPr>
            <a:picLocks noChangeAspect="1"/>
          </p:cNvPicPr>
          <p:nvPr/>
        </p:nvPicPr>
        <p:blipFill>
          <a:blip r:embed="rId1"/>
          <a:stretch>
            <a:fillRect/>
          </a:stretch>
        </p:blipFill>
        <p:spPr>
          <a:xfrm>
            <a:off x="576072" y="1609344"/>
            <a:ext cx="5385816" cy="3168127"/>
          </a:xfrm>
          <a:prstGeom prst="rect">
            <a:avLst/>
          </a:prstGeom>
        </p:spPr>
      </p:pic>
      <p:sp>
        <p:nvSpPr>
          <p:cNvPr id="8" name="Trial registry reporting frame"/>
          <p:cNvSpPr/>
          <p:nvPr/>
        </p:nvSpPr>
        <p:spPr>
          <a:xfrm>
            <a:off x="6217920" y="1371600"/>
            <a:ext cx="5440680" cy="3438144"/>
          </a:xfrm>
          <a:prstGeom prst="roundRect">
            <a:avLst>
              <a:gd name="adj" fmla="val 2128"/>
            </a:avLst>
          </a:prstGeom>
          <a:solidFill>
            <a:srgbClr val="ECEAF2"/>
          </a:solidFill>
          <a:ln w="9525">
            <a:solidFill>
              <a:srgbClr val="DDD8EC"/>
            </a:solidFill>
            <a:prstDash val="solid"/>
          </a:ln>
          <a:effectLst>
            <a:outerShdw sx="100000" sy="100000" kx="0" ky="0" algn="bl" rotWithShape="0" blurRad="152400" dist="50800" dir="5400000">
              <a:srgbClr val="000000">
                <a:alpha val="18000"/>
              </a:srgbClr>
            </a:outerShdw>
          </a:effectLst>
        </p:spPr>
      </p:sp>
      <p:sp>
        <p:nvSpPr>
          <p:cNvPr id="9" name="Shape 6"/>
          <p:cNvSpPr/>
          <p:nvPr/>
        </p:nvSpPr>
        <p:spPr>
          <a:xfrm>
            <a:off x="6345936" y="1444752"/>
            <a:ext cx="91440" cy="91440"/>
          </a:xfrm>
          <a:prstGeom prst="ellipse">
            <a:avLst/>
          </a:prstGeom>
          <a:solidFill>
            <a:srgbClr val="E86B6B"/>
          </a:solidFill>
          <a:ln w="12700">
            <a:solidFill>
              <a:srgbClr val="E86B6B"/>
            </a:solidFill>
            <a:prstDash val="solid"/>
          </a:ln>
        </p:spPr>
      </p:sp>
      <p:sp>
        <p:nvSpPr>
          <p:cNvPr id="10" name="Shape 7"/>
          <p:cNvSpPr/>
          <p:nvPr/>
        </p:nvSpPr>
        <p:spPr>
          <a:xfrm>
            <a:off x="6492240" y="1444752"/>
            <a:ext cx="91440" cy="91440"/>
          </a:xfrm>
          <a:prstGeom prst="ellipse">
            <a:avLst/>
          </a:prstGeom>
          <a:solidFill>
            <a:srgbClr val="F2C14E"/>
          </a:solidFill>
          <a:ln w="12700">
            <a:solidFill>
              <a:srgbClr val="F2C14E"/>
            </a:solidFill>
            <a:prstDash val="solid"/>
          </a:ln>
        </p:spPr>
      </p:sp>
      <p:sp>
        <p:nvSpPr>
          <p:cNvPr id="11" name="Shape 8"/>
          <p:cNvSpPr/>
          <p:nvPr/>
        </p:nvSpPr>
        <p:spPr>
          <a:xfrm>
            <a:off x="6638544" y="1444752"/>
            <a:ext cx="91440" cy="91440"/>
          </a:xfrm>
          <a:prstGeom prst="ellipse">
            <a:avLst/>
          </a:prstGeom>
          <a:solidFill>
            <a:srgbClr val="5DBB7A"/>
          </a:solidFill>
          <a:ln w="12700">
            <a:solidFill>
              <a:srgbClr val="5DBB7A"/>
            </a:solidFill>
            <a:prstDash val="solid"/>
          </a:ln>
        </p:spPr>
      </p:sp>
      <p:pic>
        <p:nvPicPr>
          <p:cNvPr id="12" name="Trial registry reporting screenshot" descr="/home/claude/deck/img/r_ct.png">    </p:cNvPr>
          <p:cNvPicPr>
            <a:picLocks noChangeAspect="1"/>
          </p:cNvPicPr>
          <p:nvPr/>
        </p:nvPicPr>
        <p:blipFill>
          <a:blip r:embed="rId2"/>
          <a:stretch>
            <a:fillRect/>
          </a:stretch>
        </p:blipFill>
        <p:spPr>
          <a:xfrm>
            <a:off x="6245352" y="1609344"/>
            <a:ext cx="5385816" cy="3168127"/>
          </a:xfrm>
          <a:prstGeom prst="rect">
            <a:avLst/>
          </a:prstGeom>
        </p:spPr>
      </p:pic>
      <p:sp>
        <p:nvSpPr>
          <p:cNvPr id="13" name="Shape 9"/>
          <p:cNvSpPr/>
          <p:nvPr/>
        </p:nvSpPr>
        <p:spPr>
          <a:xfrm>
            <a:off x="548640" y="4983480"/>
            <a:ext cx="502920" cy="502920"/>
          </a:xfrm>
          <a:prstGeom prst="ellipse">
            <a:avLst/>
          </a:prstGeom>
          <a:solidFill>
            <a:srgbClr val="EFEAF8"/>
          </a:solidFill>
          <a:ln w="12700">
            <a:solidFill>
              <a:srgbClr val="EFEAF8"/>
            </a:solidFill>
            <a:prstDash val="solid"/>
          </a:ln>
        </p:spPr>
      </p:sp>
      <p:pic>
        <p:nvPicPr>
          <p:cNvPr id="14" name="Image 2" descr="preencoded.png">    </p:cNvPr>
          <p:cNvPicPr>
            <a:picLocks noChangeAspect="1"/>
          </p:cNvPicPr>
          <p:nvPr/>
        </p:nvPicPr>
        <p:blipFill>
          <a:blip r:embed="rId3"/>
          <a:stretch>
            <a:fillRect/>
          </a:stretch>
        </p:blipFill>
        <p:spPr>
          <a:xfrm>
            <a:off x="669341" y="5104181"/>
            <a:ext cx="261518" cy="261518"/>
          </a:xfrm>
          <a:prstGeom prst="rect">
            <a:avLst/>
          </a:prstGeom>
        </p:spPr>
      </p:pic>
      <p:sp>
        <p:nvSpPr>
          <p:cNvPr id="15" name="Text 10"/>
          <p:cNvSpPr txBox="1"/>
          <p:nvPr/>
        </p:nvSpPr>
        <p:spPr>
          <a:xfrm>
            <a:off x="1188720" y="4965192"/>
            <a:ext cx="3017520" cy="320040"/>
          </a:xfrm>
          <a:prstGeom prst="rect">
            <a:avLst/>
          </a:prstGeom>
          <a:noFill/>
          <a:ln/>
        </p:spPr>
        <p:txBody>
          <a:bodyPr wrap="square" lIns="0" tIns="0" rIns="0" bIns="0" rtlCol="0" anchor="ctr"/>
          <a:lstStyle/>
          <a:p>
            <a:pPr indent="0" marL="0">
              <a:buNone/>
            </a:pPr>
            <a:r>
              <a:rPr lang="en-US" sz="1500" b="1" dirty="0">
                <a:solidFill>
                  <a:schemeClr val="tx2"/>
                </a:solidFill>
              </a:rPr>
              <a:t>Ethics applications &amp; review</a:t>
            </a:r>
            <a:endParaRPr lang="en-US" sz="1500" dirty="0"/>
          </a:p>
        </p:txBody>
      </p:sp>
      <p:sp>
        <p:nvSpPr>
          <p:cNvPr id="16" name="Text 11"/>
          <p:cNvSpPr txBox="1"/>
          <p:nvPr/>
        </p:nvSpPr>
        <p:spPr>
          <a:xfrm>
            <a:off x="1188720" y="5303520"/>
            <a:ext cx="3017520" cy="822960"/>
          </a:xfrm>
          <a:prstGeom prst="rect">
            <a:avLst/>
          </a:prstGeom>
          <a:noFill/>
          <a:ln/>
        </p:spPr>
        <p:txBody>
          <a:bodyPr wrap="square" lIns="0" tIns="0" rIns="0" bIns="0" rtlCol="0" anchor="t"/>
          <a:lstStyle/>
          <a:p>
            <a:pPr indent="0" marL="0">
              <a:buNone/>
            </a:pPr>
            <a:r>
              <a:rPr lang="en-US" sz="1300" dirty="0">
                <a:solidFill>
                  <a:schemeClr val="tx1"/>
                </a:solidFill>
              </a:rPr>
              <a:t>Online submission, committee review, conditions and expiry tracking.</a:t>
            </a:r>
            <a:endParaRPr lang="en-US" sz="1300" dirty="0"/>
          </a:p>
        </p:txBody>
      </p:sp>
      <p:sp>
        <p:nvSpPr>
          <p:cNvPr id="17" name="Shape 12"/>
          <p:cNvSpPr/>
          <p:nvPr/>
        </p:nvSpPr>
        <p:spPr>
          <a:xfrm>
            <a:off x="4297680" y="4983480"/>
            <a:ext cx="502920" cy="502920"/>
          </a:xfrm>
          <a:prstGeom prst="ellipse">
            <a:avLst/>
          </a:prstGeom>
          <a:solidFill>
            <a:srgbClr val="EFEAF8"/>
          </a:solidFill>
          <a:ln w="12700">
            <a:solidFill>
              <a:srgbClr val="EFEAF8"/>
            </a:solidFill>
            <a:prstDash val="solid"/>
          </a:ln>
        </p:spPr>
      </p:sp>
      <p:pic>
        <p:nvPicPr>
          <p:cNvPr id="18" name="Image 3" descr="preencoded.png">    </p:cNvPr>
          <p:cNvPicPr>
            <a:picLocks noChangeAspect="1"/>
          </p:cNvPicPr>
          <p:nvPr/>
        </p:nvPicPr>
        <p:blipFill>
          <a:blip r:embed="rId4"/>
          <a:stretch>
            <a:fillRect/>
          </a:stretch>
        </p:blipFill>
        <p:spPr>
          <a:xfrm>
            <a:off x="4418381" y="5104181"/>
            <a:ext cx="261518" cy="261518"/>
          </a:xfrm>
          <a:prstGeom prst="rect">
            <a:avLst/>
          </a:prstGeom>
        </p:spPr>
      </p:pic>
      <p:sp>
        <p:nvSpPr>
          <p:cNvPr id="19" name="Text 13"/>
          <p:cNvSpPr txBox="1"/>
          <p:nvPr/>
        </p:nvSpPr>
        <p:spPr>
          <a:xfrm>
            <a:off x="4937760" y="4965192"/>
            <a:ext cx="3017520" cy="320040"/>
          </a:xfrm>
          <a:prstGeom prst="rect">
            <a:avLst/>
          </a:prstGeom>
          <a:noFill/>
          <a:ln/>
        </p:spPr>
        <p:txBody>
          <a:bodyPr wrap="square" lIns="0" tIns="0" rIns="0" bIns="0" rtlCol="0" anchor="ctr"/>
          <a:lstStyle/>
          <a:p>
            <a:pPr indent="0" marL="0">
              <a:buNone/>
            </a:pPr>
            <a:r>
              <a:rPr lang="en-US" sz="1500" b="1" dirty="0">
                <a:solidFill>
                  <a:schemeClr val="tx2"/>
                </a:solidFill>
              </a:rPr>
              <a:t>Registry-ready trials</a:t>
            </a:r>
            <a:endParaRPr lang="en-US" sz="1500" dirty="0"/>
          </a:p>
        </p:txBody>
      </p:sp>
      <p:sp>
        <p:nvSpPr>
          <p:cNvPr id="20" name="Text 14"/>
          <p:cNvSpPr txBox="1"/>
          <p:nvPr/>
        </p:nvSpPr>
        <p:spPr>
          <a:xfrm>
            <a:off x="4937760" y="5303520"/>
            <a:ext cx="3017520" cy="822960"/>
          </a:xfrm>
          <a:prstGeom prst="rect">
            <a:avLst/>
          </a:prstGeom>
          <a:noFill/>
          <a:ln/>
        </p:spPr>
        <p:txBody>
          <a:bodyPr wrap="square" lIns="0" tIns="0" rIns="0" bIns="0" rtlCol="0" anchor="t"/>
          <a:lstStyle/>
          <a:p>
            <a:pPr indent="0" marL="0">
              <a:buNone/>
            </a:pPr>
            <a:r>
              <a:rPr lang="en-US" sz="1300" dirty="0">
                <a:solidFill>
                  <a:schemeClr val="tx1"/>
                </a:solidFill>
              </a:rPr>
              <a:t>Export for ClinicalTrials.gov, PACTR and WHO ICTRP; recruitment and safety logs.</a:t>
            </a:r>
            <a:endParaRPr lang="en-US" sz="1300" dirty="0"/>
          </a:p>
        </p:txBody>
      </p:sp>
      <p:sp>
        <p:nvSpPr>
          <p:cNvPr id="21" name="Shape 15"/>
          <p:cNvSpPr/>
          <p:nvPr/>
        </p:nvSpPr>
        <p:spPr>
          <a:xfrm>
            <a:off x="8046720" y="4983480"/>
            <a:ext cx="502920" cy="502920"/>
          </a:xfrm>
          <a:prstGeom prst="ellipse">
            <a:avLst/>
          </a:prstGeom>
          <a:solidFill>
            <a:srgbClr val="EFEAF8"/>
          </a:solidFill>
          <a:ln w="12700">
            <a:solidFill>
              <a:srgbClr val="EFEAF8"/>
            </a:solidFill>
            <a:prstDash val="solid"/>
          </a:ln>
        </p:spPr>
      </p:sp>
      <p:pic>
        <p:nvPicPr>
          <p:cNvPr id="22" name="Image 4" descr="preencoded.png">    </p:cNvPr>
          <p:cNvPicPr>
            <a:picLocks noChangeAspect="1"/>
          </p:cNvPicPr>
          <p:nvPr/>
        </p:nvPicPr>
        <p:blipFill>
          <a:blip r:embed="rId5"/>
          <a:stretch>
            <a:fillRect/>
          </a:stretch>
        </p:blipFill>
        <p:spPr>
          <a:xfrm>
            <a:off x="8167421" y="5104181"/>
            <a:ext cx="261518" cy="261518"/>
          </a:xfrm>
          <a:prstGeom prst="rect">
            <a:avLst/>
          </a:prstGeom>
        </p:spPr>
      </p:pic>
      <p:sp>
        <p:nvSpPr>
          <p:cNvPr id="23" name="Text 16"/>
          <p:cNvSpPr txBox="1"/>
          <p:nvPr/>
        </p:nvSpPr>
        <p:spPr>
          <a:xfrm>
            <a:off x="8686800" y="4965192"/>
            <a:ext cx="3017520" cy="320040"/>
          </a:xfrm>
          <a:prstGeom prst="rect">
            <a:avLst/>
          </a:prstGeom>
          <a:noFill/>
          <a:ln/>
        </p:spPr>
        <p:txBody>
          <a:bodyPr wrap="square" lIns="0" tIns="0" rIns="0" bIns="0" rtlCol="0" anchor="ctr"/>
          <a:lstStyle/>
          <a:p>
            <a:pPr indent="0" marL="0">
              <a:buNone/>
            </a:pPr>
            <a:r>
              <a:rPr lang="en-US" sz="1500" b="1" dirty="0">
                <a:solidFill>
                  <a:schemeClr val="tx2"/>
                </a:solidFill>
              </a:rPr>
              <a:t>Image integrity screening</a:t>
            </a:r>
            <a:endParaRPr lang="en-US" sz="1500" dirty="0"/>
          </a:p>
        </p:txBody>
      </p:sp>
      <p:sp>
        <p:nvSpPr>
          <p:cNvPr id="24" name="Text 17"/>
          <p:cNvSpPr txBox="1"/>
          <p:nvPr/>
        </p:nvSpPr>
        <p:spPr>
          <a:xfrm>
            <a:off x="8686800" y="5303520"/>
            <a:ext cx="3017520" cy="822960"/>
          </a:xfrm>
          <a:prstGeom prst="rect">
            <a:avLst/>
          </a:prstGeom>
          <a:noFill/>
          <a:ln/>
        </p:spPr>
        <p:txBody>
          <a:bodyPr wrap="square" lIns="0" tIns="0" rIns="0" bIns="0" rtlCol="0" anchor="t"/>
          <a:lstStyle/>
          <a:p>
            <a:pPr indent="0" marL="0">
              <a:buNone/>
            </a:pPr>
            <a:r>
              <a:rPr lang="en-US" sz="1300" dirty="0">
                <a:solidFill>
                  <a:schemeClr val="tx1"/>
                </a:solidFill>
              </a:rPr>
              <a:t>Check manuscript images for duplication or manipulation before submission.</a:t>
            </a:r>
            <a:endParaRPr lang="en-US" sz="13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C78"/>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200" b="1" spc="200" kern="0" dirty="0">
                <a:solidFill>
                  <a:srgbClr val="9FD8EA"/>
                </a:solidFill>
              </a:rPr>
              <a:t>AI INTEGRATION</a:t>
            </a:r>
            <a:endParaRPr lang="en-US" sz="1200" dirty="0"/>
          </a:p>
        </p:txBody>
      </p:sp>
      <p:sp>
        <p:nvSpPr>
          <p:cNvPr id="3" name="Text 1"/>
          <p:cNvSpPr txBox="1"/>
          <p:nvPr/>
        </p:nvSpPr>
        <p:spPr>
          <a:xfrm>
            <a:off x="548640" y="914400"/>
            <a:ext cx="10972800" cy="82296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AI built into the research workflow, not bolted on</a:t>
            </a:r>
            <a:endParaRPr lang="en-US" sz="3200" dirty="0"/>
          </a:p>
        </p:txBody>
      </p:sp>
      <p:sp>
        <p:nvSpPr>
          <p:cNvPr id="4" name="Text 2"/>
          <p:cNvSpPr txBox="1"/>
          <p:nvPr/>
        </p:nvSpPr>
        <p:spPr>
          <a:xfrm>
            <a:off x="548640" y="1691640"/>
            <a:ext cx="10972800" cy="411480"/>
          </a:xfrm>
          <a:prstGeom prst="rect">
            <a:avLst/>
          </a:prstGeom>
          <a:noFill/>
          <a:ln/>
        </p:spPr>
        <p:txBody>
          <a:bodyPr wrap="square" lIns="0" tIns="0" rIns="0" bIns="0" rtlCol="0" anchor="ctr"/>
          <a:lstStyle/>
          <a:p>
            <a:pPr indent="0" marL="0">
              <a:buNone/>
            </a:pPr>
            <a:r>
              <a:rPr lang="en-US" sz="1600" dirty="0">
                <a:solidFill>
                  <a:srgbClr val="D6D2EA"/>
                </a:solidFill>
              </a:rPr>
              <a:t>Six AI and automation capabilities already live in HospitiumRIS, working on your own research record.</a:t>
            </a:r>
            <a:endParaRPr lang="en-US" sz="1600" dirty="0"/>
          </a:p>
        </p:txBody>
      </p:sp>
      <p:sp>
        <p:nvSpPr>
          <p:cNvPr id="5" name="AI capability 1"/>
          <p:cNvSpPr/>
          <p:nvPr/>
        </p:nvSpPr>
        <p:spPr>
          <a:xfrm>
            <a:off x="548640" y="2377440"/>
            <a:ext cx="3566160" cy="1828800"/>
          </a:xfrm>
          <a:prstGeom prst="roundRect">
            <a:avLst>
              <a:gd name="adj" fmla="val 5000"/>
            </a:avLst>
          </a:prstGeom>
          <a:solidFill>
            <a:srgbClr val="2A2852"/>
          </a:solidFill>
          <a:ln w="9525">
            <a:solidFill>
              <a:srgbClr val="3A3768"/>
            </a:solidFill>
            <a:prstDash val="solid"/>
          </a:ln>
        </p:spPr>
      </p:sp>
      <p:sp>
        <p:nvSpPr>
          <p:cNvPr id="6" name="Shape 4"/>
          <p:cNvSpPr/>
          <p:nvPr/>
        </p:nvSpPr>
        <p:spPr>
          <a:xfrm>
            <a:off x="777240" y="2606040"/>
            <a:ext cx="548640" cy="548640"/>
          </a:xfrm>
          <a:prstGeom prst="ellipse">
            <a:avLst/>
          </a:prstGeom>
          <a:solidFill>
            <a:srgbClr val="7E5BB5"/>
          </a:solidFill>
          <a:ln w="12700">
            <a:solidFill>
              <a:srgbClr val="7E5BB5"/>
            </a:solidFill>
            <a:prstDash val="solid"/>
          </a:ln>
        </p:spPr>
      </p:sp>
      <p:pic>
        <p:nvPicPr>
          <p:cNvPr id="7" name="Image 0" descr="preencoded.png">    </p:cNvPr>
          <p:cNvPicPr>
            <a:picLocks noChangeAspect="1"/>
          </p:cNvPicPr>
          <p:nvPr/>
        </p:nvPicPr>
        <p:blipFill>
          <a:blip r:embed="rId1"/>
          <a:stretch>
            <a:fillRect/>
          </a:stretch>
        </p:blipFill>
        <p:spPr>
          <a:xfrm>
            <a:off x="908914" y="2737714"/>
            <a:ext cx="285293" cy="285293"/>
          </a:xfrm>
          <a:prstGeom prst="rect">
            <a:avLst/>
          </a:prstGeom>
        </p:spPr>
      </p:pic>
      <p:sp>
        <p:nvSpPr>
          <p:cNvPr id="8" name="Text 5"/>
          <p:cNvSpPr txBox="1"/>
          <p:nvPr/>
        </p:nvSpPr>
        <p:spPr>
          <a:xfrm>
            <a:off x="1463040" y="2651760"/>
            <a:ext cx="2514600" cy="457200"/>
          </a:xfrm>
          <a:prstGeom prst="rect">
            <a:avLst/>
          </a:prstGeom>
          <a:noFill/>
          <a:ln/>
        </p:spPr>
        <p:txBody>
          <a:bodyPr wrap="square" lIns="0" tIns="0" rIns="0" bIns="0" rtlCol="0" anchor="ctr"/>
          <a:lstStyle/>
          <a:p>
            <a:pPr indent="0" marL="0">
              <a:buNone/>
            </a:pPr>
            <a:r>
              <a:rPr lang="en-US" sz="1600" b="1" dirty="0">
                <a:solidFill>
                  <a:srgbClr val="FFFFFF"/>
                </a:solidFill>
              </a:rPr>
              <a:t>Publication summaries</a:t>
            </a:r>
            <a:endParaRPr lang="en-US" sz="1600" dirty="0"/>
          </a:p>
        </p:txBody>
      </p:sp>
      <p:sp>
        <p:nvSpPr>
          <p:cNvPr id="9" name="Text 6"/>
          <p:cNvSpPr txBox="1"/>
          <p:nvPr/>
        </p:nvSpPr>
        <p:spPr>
          <a:xfrm>
            <a:off x="777240" y="3273552"/>
            <a:ext cx="3154680" cy="868680"/>
          </a:xfrm>
          <a:prstGeom prst="rect">
            <a:avLst/>
          </a:prstGeom>
          <a:noFill/>
          <a:ln/>
        </p:spPr>
        <p:txBody>
          <a:bodyPr wrap="square" lIns="0" tIns="0" rIns="0" bIns="0" rtlCol="0" anchor="t"/>
          <a:lstStyle/>
          <a:p>
            <a:pPr indent="0" marL="0">
              <a:buNone/>
            </a:pPr>
            <a:r>
              <a:rPr lang="en-US" sz="1250" dirty="0">
                <a:solidFill>
                  <a:srgbClr val="E4E1F3"/>
                </a:solidFill>
              </a:rPr>
              <a:t>Structured AI summaries of any paper: overview, key findings and significance, plus extracted keywords. Works in batches.</a:t>
            </a:r>
            <a:endParaRPr lang="en-US" sz="1250" dirty="0"/>
          </a:p>
        </p:txBody>
      </p:sp>
      <p:sp>
        <p:nvSpPr>
          <p:cNvPr id="10" name="AI capability 2"/>
          <p:cNvSpPr/>
          <p:nvPr/>
        </p:nvSpPr>
        <p:spPr>
          <a:xfrm>
            <a:off x="4297680" y="2377440"/>
            <a:ext cx="3566160" cy="1828800"/>
          </a:xfrm>
          <a:prstGeom prst="roundRect">
            <a:avLst>
              <a:gd name="adj" fmla="val 5000"/>
            </a:avLst>
          </a:prstGeom>
          <a:solidFill>
            <a:srgbClr val="2A2852"/>
          </a:solidFill>
          <a:ln w="9525">
            <a:solidFill>
              <a:srgbClr val="3A3768"/>
            </a:solidFill>
            <a:prstDash val="solid"/>
          </a:ln>
        </p:spPr>
      </p:sp>
      <p:sp>
        <p:nvSpPr>
          <p:cNvPr id="11" name="Shape 8"/>
          <p:cNvSpPr/>
          <p:nvPr/>
        </p:nvSpPr>
        <p:spPr>
          <a:xfrm>
            <a:off x="4526280" y="2606040"/>
            <a:ext cx="548640" cy="548640"/>
          </a:xfrm>
          <a:prstGeom prst="ellipse">
            <a:avLst/>
          </a:prstGeom>
          <a:solidFill>
            <a:srgbClr val="2A9DC0"/>
          </a:solidFill>
          <a:ln w="12700">
            <a:solidFill>
              <a:srgbClr val="2A9DC0"/>
            </a:solidFill>
            <a:prstDash val="solid"/>
          </a:ln>
        </p:spPr>
      </p:sp>
      <p:pic>
        <p:nvPicPr>
          <p:cNvPr id="12" name="Image 1" descr="preencoded.png">    </p:cNvPr>
          <p:cNvPicPr>
            <a:picLocks noChangeAspect="1"/>
          </p:cNvPicPr>
          <p:nvPr/>
        </p:nvPicPr>
        <p:blipFill>
          <a:blip r:embed="rId2"/>
          <a:stretch>
            <a:fillRect/>
          </a:stretch>
        </p:blipFill>
        <p:spPr>
          <a:xfrm>
            <a:off x="4657954" y="2737714"/>
            <a:ext cx="285293" cy="285293"/>
          </a:xfrm>
          <a:prstGeom prst="rect">
            <a:avLst/>
          </a:prstGeom>
        </p:spPr>
      </p:pic>
      <p:sp>
        <p:nvSpPr>
          <p:cNvPr id="13" name="Text 9"/>
          <p:cNvSpPr txBox="1"/>
          <p:nvPr/>
        </p:nvSpPr>
        <p:spPr>
          <a:xfrm>
            <a:off x="5212080" y="2651760"/>
            <a:ext cx="2514600" cy="457200"/>
          </a:xfrm>
          <a:prstGeom prst="rect">
            <a:avLst/>
          </a:prstGeom>
          <a:noFill/>
          <a:ln/>
        </p:spPr>
        <p:txBody>
          <a:bodyPr wrap="square" lIns="0" tIns="0" rIns="0" bIns="0" rtlCol="0" anchor="ctr"/>
          <a:lstStyle/>
          <a:p>
            <a:pPr indent="0" marL="0">
              <a:buNone/>
            </a:pPr>
            <a:r>
              <a:rPr lang="en-US" sz="1600" b="1" dirty="0">
                <a:solidFill>
                  <a:srgbClr val="FFFFFF"/>
                </a:solidFill>
              </a:rPr>
              <a:t>Impact insights</a:t>
            </a:r>
            <a:endParaRPr lang="en-US" sz="1600" dirty="0"/>
          </a:p>
        </p:txBody>
      </p:sp>
      <p:sp>
        <p:nvSpPr>
          <p:cNvPr id="14" name="Text 10"/>
          <p:cNvSpPr txBox="1"/>
          <p:nvPr/>
        </p:nvSpPr>
        <p:spPr>
          <a:xfrm>
            <a:off x="4526280" y="3273552"/>
            <a:ext cx="3154680" cy="868680"/>
          </a:xfrm>
          <a:prstGeom prst="rect">
            <a:avLst/>
          </a:prstGeom>
          <a:noFill/>
          <a:ln/>
        </p:spPr>
        <p:txBody>
          <a:bodyPr wrap="square" lIns="0" tIns="0" rIns="0" bIns="0" rtlCol="0" anchor="t"/>
          <a:lstStyle/>
          <a:p>
            <a:pPr indent="0" marL="0">
              <a:buNone/>
            </a:pPr>
            <a:r>
              <a:rPr lang="en-US" sz="1250" dirty="0">
                <a:solidFill>
                  <a:srgbClr val="E4E1F3"/>
                </a:solidFill>
              </a:rPr>
              <a:t>Narrative explanation of citation and output trends, growth recommendations and a standout-publication callout.</a:t>
            </a:r>
            <a:endParaRPr lang="en-US" sz="1250" dirty="0"/>
          </a:p>
        </p:txBody>
      </p:sp>
      <p:sp>
        <p:nvSpPr>
          <p:cNvPr id="15" name="AI capability 3"/>
          <p:cNvSpPr/>
          <p:nvPr/>
        </p:nvSpPr>
        <p:spPr>
          <a:xfrm>
            <a:off x="8046720" y="2377440"/>
            <a:ext cx="3566160" cy="1828800"/>
          </a:xfrm>
          <a:prstGeom prst="roundRect">
            <a:avLst>
              <a:gd name="adj" fmla="val 5000"/>
            </a:avLst>
          </a:prstGeom>
          <a:solidFill>
            <a:srgbClr val="2A2852"/>
          </a:solidFill>
          <a:ln w="9525">
            <a:solidFill>
              <a:srgbClr val="3A3768"/>
            </a:solidFill>
            <a:prstDash val="solid"/>
          </a:ln>
        </p:spPr>
      </p:sp>
      <p:sp>
        <p:nvSpPr>
          <p:cNvPr id="16" name="Shape 12"/>
          <p:cNvSpPr/>
          <p:nvPr/>
        </p:nvSpPr>
        <p:spPr>
          <a:xfrm>
            <a:off x="8275320" y="2606040"/>
            <a:ext cx="548640" cy="548640"/>
          </a:xfrm>
          <a:prstGeom prst="ellipse">
            <a:avLst/>
          </a:prstGeom>
          <a:solidFill>
            <a:srgbClr val="7E5BB5"/>
          </a:solidFill>
          <a:ln w="12700">
            <a:solidFill>
              <a:srgbClr val="7E5BB5"/>
            </a:solidFill>
            <a:prstDash val="solid"/>
          </a:ln>
        </p:spPr>
      </p:sp>
      <p:pic>
        <p:nvPicPr>
          <p:cNvPr id="17" name="Image 2" descr="preencoded.png">    </p:cNvPr>
          <p:cNvPicPr>
            <a:picLocks noChangeAspect="1"/>
          </p:cNvPicPr>
          <p:nvPr/>
        </p:nvPicPr>
        <p:blipFill>
          <a:blip r:embed="rId3"/>
          <a:stretch>
            <a:fillRect/>
          </a:stretch>
        </p:blipFill>
        <p:spPr>
          <a:xfrm>
            <a:off x="8406994" y="2737714"/>
            <a:ext cx="285293" cy="285293"/>
          </a:xfrm>
          <a:prstGeom prst="rect">
            <a:avLst/>
          </a:prstGeom>
        </p:spPr>
      </p:pic>
      <p:sp>
        <p:nvSpPr>
          <p:cNvPr id="18" name="Text 13"/>
          <p:cNvSpPr txBox="1"/>
          <p:nvPr/>
        </p:nvSpPr>
        <p:spPr>
          <a:xfrm>
            <a:off x="8961120" y="2651760"/>
            <a:ext cx="2514600" cy="457200"/>
          </a:xfrm>
          <a:prstGeom prst="rect">
            <a:avLst/>
          </a:prstGeom>
          <a:noFill/>
          <a:ln/>
        </p:spPr>
        <p:txBody>
          <a:bodyPr wrap="square" lIns="0" tIns="0" rIns="0" bIns="0" rtlCol="0" anchor="ctr"/>
          <a:lstStyle/>
          <a:p>
            <a:pPr indent="0" marL="0">
              <a:buNone/>
            </a:pPr>
            <a:r>
              <a:rPr lang="en-US" sz="1600" b="1" dirty="0">
                <a:solidFill>
                  <a:srgbClr val="FFFFFF"/>
                </a:solidFill>
              </a:rPr>
              <a:t>Compliance insights</a:t>
            </a:r>
            <a:endParaRPr lang="en-US" sz="1600" dirty="0"/>
          </a:p>
        </p:txBody>
      </p:sp>
      <p:sp>
        <p:nvSpPr>
          <p:cNvPr id="19" name="Text 14"/>
          <p:cNvSpPr txBox="1"/>
          <p:nvPr/>
        </p:nvSpPr>
        <p:spPr>
          <a:xfrm>
            <a:off x="8275320" y="3273552"/>
            <a:ext cx="3154680" cy="868680"/>
          </a:xfrm>
          <a:prstGeom prst="rect">
            <a:avLst/>
          </a:prstGeom>
          <a:noFill/>
          <a:ln/>
        </p:spPr>
        <p:txBody>
          <a:bodyPr wrap="square" lIns="0" tIns="0" rIns="0" bIns="0" rtlCol="0" anchor="t"/>
          <a:lstStyle/>
          <a:p>
            <a:pPr indent="0" marL="0">
              <a:buNone/>
            </a:pPr>
            <a:r>
              <a:rPr lang="en-US" sz="1250" dirty="0">
                <a:solidFill>
                  <a:srgbClr val="E4E1F3"/>
                </a:solidFill>
              </a:rPr>
              <a:t>Flags expiring ethics approvals, overdue training and image-integrity findings, with a priority to act on.</a:t>
            </a:r>
            <a:endParaRPr lang="en-US" sz="1250" dirty="0"/>
          </a:p>
        </p:txBody>
      </p:sp>
      <p:sp>
        <p:nvSpPr>
          <p:cNvPr id="20" name="AI capability 4"/>
          <p:cNvSpPr/>
          <p:nvPr/>
        </p:nvSpPr>
        <p:spPr>
          <a:xfrm>
            <a:off x="548640" y="4389120"/>
            <a:ext cx="3566160" cy="1828800"/>
          </a:xfrm>
          <a:prstGeom prst="roundRect">
            <a:avLst>
              <a:gd name="adj" fmla="val 5000"/>
            </a:avLst>
          </a:prstGeom>
          <a:solidFill>
            <a:srgbClr val="2A2852"/>
          </a:solidFill>
          <a:ln w="9525">
            <a:solidFill>
              <a:srgbClr val="3A3768"/>
            </a:solidFill>
            <a:prstDash val="solid"/>
          </a:ln>
        </p:spPr>
      </p:sp>
      <p:sp>
        <p:nvSpPr>
          <p:cNvPr id="21" name="Shape 16"/>
          <p:cNvSpPr/>
          <p:nvPr/>
        </p:nvSpPr>
        <p:spPr>
          <a:xfrm>
            <a:off x="777240" y="4617720"/>
            <a:ext cx="548640" cy="548640"/>
          </a:xfrm>
          <a:prstGeom prst="ellipse">
            <a:avLst/>
          </a:prstGeom>
          <a:solidFill>
            <a:srgbClr val="2A9DC0"/>
          </a:solidFill>
          <a:ln w="12700">
            <a:solidFill>
              <a:srgbClr val="2A9DC0"/>
            </a:solidFill>
            <a:prstDash val="solid"/>
          </a:ln>
        </p:spPr>
      </p:sp>
      <p:pic>
        <p:nvPicPr>
          <p:cNvPr id="22" name="Image 3" descr="preencoded.png">    </p:cNvPr>
          <p:cNvPicPr>
            <a:picLocks noChangeAspect="1"/>
          </p:cNvPicPr>
          <p:nvPr/>
        </p:nvPicPr>
        <p:blipFill>
          <a:blip r:embed="rId4"/>
          <a:stretch>
            <a:fillRect/>
          </a:stretch>
        </p:blipFill>
        <p:spPr>
          <a:xfrm>
            <a:off x="908914" y="4749394"/>
            <a:ext cx="285293" cy="285293"/>
          </a:xfrm>
          <a:prstGeom prst="rect">
            <a:avLst/>
          </a:prstGeom>
        </p:spPr>
      </p:pic>
      <p:sp>
        <p:nvSpPr>
          <p:cNvPr id="23" name="Text 17"/>
          <p:cNvSpPr txBox="1"/>
          <p:nvPr/>
        </p:nvSpPr>
        <p:spPr>
          <a:xfrm>
            <a:off x="1463040" y="4663440"/>
            <a:ext cx="2514600" cy="457200"/>
          </a:xfrm>
          <a:prstGeom prst="rect">
            <a:avLst/>
          </a:prstGeom>
          <a:noFill/>
          <a:ln/>
        </p:spPr>
        <p:txBody>
          <a:bodyPr wrap="square" lIns="0" tIns="0" rIns="0" bIns="0" rtlCol="0" anchor="ctr"/>
          <a:lstStyle/>
          <a:p>
            <a:pPr indent="0" marL="0">
              <a:buNone/>
            </a:pPr>
            <a:r>
              <a:rPr lang="en-US" sz="1600" b="1" dirty="0">
                <a:solidFill>
                  <a:srgbClr val="FFFFFF"/>
                </a:solidFill>
              </a:rPr>
              <a:t>Project &amp; grant insights</a:t>
            </a:r>
            <a:endParaRPr lang="en-US" sz="1600" dirty="0"/>
          </a:p>
        </p:txBody>
      </p:sp>
      <p:sp>
        <p:nvSpPr>
          <p:cNvPr id="24" name="Text 18"/>
          <p:cNvSpPr txBox="1"/>
          <p:nvPr/>
        </p:nvSpPr>
        <p:spPr>
          <a:xfrm>
            <a:off x="777240" y="5285232"/>
            <a:ext cx="3154680" cy="868680"/>
          </a:xfrm>
          <a:prstGeom prst="rect">
            <a:avLst/>
          </a:prstGeom>
          <a:noFill/>
          <a:ln/>
        </p:spPr>
        <p:txBody>
          <a:bodyPr wrap="square" lIns="0" tIns="0" rIns="0" bIns="0" rtlCol="0" anchor="t"/>
          <a:lstStyle/>
          <a:p>
            <a:pPr indent="0" marL="0">
              <a:buNone/>
            </a:pPr>
            <a:r>
              <a:rPr lang="en-US" sz="1250" dirty="0">
                <a:solidFill>
                  <a:srgbClr val="E4E1F3"/>
                </a:solidFill>
              </a:rPr>
              <a:t>Reads the proposal and grant pipeline to surface stuck items, milestones at risk and next actions.</a:t>
            </a:r>
            <a:endParaRPr lang="en-US" sz="1250" dirty="0"/>
          </a:p>
        </p:txBody>
      </p:sp>
      <p:sp>
        <p:nvSpPr>
          <p:cNvPr id="25" name="AI capability 5"/>
          <p:cNvSpPr/>
          <p:nvPr/>
        </p:nvSpPr>
        <p:spPr>
          <a:xfrm>
            <a:off x="4297680" y="4389120"/>
            <a:ext cx="3566160" cy="1828800"/>
          </a:xfrm>
          <a:prstGeom prst="roundRect">
            <a:avLst>
              <a:gd name="adj" fmla="val 5000"/>
            </a:avLst>
          </a:prstGeom>
          <a:solidFill>
            <a:srgbClr val="2A2852"/>
          </a:solidFill>
          <a:ln w="9525">
            <a:solidFill>
              <a:srgbClr val="3A3768"/>
            </a:solidFill>
            <a:prstDash val="solid"/>
          </a:ln>
        </p:spPr>
      </p:sp>
      <p:sp>
        <p:nvSpPr>
          <p:cNvPr id="26" name="Shape 20"/>
          <p:cNvSpPr/>
          <p:nvPr/>
        </p:nvSpPr>
        <p:spPr>
          <a:xfrm>
            <a:off x="4526280" y="4617720"/>
            <a:ext cx="548640" cy="548640"/>
          </a:xfrm>
          <a:prstGeom prst="ellipse">
            <a:avLst/>
          </a:prstGeom>
          <a:solidFill>
            <a:srgbClr val="7E5BB5"/>
          </a:solidFill>
          <a:ln w="12700">
            <a:solidFill>
              <a:srgbClr val="7E5BB5"/>
            </a:solidFill>
            <a:prstDash val="solid"/>
          </a:ln>
        </p:spPr>
      </p:sp>
      <p:pic>
        <p:nvPicPr>
          <p:cNvPr id="27" name="Image 4" descr="preencoded.png">    </p:cNvPr>
          <p:cNvPicPr>
            <a:picLocks noChangeAspect="1"/>
          </p:cNvPicPr>
          <p:nvPr/>
        </p:nvPicPr>
        <p:blipFill>
          <a:blip r:embed="rId5"/>
          <a:stretch>
            <a:fillRect/>
          </a:stretch>
        </p:blipFill>
        <p:spPr>
          <a:xfrm>
            <a:off x="4657954" y="4749394"/>
            <a:ext cx="285293" cy="285293"/>
          </a:xfrm>
          <a:prstGeom prst="rect">
            <a:avLst/>
          </a:prstGeom>
        </p:spPr>
      </p:pic>
      <p:sp>
        <p:nvSpPr>
          <p:cNvPr id="28" name="Text 21"/>
          <p:cNvSpPr txBox="1"/>
          <p:nvPr/>
        </p:nvSpPr>
        <p:spPr>
          <a:xfrm>
            <a:off x="5212080" y="4663440"/>
            <a:ext cx="2514600" cy="457200"/>
          </a:xfrm>
          <a:prstGeom prst="rect">
            <a:avLst/>
          </a:prstGeom>
          <a:noFill/>
          <a:ln/>
        </p:spPr>
        <p:txBody>
          <a:bodyPr wrap="square" lIns="0" tIns="0" rIns="0" bIns="0" rtlCol="0" anchor="ctr"/>
          <a:lstStyle/>
          <a:p>
            <a:pPr indent="0" marL="0">
              <a:buNone/>
            </a:pPr>
            <a:r>
              <a:rPr lang="en-US" sz="1600" b="1" dirty="0">
                <a:solidFill>
                  <a:srgbClr val="FFFFFF"/>
                </a:solidFill>
              </a:rPr>
              <a:t>Image integrity detection</a:t>
            </a:r>
            <a:endParaRPr lang="en-US" sz="1600" dirty="0"/>
          </a:p>
        </p:txBody>
      </p:sp>
      <p:sp>
        <p:nvSpPr>
          <p:cNvPr id="29" name="Text 22"/>
          <p:cNvSpPr txBox="1"/>
          <p:nvPr/>
        </p:nvSpPr>
        <p:spPr>
          <a:xfrm>
            <a:off x="4526280" y="5285232"/>
            <a:ext cx="3154680" cy="868680"/>
          </a:xfrm>
          <a:prstGeom prst="rect">
            <a:avLst/>
          </a:prstGeom>
          <a:noFill/>
          <a:ln/>
        </p:spPr>
        <p:txBody>
          <a:bodyPr wrap="square" lIns="0" tIns="0" rIns="0" bIns="0" rtlCol="0" anchor="t"/>
          <a:lstStyle/>
          <a:p>
            <a:pPr indent="0" marL="0">
              <a:buNone/>
            </a:pPr>
            <a:r>
              <a:rPr lang="en-US" sz="1250" dirty="0">
                <a:solidFill>
                  <a:srgbClr val="E4E1F3"/>
                </a:solidFill>
              </a:rPr>
              <a:t>Automated detection of duplicated or manipulated images in manuscripts, including cross-paper comparison.</a:t>
            </a:r>
            <a:endParaRPr lang="en-US" sz="1250" dirty="0"/>
          </a:p>
        </p:txBody>
      </p:sp>
      <p:sp>
        <p:nvSpPr>
          <p:cNvPr id="30" name="AI capability 6"/>
          <p:cNvSpPr/>
          <p:nvPr/>
        </p:nvSpPr>
        <p:spPr>
          <a:xfrm>
            <a:off x="8046720" y="4389120"/>
            <a:ext cx="3566160" cy="1828800"/>
          </a:xfrm>
          <a:prstGeom prst="roundRect">
            <a:avLst>
              <a:gd name="adj" fmla="val 5000"/>
            </a:avLst>
          </a:prstGeom>
          <a:solidFill>
            <a:srgbClr val="2A2852"/>
          </a:solidFill>
          <a:ln w="9525">
            <a:solidFill>
              <a:srgbClr val="3A3768"/>
            </a:solidFill>
            <a:prstDash val="solid"/>
          </a:ln>
        </p:spPr>
      </p:sp>
      <p:sp>
        <p:nvSpPr>
          <p:cNvPr id="31" name="Shape 24"/>
          <p:cNvSpPr/>
          <p:nvPr/>
        </p:nvSpPr>
        <p:spPr>
          <a:xfrm>
            <a:off x="8275320" y="4617720"/>
            <a:ext cx="548640" cy="548640"/>
          </a:xfrm>
          <a:prstGeom prst="ellipse">
            <a:avLst/>
          </a:prstGeom>
          <a:solidFill>
            <a:srgbClr val="2A9DC0"/>
          </a:solidFill>
          <a:ln w="12700">
            <a:solidFill>
              <a:srgbClr val="2A9DC0"/>
            </a:solidFill>
            <a:prstDash val="solid"/>
          </a:ln>
        </p:spPr>
      </p:sp>
      <p:pic>
        <p:nvPicPr>
          <p:cNvPr id="32" name="Image 5" descr="preencoded.png">    </p:cNvPr>
          <p:cNvPicPr>
            <a:picLocks noChangeAspect="1"/>
          </p:cNvPicPr>
          <p:nvPr/>
        </p:nvPicPr>
        <p:blipFill>
          <a:blip r:embed="rId6"/>
          <a:stretch>
            <a:fillRect/>
          </a:stretch>
        </p:blipFill>
        <p:spPr>
          <a:xfrm>
            <a:off x="8406994" y="4749394"/>
            <a:ext cx="285293" cy="285293"/>
          </a:xfrm>
          <a:prstGeom prst="rect">
            <a:avLst/>
          </a:prstGeom>
        </p:spPr>
      </p:pic>
      <p:sp>
        <p:nvSpPr>
          <p:cNvPr id="33" name="Text 25"/>
          <p:cNvSpPr txBox="1"/>
          <p:nvPr/>
        </p:nvSpPr>
        <p:spPr>
          <a:xfrm>
            <a:off x="8961120" y="4663440"/>
            <a:ext cx="2514600" cy="457200"/>
          </a:xfrm>
          <a:prstGeom prst="rect">
            <a:avLst/>
          </a:prstGeom>
          <a:noFill/>
          <a:ln/>
        </p:spPr>
        <p:txBody>
          <a:bodyPr wrap="square" lIns="0" tIns="0" rIns="0" bIns="0" rtlCol="0" anchor="ctr"/>
          <a:lstStyle/>
          <a:p>
            <a:pPr indent="0" marL="0">
              <a:buNone/>
            </a:pPr>
            <a:r>
              <a:rPr lang="en-US" sz="1600" b="1" dirty="0">
                <a:solidFill>
                  <a:srgbClr val="FFFFFF"/>
                </a:solidFill>
              </a:rPr>
              <a:t>Automated pre-review</a:t>
            </a:r>
            <a:endParaRPr lang="en-US" sz="1600" dirty="0"/>
          </a:p>
        </p:txBody>
      </p:sp>
      <p:sp>
        <p:nvSpPr>
          <p:cNvPr id="34" name="Text 26"/>
          <p:cNvSpPr txBox="1"/>
          <p:nvPr/>
        </p:nvSpPr>
        <p:spPr>
          <a:xfrm>
            <a:off x="8275320" y="5285232"/>
            <a:ext cx="3154680" cy="868680"/>
          </a:xfrm>
          <a:prstGeom prst="rect">
            <a:avLst/>
          </a:prstGeom>
          <a:noFill/>
          <a:ln/>
        </p:spPr>
        <p:txBody>
          <a:bodyPr wrap="square" lIns="0" tIns="0" rIns="0" bIns="0" rtlCol="0" anchor="t"/>
          <a:lstStyle/>
          <a:p>
            <a:pPr indent="0" marL="0">
              <a:buNone/>
            </a:pPr>
            <a:r>
              <a:rPr lang="en-US" sz="1250" dirty="0">
                <a:solidFill>
                  <a:srgbClr val="E4E1F3"/>
                </a:solidFill>
              </a:rPr>
              <a:t>Rule-based checks on completeness, documents, budget, timeline, risk and regulatory fit before human review.</a:t>
            </a:r>
            <a:endParaRPr lang="en-US" sz="1250" dirty="0"/>
          </a:p>
        </p:txBody>
      </p:sp>
      <p:sp>
        <p:nvSpPr>
          <p:cNvPr id="36"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endParaRPr lang="en-US" sz="3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chemeClr val="tx2"/>
                </a:solidFill>
              </a:rPr>
              <a:t>AI summaries: understand any paper in seconds</a:t>
            </a:r>
            <a:endParaRPr lang="en-US" sz="3200" dirty="0"/>
          </a:p>
        </p:txBody>
      </p:sp>
      <p:sp>
        <p:nvSpPr>
          <p:cNvPr id="3" name="AI publication summary frame"/>
          <p:cNvSpPr/>
          <p:nvPr/>
        </p:nvSpPr>
        <p:spPr>
          <a:xfrm>
            <a:off x="548640" y="1371600"/>
            <a:ext cx="7315200" cy="4540803"/>
          </a:xfrm>
          <a:prstGeom prst="roundRect">
            <a:avLst>
              <a:gd name="adj" fmla="val 1611"/>
            </a:avLst>
          </a:prstGeom>
          <a:solidFill>
            <a:srgbClr val="ECEAF2"/>
          </a:solidFill>
          <a:ln w="9525">
            <a:solidFill>
              <a:srgbClr val="DDD8EC"/>
            </a:solidFill>
            <a:prstDash val="solid"/>
          </a:ln>
          <a:effectLst>
            <a:outerShdw sx="100000" sy="100000" kx="0" ky="0" algn="bl" rotWithShape="0" blurRad="152400" dist="50800" dir="5400000">
              <a:srgbClr val="000000">
                <a:alpha val="18000"/>
              </a:srgbClr>
            </a:outerShdw>
          </a:effectLst>
        </p:spPr>
      </p:sp>
      <p:sp>
        <p:nvSpPr>
          <p:cNvPr id="4" name="Shape 2"/>
          <p:cNvSpPr/>
          <p:nvPr/>
        </p:nvSpPr>
        <p:spPr>
          <a:xfrm>
            <a:off x="676656" y="1444752"/>
            <a:ext cx="91440" cy="91440"/>
          </a:xfrm>
          <a:prstGeom prst="ellipse">
            <a:avLst/>
          </a:prstGeom>
          <a:solidFill>
            <a:srgbClr val="E86B6B"/>
          </a:solidFill>
          <a:ln w="12700">
            <a:solidFill>
              <a:srgbClr val="E86B6B"/>
            </a:solidFill>
            <a:prstDash val="solid"/>
          </a:ln>
        </p:spPr>
      </p:sp>
      <p:sp>
        <p:nvSpPr>
          <p:cNvPr id="5" name="Shape 3"/>
          <p:cNvSpPr/>
          <p:nvPr/>
        </p:nvSpPr>
        <p:spPr>
          <a:xfrm>
            <a:off x="822960" y="1444752"/>
            <a:ext cx="91440" cy="91440"/>
          </a:xfrm>
          <a:prstGeom prst="ellipse">
            <a:avLst/>
          </a:prstGeom>
          <a:solidFill>
            <a:srgbClr val="F2C14E"/>
          </a:solidFill>
          <a:ln w="12700">
            <a:solidFill>
              <a:srgbClr val="F2C14E"/>
            </a:solidFill>
            <a:prstDash val="solid"/>
          </a:ln>
        </p:spPr>
      </p:sp>
      <p:sp>
        <p:nvSpPr>
          <p:cNvPr id="6" name="Shape 4"/>
          <p:cNvSpPr/>
          <p:nvPr/>
        </p:nvSpPr>
        <p:spPr>
          <a:xfrm>
            <a:off x="969264" y="1444752"/>
            <a:ext cx="91440" cy="91440"/>
          </a:xfrm>
          <a:prstGeom prst="ellipse">
            <a:avLst/>
          </a:prstGeom>
          <a:solidFill>
            <a:srgbClr val="5DBB7A"/>
          </a:solidFill>
          <a:ln w="12700">
            <a:solidFill>
              <a:srgbClr val="5DBB7A"/>
            </a:solidFill>
            <a:prstDash val="solid"/>
          </a:ln>
        </p:spPr>
      </p:sp>
      <p:pic>
        <p:nvPicPr>
          <p:cNvPr id="7" name="AI publication summary screenshot" descr="/home/claude/deck/img/ai_summary.png">    </p:cNvPr>
          <p:cNvPicPr>
            <a:picLocks noChangeAspect="1"/>
          </p:cNvPicPr>
          <p:nvPr/>
        </p:nvPicPr>
        <p:blipFill>
          <a:blip r:embed="rId1"/>
          <a:stretch>
            <a:fillRect/>
          </a:stretch>
        </p:blipFill>
        <p:spPr>
          <a:xfrm>
            <a:off x="576072" y="1609344"/>
            <a:ext cx="7260336" cy="4270786"/>
          </a:xfrm>
          <a:prstGeom prst="rect">
            <a:avLst/>
          </a:prstGeom>
        </p:spPr>
      </p:pic>
      <p:sp>
        <p:nvSpPr>
          <p:cNvPr id="8" name="Text 5"/>
          <p:cNvSpPr txBox="1"/>
          <p:nvPr/>
        </p:nvSpPr>
        <p:spPr>
          <a:xfrm>
            <a:off x="8229600" y="1417320"/>
            <a:ext cx="3429000" cy="822960"/>
          </a:xfrm>
          <a:prstGeom prst="rect">
            <a:avLst/>
          </a:prstGeom>
          <a:noFill/>
          <a:ln/>
        </p:spPr>
        <p:txBody>
          <a:bodyPr wrap="square" lIns="0" tIns="0" rIns="0" bIns="0" rtlCol="0" anchor="t"/>
          <a:lstStyle/>
          <a:p>
            <a:pPr indent="0" marL="0">
              <a:buNone/>
            </a:pPr>
            <a:r>
              <a:rPr lang="en-US" sz="1600" b="1" dirty="0">
                <a:solidFill>
                  <a:srgbClr val="7E5BB5"/>
                </a:solidFill>
              </a:rPr>
              <a:t>One click on any publication produces a structured, plain-language brief.</a:t>
            </a:r>
            <a:endParaRPr lang="en-US" sz="1600" dirty="0"/>
          </a:p>
        </p:txBody>
      </p:sp>
      <p:sp>
        <p:nvSpPr>
          <p:cNvPr id="9" name="Shape 6"/>
          <p:cNvSpPr/>
          <p:nvPr/>
        </p:nvSpPr>
        <p:spPr>
          <a:xfrm>
            <a:off x="8229600" y="2286000"/>
            <a:ext cx="457200" cy="457200"/>
          </a:xfrm>
          <a:prstGeom prst="ellipse">
            <a:avLst/>
          </a:prstGeom>
          <a:solidFill>
            <a:srgbClr val="EFEAF8"/>
          </a:solidFill>
          <a:ln w="12700">
            <a:solidFill>
              <a:srgbClr val="EFEAF8"/>
            </a:solidFill>
            <a:prstDash val="solid"/>
          </a:ln>
        </p:spPr>
      </p:sp>
      <p:pic>
        <p:nvPicPr>
          <p:cNvPr id="10" name="Image 1" descr="preencoded.png">    </p:cNvPr>
          <p:cNvPicPr>
            <a:picLocks noChangeAspect="1"/>
          </p:cNvPicPr>
          <p:nvPr/>
        </p:nvPicPr>
        <p:blipFill>
          <a:blip r:embed="rId2"/>
          <a:stretch>
            <a:fillRect/>
          </a:stretch>
        </p:blipFill>
        <p:spPr>
          <a:xfrm>
            <a:off x="8339328" y="2395728"/>
            <a:ext cx="237744" cy="237744"/>
          </a:xfrm>
          <a:prstGeom prst="rect">
            <a:avLst/>
          </a:prstGeom>
        </p:spPr>
      </p:pic>
      <p:sp>
        <p:nvSpPr>
          <p:cNvPr id="11" name="Text 7"/>
          <p:cNvSpPr txBox="1"/>
          <p:nvPr/>
        </p:nvSpPr>
        <p:spPr>
          <a:xfrm>
            <a:off x="8823960" y="2267712"/>
            <a:ext cx="2834640" cy="320040"/>
          </a:xfrm>
          <a:prstGeom prst="rect">
            <a:avLst/>
          </a:prstGeom>
          <a:noFill/>
          <a:ln/>
        </p:spPr>
        <p:txBody>
          <a:bodyPr wrap="square" lIns="0" tIns="0" rIns="0" bIns="0" rtlCol="0" anchor="ctr"/>
          <a:lstStyle/>
          <a:p>
            <a:pPr indent="0" marL="0">
              <a:buNone/>
            </a:pPr>
            <a:r>
              <a:rPr lang="en-US" sz="1500" b="1" dirty="0">
                <a:solidFill>
                  <a:schemeClr val="tx2"/>
                </a:solidFill>
              </a:rPr>
              <a:t>Consistent structure</a:t>
            </a:r>
            <a:endParaRPr lang="en-US" sz="1500" dirty="0"/>
          </a:p>
        </p:txBody>
      </p:sp>
      <p:sp>
        <p:nvSpPr>
          <p:cNvPr id="12" name="Text 8"/>
          <p:cNvSpPr txBox="1"/>
          <p:nvPr/>
        </p:nvSpPr>
        <p:spPr>
          <a:xfrm>
            <a:off x="8823960" y="2587752"/>
            <a:ext cx="2834640" cy="640080"/>
          </a:xfrm>
          <a:prstGeom prst="rect">
            <a:avLst/>
          </a:prstGeom>
          <a:noFill/>
          <a:ln/>
        </p:spPr>
        <p:txBody>
          <a:bodyPr wrap="square" lIns="0" tIns="0" rIns="0" bIns="0" rtlCol="0" anchor="t"/>
          <a:lstStyle/>
          <a:p>
            <a:pPr indent="0" marL="0">
              <a:buNone/>
            </a:pPr>
            <a:r>
              <a:rPr lang="en-US" sz="1300" dirty="0">
                <a:solidFill>
                  <a:schemeClr val="tx1"/>
                </a:solidFill>
              </a:rPr>
              <a:t>Overview, key findings and significance for every paper.</a:t>
            </a:r>
            <a:endParaRPr lang="en-US" sz="1300" dirty="0"/>
          </a:p>
        </p:txBody>
      </p:sp>
      <p:sp>
        <p:nvSpPr>
          <p:cNvPr id="13" name="Shape 9"/>
          <p:cNvSpPr/>
          <p:nvPr/>
        </p:nvSpPr>
        <p:spPr>
          <a:xfrm>
            <a:off x="8229600" y="3273552"/>
            <a:ext cx="457200" cy="457200"/>
          </a:xfrm>
          <a:prstGeom prst="ellipse">
            <a:avLst/>
          </a:prstGeom>
          <a:solidFill>
            <a:srgbClr val="EFEAF8"/>
          </a:solidFill>
          <a:ln w="12700">
            <a:solidFill>
              <a:srgbClr val="EFEAF8"/>
            </a:solidFill>
            <a:prstDash val="solid"/>
          </a:ln>
        </p:spPr>
      </p:sp>
      <p:pic>
        <p:nvPicPr>
          <p:cNvPr id="14" name="Image 2" descr="preencoded.png">    </p:cNvPr>
          <p:cNvPicPr>
            <a:picLocks noChangeAspect="1"/>
          </p:cNvPicPr>
          <p:nvPr/>
        </p:nvPicPr>
        <p:blipFill>
          <a:blip r:embed="rId3"/>
          <a:stretch>
            <a:fillRect/>
          </a:stretch>
        </p:blipFill>
        <p:spPr>
          <a:xfrm>
            <a:off x="8339328" y="3383280"/>
            <a:ext cx="237744" cy="237744"/>
          </a:xfrm>
          <a:prstGeom prst="rect">
            <a:avLst/>
          </a:prstGeom>
        </p:spPr>
      </p:pic>
      <p:sp>
        <p:nvSpPr>
          <p:cNvPr id="15" name="Text 10"/>
          <p:cNvSpPr txBox="1"/>
          <p:nvPr/>
        </p:nvSpPr>
        <p:spPr>
          <a:xfrm>
            <a:off x="8823960" y="3255264"/>
            <a:ext cx="2834640" cy="320040"/>
          </a:xfrm>
          <a:prstGeom prst="rect">
            <a:avLst/>
          </a:prstGeom>
          <a:noFill/>
          <a:ln/>
        </p:spPr>
        <p:txBody>
          <a:bodyPr wrap="square" lIns="0" tIns="0" rIns="0" bIns="0" rtlCol="0" anchor="ctr"/>
          <a:lstStyle/>
          <a:p>
            <a:pPr indent="0" marL="0">
              <a:buNone/>
            </a:pPr>
            <a:r>
              <a:rPr lang="en-US" sz="1500" b="1" dirty="0">
                <a:solidFill>
                  <a:schemeClr val="tx2"/>
                </a:solidFill>
              </a:rPr>
              <a:t>Keyword extraction</a:t>
            </a:r>
            <a:endParaRPr lang="en-US" sz="1500" dirty="0"/>
          </a:p>
        </p:txBody>
      </p:sp>
      <p:sp>
        <p:nvSpPr>
          <p:cNvPr id="16" name="Text 11"/>
          <p:cNvSpPr txBox="1"/>
          <p:nvPr/>
        </p:nvSpPr>
        <p:spPr>
          <a:xfrm>
            <a:off x="8823960" y="3575304"/>
            <a:ext cx="2834640" cy="640080"/>
          </a:xfrm>
          <a:prstGeom prst="rect">
            <a:avLst/>
          </a:prstGeom>
          <a:noFill/>
          <a:ln/>
        </p:spPr>
        <p:txBody>
          <a:bodyPr wrap="square" lIns="0" tIns="0" rIns="0" bIns="0" rtlCol="0" anchor="t"/>
          <a:lstStyle/>
          <a:p>
            <a:pPr indent="0" marL="0">
              <a:buNone/>
            </a:pPr>
            <a:r>
              <a:rPr lang="en-US" sz="1300" dirty="0">
                <a:solidFill>
                  <a:schemeClr val="tx1"/>
                </a:solidFill>
              </a:rPr>
              <a:t>AI tags improve search, reporting and expertise mapping.</a:t>
            </a:r>
            <a:endParaRPr lang="en-US" sz="1300" dirty="0"/>
          </a:p>
        </p:txBody>
      </p:sp>
      <p:sp>
        <p:nvSpPr>
          <p:cNvPr id="17" name="Shape 12"/>
          <p:cNvSpPr/>
          <p:nvPr/>
        </p:nvSpPr>
        <p:spPr>
          <a:xfrm>
            <a:off x="8229600" y="4261104"/>
            <a:ext cx="457200" cy="457200"/>
          </a:xfrm>
          <a:prstGeom prst="ellipse">
            <a:avLst/>
          </a:prstGeom>
          <a:solidFill>
            <a:srgbClr val="EFEAF8"/>
          </a:solidFill>
          <a:ln w="12700">
            <a:solidFill>
              <a:srgbClr val="EFEAF8"/>
            </a:solidFill>
            <a:prstDash val="solid"/>
          </a:ln>
        </p:spPr>
      </p:sp>
      <p:pic>
        <p:nvPicPr>
          <p:cNvPr id="18" name="Image 3" descr="preencoded.png">    </p:cNvPr>
          <p:cNvPicPr>
            <a:picLocks noChangeAspect="1"/>
          </p:cNvPicPr>
          <p:nvPr/>
        </p:nvPicPr>
        <p:blipFill>
          <a:blip r:embed="rId4"/>
          <a:stretch>
            <a:fillRect/>
          </a:stretch>
        </p:blipFill>
        <p:spPr>
          <a:xfrm>
            <a:off x="8339328" y="4370832"/>
            <a:ext cx="237744" cy="237744"/>
          </a:xfrm>
          <a:prstGeom prst="rect">
            <a:avLst/>
          </a:prstGeom>
        </p:spPr>
      </p:pic>
      <p:sp>
        <p:nvSpPr>
          <p:cNvPr id="19" name="Text 13"/>
          <p:cNvSpPr txBox="1"/>
          <p:nvPr/>
        </p:nvSpPr>
        <p:spPr>
          <a:xfrm>
            <a:off x="8823960" y="4242816"/>
            <a:ext cx="2834640" cy="320040"/>
          </a:xfrm>
          <a:prstGeom prst="rect">
            <a:avLst/>
          </a:prstGeom>
          <a:noFill/>
          <a:ln/>
        </p:spPr>
        <p:txBody>
          <a:bodyPr wrap="square" lIns="0" tIns="0" rIns="0" bIns="0" rtlCol="0" anchor="ctr"/>
          <a:lstStyle/>
          <a:p>
            <a:pPr indent="0" marL="0">
              <a:buNone/>
            </a:pPr>
            <a:r>
              <a:rPr lang="en-US" sz="1500" b="1" dirty="0">
                <a:solidFill>
                  <a:schemeClr val="tx2"/>
                </a:solidFill>
              </a:rPr>
              <a:t>Batch processing</a:t>
            </a:r>
            <a:endParaRPr lang="en-US" sz="1500" dirty="0"/>
          </a:p>
        </p:txBody>
      </p:sp>
      <p:sp>
        <p:nvSpPr>
          <p:cNvPr id="20" name="Text 14"/>
          <p:cNvSpPr txBox="1"/>
          <p:nvPr/>
        </p:nvSpPr>
        <p:spPr>
          <a:xfrm>
            <a:off x="8823960" y="4562856"/>
            <a:ext cx="2834640" cy="640080"/>
          </a:xfrm>
          <a:prstGeom prst="rect">
            <a:avLst/>
          </a:prstGeom>
          <a:noFill/>
          <a:ln/>
        </p:spPr>
        <p:txBody>
          <a:bodyPr wrap="square" lIns="0" tIns="0" rIns="0" bIns="0" rtlCol="0" anchor="t"/>
          <a:lstStyle/>
          <a:p>
            <a:pPr indent="0" marL="0">
              <a:buNone/>
            </a:pPr>
            <a:r>
              <a:rPr lang="en-US" sz="1300" dirty="0">
                <a:solidFill>
                  <a:schemeClr val="tx1"/>
                </a:solidFill>
              </a:rPr>
              <a:t>Summarise a whole department's output in one run.</a:t>
            </a:r>
            <a:endParaRPr lang="en-US" sz="1300" dirty="0"/>
          </a:p>
        </p:txBody>
      </p:sp>
      <p:sp>
        <p:nvSpPr>
          <p:cNvPr id="21" name="Shape 15"/>
          <p:cNvSpPr/>
          <p:nvPr/>
        </p:nvSpPr>
        <p:spPr>
          <a:xfrm>
            <a:off x="8229600" y="5248656"/>
            <a:ext cx="457200" cy="457200"/>
          </a:xfrm>
          <a:prstGeom prst="ellipse">
            <a:avLst/>
          </a:prstGeom>
          <a:solidFill>
            <a:srgbClr val="EFEAF8"/>
          </a:solidFill>
          <a:ln w="12700">
            <a:solidFill>
              <a:srgbClr val="EFEAF8"/>
            </a:solidFill>
            <a:prstDash val="solid"/>
          </a:ln>
        </p:spPr>
      </p:sp>
      <p:pic>
        <p:nvPicPr>
          <p:cNvPr id="22" name="Image 4" descr="preencoded.png">    </p:cNvPr>
          <p:cNvPicPr>
            <a:picLocks noChangeAspect="1"/>
          </p:cNvPicPr>
          <p:nvPr/>
        </p:nvPicPr>
        <p:blipFill>
          <a:blip r:embed="rId5"/>
          <a:stretch>
            <a:fillRect/>
          </a:stretch>
        </p:blipFill>
        <p:spPr>
          <a:xfrm>
            <a:off x="8339328" y="5358384"/>
            <a:ext cx="237744" cy="237744"/>
          </a:xfrm>
          <a:prstGeom prst="rect">
            <a:avLst/>
          </a:prstGeom>
        </p:spPr>
      </p:pic>
      <p:sp>
        <p:nvSpPr>
          <p:cNvPr id="23" name="Text 16"/>
          <p:cNvSpPr txBox="1"/>
          <p:nvPr/>
        </p:nvSpPr>
        <p:spPr>
          <a:xfrm>
            <a:off x="8823960" y="5230368"/>
            <a:ext cx="2834640" cy="320040"/>
          </a:xfrm>
          <a:prstGeom prst="rect">
            <a:avLst/>
          </a:prstGeom>
          <a:noFill/>
          <a:ln/>
        </p:spPr>
        <p:txBody>
          <a:bodyPr wrap="square" lIns="0" tIns="0" rIns="0" bIns="0" rtlCol="0" anchor="ctr"/>
          <a:lstStyle/>
          <a:p>
            <a:pPr indent="0" marL="0">
              <a:buNone/>
            </a:pPr>
            <a:r>
              <a:rPr lang="en-US" sz="1500" b="1" dirty="0">
                <a:solidFill>
                  <a:schemeClr val="tx2"/>
                </a:solidFill>
              </a:rPr>
              <a:t>For non-specialists</a:t>
            </a:r>
            <a:endParaRPr lang="en-US" sz="1500" dirty="0"/>
          </a:p>
        </p:txBody>
      </p:sp>
      <p:sp>
        <p:nvSpPr>
          <p:cNvPr id="24" name="Text 17"/>
          <p:cNvSpPr txBox="1"/>
          <p:nvPr/>
        </p:nvSpPr>
        <p:spPr>
          <a:xfrm>
            <a:off x="8823960" y="5550408"/>
            <a:ext cx="2834640" cy="640080"/>
          </a:xfrm>
          <a:prstGeom prst="rect">
            <a:avLst/>
          </a:prstGeom>
          <a:noFill/>
          <a:ln/>
        </p:spPr>
        <p:txBody>
          <a:bodyPr wrap="square" lIns="0" tIns="0" rIns="0" bIns="0" rtlCol="0" anchor="t"/>
          <a:lstStyle/>
          <a:p>
            <a:pPr indent="0" marL="0">
              <a:buNone/>
            </a:pPr>
            <a:r>
              <a:rPr lang="en-US" sz="1300" dirty="0">
                <a:solidFill>
                  <a:schemeClr val="tx1"/>
                </a:solidFill>
              </a:rPr>
              <a:t>Leadership, funders and communications teams get the point fast.</a:t>
            </a:r>
            <a:endParaRPr lang="en-US" sz="13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C78"/>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chemeClr val="tx2"/>
                </a:solidFill>
              </a:rPr>
              <a:t>AI insights that tell people what to do next</a:t>
            </a:r>
            <a:endParaRPr lang="en-US" sz="3200" dirty="0"/>
          </a:p>
        </p:txBody>
      </p:sp>
      <p:sp>
        <p:nvSpPr>
          <p:cNvPr id="3" name="AI impact insights frame"/>
          <p:cNvSpPr/>
          <p:nvPr/>
        </p:nvSpPr>
        <p:spPr>
          <a:xfrm>
            <a:off x="548640" y="1371600"/>
            <a:ext cx="6583680" cy="4110497"/>
          </a:xfrm>
          <a:prstGeom prst="roundRect">
            <a:avLst>
              <a:gd name="adj" fmla="val 1780"/>
            </a:avLst>
          </a:prstGeom>
          <a:solidFill>
            <a:srgbClr val="ECEAF2"/>
          </a:solidFill>
          <a:ln w="9525">
            <a:solidFill>
              <a:srgbClr val="DDD8EC"/>
            </a:solidFill>
            <a:prstDash val="solid"/>
          </a:ln>
          <a:effectLst>
            <a:outerShdw sx="100000" sy="100000" kx="0" ky="0" algn="bl" rotWithShape="0" blurRad="152400" dist="50800" dir="5400000">
              <a:srgbClr val="000000">
                <a:alpha val="18000"/>
              </a:srgbClr>
            </a:outerShdw>
          </a:effectLst>
        </p:spPr>
      </p:sp>
      <p:sp>
        <p:nvSpPr>
          <p:cNvPr id="4" name="Shape 2"/>
          <p:cNvSpPr/>
          <p:nvPr/>
        </p:nvSpPr>
        <p:spPr>
          <a:xfrm>
            <a:off x="676656" y="1444752"/>
            <a:ext cx="91440" cy="91440"/>
          </a:xfrm>
          <a:prstGeom prst="ellipse">
            <a:avLst/>
          </a:prstGeom>
          <a:solidFill>
            <a:srgbClr val="E86B6B"/>
          </a:solidFill>
          <a:ln w="12700">
            <a:solidFill>
              <a:srgbClr val="E86B6B"/>
            </a:solidFill>
            <a:prstDash val="solid"/>
          </a:ln>
        </p:spPr>
      </p:sp>
      <p:sp>
        <p:nvSpPr>
          <p:cNvPr id="5" name="Shape 3"/>
          <p:cNvSpPr/>
          <p:nvPr/>
        </p:nvSpPr>
        <p:spPr>
          <a:xfrm>
            <a:off x="822960" y="1444752"/>
            <a:ext cx="91440" cy="91440"/>
          </a:xfrm>
          <a:prstGeom prst="ellipse">
            <a:avLst/>
          </a:prstGeom>
          <a:solidFill>
            <a:srgbClr val="F2C14E"/>
          </a:solidFill>
          <a:ln w="12700">
            <a:solidFill>
              <a:srgbClr val="F2C14E"/>
            </a:solidFill>
            <a:prstDash val="solid"/>
          </a:ln>
        </p:spPr>
      </p:sp>
      <p:sp>
        <p:nvSpPr>
          <p:cNvPr id="6" name="Shape 4"/>
          <p:cNvSpPr/>
          <p:nvPr/>
        </p:nvSpPr>
        <p:spPr>
          <a:xfrm>
            <a:off x="969264" y="1444752"/>
            <a:ext cx="91440" cy="91440"/>
          </a:xfrm>
          <a:prstGeom prst="ellipse">
            <a:avLst/>
          </a:prstGeom>
          <a:solidFill>
            <a:srgbClr val="5DBB7A"/>
          </a:solidFill>
          <a:ln w="12700">
            <a:solidFill>
              <a:srgbClr val="5DBB7A"/>
            </a:solidFill>
            <a:prstDash val="solid"/>
          </a:ln>
        </p:spPr>
      </p:sp>
      <p:pic>
        <p:nvPicPr>
          <p:cNvPr id="7" name="AI impact insights screenshot" descr="/home/claude/deck/img/ai_impact.png">    </p:cNvPr>
          <p:cNvPicPr>
            <a:picLocks noChangeAspect="1"/>
          </p:cNvPicPr>
          <p:nvPr/>
        </p:nvPicPr>
        <p:blipFill>
          <a:blip r:embed="rId1"/>
          <a:stretch>
            <a:fillRect/>
          </a:stretch>
        </p:blipFill>
        <p:spPr>
          <a:xfrm>
            <a:off x="576072" y="1609344"/>
            <a:ext cx="6528816" cy="3840480"/>
          </a:xfrm>
          <a:prstGeom prst="rect">
            <a:avLst/>
          </a:prstGeom>
        </p:spPr>
      </p:pic>
      <p:sp>
        <p:nvSpPr>
          <p:cNvPr id="8" name="Impact dashboard"/>
          <p:cNvSpPr/>
          <p:nvPr/>
        </p:nvSpPr>
        <p:spPr>
          <a:xfrm>
            <a:off x="7635240" y="1417320"/>
            <a:ext cx="4023360" cy="1371600"/>
          </a:xfrm>
          <a:prstGeom prst="roundRect">
            <a:avLst>
              <a:gd name="adj" fmla="val 6667"/>
            </a:avLst>
          </a:prstGeom>
          <a:solidFill>
            <a:srgbClr val="F6F4FB"/>
          </a:solidFill>
          <a:ln w="9525">
            <a:solidFill>
              <a:srgbClr val="DDD8EC"/>
            </a:solidFill>
            <a:prstDash val="solid"/>
          </a:ln>
        </p:spPr>
      </p:sp>
      <p:sp>
        <p:nvSpPr>
          <p:cNvPr id="9" name="Shape 6"/>
          <p:cNvSpPr/>
          <p:nvPr/>
        </p:nvSpPr>
        <p:spPr>
          <a:xfrm>
            <a:off x="7818120" y="1618488"/>
            <a:ext cx="502920" cy="502920"/>
          </a:xfrm>
          <a:prstGeom prst="ellipse">
            <a:avLst/>
          </a:prstGeom>
          <a:solidFill>
            <a:srgbClr val="7E5BB5"/>
          </a:solidFill>
          <a:ln w="12700">
            <a:solidFill>
              <a:srgbClr val="7E5BB5"/>
            </a:solidFill>
            <a:prstDash val="solid"/>
          </a:ln>
        </p:spPr>
      </p:sp>
      <p:pic>
        <p:nvPicPr>
          <p:cNvPr id="10" name="Image 1" descr="preencoded.png">    </p:cNvPr>
          <p:cNvPicPr>
            <a:picLocks noChangeAspect="1"/>
          </p:cNvPicPr>
          <p:nvPr/>
        </p:nvPicPr>
        <p:blipFill>
          <a:blip r:embed="rId2"/>
          <a:stretch>
            <a:fillRect/>
          </a:stretch>
        </p:blipFill>
        <p:spPr>
          <a:xfrm>
            <a:off x="7938821" y="1739189"/>
            <a:ext cx="261518" cy="261518"/>
          </a:xfrm>
          <a:prstGeom prst="rect">
            <a:avLst/>
          </a:prstGeom>
        </p:spPr>
      </p:pic>
      <p:sp>
        <p:nvSpPr>
          <p:cNvPr id="11" name="Text 7"/>
          <p:cNvSpPr txBox="1"/>
          <p:nvPr/>
        </p:nvSpPr>
        <p:spPr>
          <a:xfrm>
            <a:off x="8458200" y="1618488"/>
            <a:ext cx="3063240" cy="457200"/>
          </a:xfrm>
          <a:prstGeom prst="rect">
            <a:avLst/>
          </a:prstGeom>
          <a:noFill/>
          <a:ln/>
        </p:spPr>
        <p:txBody>
          <a:bodyPr wrap="square" lIns="0" tIns="0" rIns="0" bIns="0" rtlCol="0" anchor="ctr"/>
          <a:lstStyle/>
          <a:p>
            <a:pPr indent="0" marL="0">
              <a:buNone/>
            </a:pPr>
            <a:r>
              <a:rPr lang="en-US" sz="1500" b="1" dirty="0">
                <a:solidFill>
                  <a:schemeClr val="tx2"/>
                </a:solidFill>
              </a:rPr>
              <a:t>Impact dashboard</a:t>
            </a:r>
            <a:endParaRPr lang="en-US" sz="1500" dirty="0"/>
          </a:p>
        </p:txBody>
      </p:sp>
      <p:sp>
        <p:nvSpPr>
          <p:cNvPr id="12" name="Text 8"/>
          <p:cNvSpPr txBox="1"/>
          <p:nvPr/>
        </p:nvSpPr>
        <p:spPr>
          <a:xfrm>
            <a:off x="7818120" y="2148840"/>
            <a:ext cx="3703320" cy="594360"/>
          </a:xfrm>
          <a:prstGeom prst="rect">
            <a:avLst/>
          </a:prstGeom>
          <a:noFill/>
          <a:ln/>
        </p:spPr>
        <p:txBody>
          <a:bodyPr wrap="square" lIns="0" tIns="0" rIns="0" bIns="0" rtlCol="0" anchor="t"/>
          <a:lstStyle/>
          <a:p>
            <a:pPr indent="0" marL="0">
              <a:buNone/>
            </a:pPr>
            <a:r>
              <a:rPr lang="en-US" sz="1250" dirty="0">
                <a:solidFill>
                  <a:schemeClr val="tx1"/>
                </a:solidFill>
              </a:rPr>
              <a:t>Explains what is driving citations, names the standout paper, recommends how to grow reach.</a:t>
            </a:r>
            <a:endParaRPr lang="en-US" sz="1250" dirty="0"/>
          </a:p>
        </p:txBody>
      </p:sp>
      <p:sp>
        <p:nvSpPr>
          <p:cNvPr id="13" name="Compliance dashboard"/>
          <p:cNvSpPr/>
          <p:nvPr/>
        </p:nvSpPr>
        <p:spPr>
          <a:xfrm>
            <a:off x="7635240" y="2926080"/>
            <a:ext cx="4023360" cy="1371600"/>
          </a:xfrm>
          <a:prstGeom prst="roundRect">
            <a:avLst>
              <a:gd name="adj" fmla="val 6667"/>
            </a:avLst>
          </a:prstGeom>
          <a:solidFill>
            <a:srgbClr val="F6F4FB"/>
          </a:solidFill>
          <a:ln w="9525">
            <a:solidFill>
              <a:srgbClr val="DDD8EC"/>
            </a:solidFill>
            <a:prstDash val="solid"/>
          </a:ln>
        </p:spPr>
      </p:sp>
      <p:sp>
        <p:nvSpPr>
          <p:cNvPr id="14" name="Shape 10"/>
          <p:cNvSpPr/>
          <p:nvPr/>
        </p:nvSpPr>
        <p:spPr>
          <a:xfrm>
            <a:off x="7818120" y="3127248"/>
            <a:ext cx="502920" cy="502920"/>
          </a:xfrm>
          <a:prstGeom prst="ellipse">
            <a:avLst/>
          </a:prstGeom>
          <a:solidFill>
            <a:srgbClr val="7E5BB5"/>
          </a:solidFill>
          <a:ln w="12700">
            <a:solidFill>
              <a:srgbClr val="7E5BB5"/>
            </a:solidFill>
            <a:prstDash val="solid"/>
          </a:ln>
        </p:spPr>
      </p:sp>
      <p:pic>
        <p:nvPicPr>
          <p:cNvPr id="15" name="Image 2" descr="preencoded.png">    </p:cNvPr>
          <p:cNvPicPr>
            <a:picLocks noChangeAspect="1"/>
          </p:cNvPicPr>
          <p:nvPr/>
        </p:nvPicPr>
        <p:blipFill>
          <a:blip r:embed="rId3"/>
          <a:stretch>
            <a:fillRect/>
          </a:stretch>
        </p:blipFill>
        <p:spPr>
          <a:xfrm>
            <a:off x="7938821" y="3247949"/>
            <a:ext cx="261518" cy="261518"/>
          </a:xfrm>
          <a:prstGeom prst="rect">
            <a:avLst/>
          </a:prstGeom>
        </p:spPr>
      </p:pic>
      <p:sp>
        <p:nvSpPr>
          <p:cNvPr id="16" name="Text 11"/>
          <p:cNvSpPr txBox="1"/>
          <p:nvPr/>
        </p:nvSpPr>
        <p:spPr>
          <a:xfrm>
            <a:off x="8458200" y="3127248"/>
            <a:ext cx="3063240" cy="457200"/>
          </a:xfrm>
          <a:prstGeom prst="rect">
            <a:avLst/>
          </a:prstGeom>
          <a:noFill/>
          <a:ln/>
        </p:spPr>
        <p:txBody>
          <a:bodyPr wrap="square" lIns="0" tIns="0" rIns="0" bIns="0" rtlCol="0" anchor="ctr"/>
          <a:lstStyle/>
          <a:p>
            <a:pPr indent="0" marL="0">
              <a:buNone/>
            </a:pPr>
            <a:r>
              <a:rPr lang="en-US" sz="1500" b="1" dirty="0">
                <a:solidFill>
                  <a:schemeClr val="tx2"/>
                </a:solidFill>
              </a:rPr>
              <a:t>Compliance dashboard</a:t>
            </a:r>
            <a:endParaRPr lang="en-US" sz="1500" dirty="0"/>
          </a:p>
        </p:txBody>
      </p:sp>
      <p:sp>
        <p:nvSpPr>
          <p:cNvPr id="17" name="Text 12"/>
          <p:cNvSpPr txBox="1"/>
          <p:nvPr/>
        </p:nvSpPr>
        <p:spPr>
          <a:xfrm>
            <a:off x="7818120" y="3657600"/>
            <a:ext cx="3703320" cy="594360"/>
          </a:xfrm>
          <a:prstGeom prst="rect">
            <a:avLst/>
          </a:prstGeom>
          <a:noFill/>
          <a:ln/>
        </p:spPr>
        <p:txBody>
          <a:bodyPr wrap="square" lIns="0" tIns="0" rIns="0" bIns="0" rtlCol="0" anchor="t"/>
          <a:lstStyle/>
          <a:p>
            <a:pPr indent="0" marL="0">
              <a:buNone/>
            </a:pPr>
            <a:r>
              <a:rPr lang="en-US" sz="1250" dirty="0">
                <a:solidFill>
                  <a:schemeClr val="tx1"/>
                </a:solidFill>
              </a:rPr>
              <a:t>Highlights approvals nearing expiry, open ethics conditions and integrity checks to run.</a:t>
            </a:r>
            <a:endParaRPr lang="en-US" sz="1250" dirty="0"/>
          </a:p>
        </p:txBody>
      </p:sp>
      <p:sp>
        <p:nvSpPr>
          <p:cNvPr id="18" name="Projects &amp; grants dashboard"/>
          <p:cNvSpPr/>
          <p:nvPr/>
        </p:nvSpPr>
        <p:spPr>
          <a:xfrm>
            <a:off x="7635240" y="4434840"/>
            <a:ext cx="4023360" cy="1371600"/>
          </a:xfrm>
          <a:prstGeom prst="roundRect">
            <a:avLst>
              <a:gd name="adj" fmla="val 6667"/>
            </a:avLst>
          </a:prstGeom>
          <a:solidFill>
            <a:srgbClr val="F6F4FB"/>
          </a:solidFill>
          <a:ln w="9525">
            <a:solidFill>
              <a:srgbClr val="DDD8EC"/>
            </a:solidFill>
            <a:prstDash val="solid"/>
          </a:ln>
        </p:spPr>
      </p:sp>
      <p:sp>
        <p:nvSpPr>
          <p:cNvPr id="19" name="Shape 14"/>
          <p:cNvSpPr/>
          <p:nvPr/>
        </p:nvSpPr>
        <p:spPr>
          <a:xfrm>
            <a:off x="7818120" y="4636008"/>
            <a:ext cx="502920" cy="502920"/>
          </a:xfrm>
          <a:prstGeom prst="ellipse">
            <a:avLst/>
          </a:prstGeom>
          <a:solidFill>
            <a:srgbClr val="7E5BB5"/>
          </a:solidFill>
          <a:ln w="12700">
            <a:solidFill>
              <a:srgbClr val="7E5BB5"/>
            </a:solidFill>
            <a:prstDash val="solid"/>
          </a:ln>
        </p:spPr>
      </p:sp>
      <p:pic>
        <p:nvPicPr>
          <p:cNvPr id="20" name="Image 3" descr="preencoded.png">    </p:cNvPr>
          <p:cNvPicPr>
            <a:picLocks noChangeAspect="1"/>
          </p:cNvPicPr>
          <p:nvPr/>
        </p:nvPicPr>
        <p:blipFill>
          <a:blip r:embed="rId4"/>
          <a:stretch>
            <a:fillRect/>
          </a:stretch>
        </p:blipFill>
        <p:spPr>
          <a:xfrm>
            <a:off x="7938821" y="4756709"/>
            <a:ext cx="261518" cy="261518"/>
          </a:xfrm>
          <a:prstGeom prst="rect">
            <a:avLst/>
          </a:prstGeom>
        </p:spPr>
      </p:pic>
      <p:sp>
        <p:nvSpPr>
          <p:cNvPr id="21" name="Text 15"/>
          <p:cNvSpPr txBox="1"/>
          <p:nvPr/>
        </p:nvSpPr>
        <p:spPr>
          <a:xfrm>
            <a:off x="8458200" y="4636008"/>
            <a:ext cx="3063240" cy="457200"/>
          </a:xfrm>
          <a:prstGeom prst="rect">
            <a:avLst/>
          </a:prstGeom>
          <a:noFill/>
          <a:ln/>
        </p:spPr>
        <p:txBody>
          <a:bodyPr wrap="square" lIns="0" tIns="0" rIns="0" bIns="0" rtlCol="0" anchor="ctr"/>
          <a:lstStyle/>
          <a:p>
            <a:pPr indent="0" marL="0">
              <a:buNone/>
            </a:pPr>
            <a:r>
              <a:rPr lang="en-US" sz="1500" b="1" dirty="0">
                <a:solidFill>
                  <a:schemeClr val="tx2"/>
                </a:solidFill>
              </a:rPr>
              <a:t>Projects &amp; grants dashboard</a:t>
            </a:r>
            <a:endParaRPr lang="en-US" sz="1500" dirty="0"/>
          </a:p>
        </p:txBody>
      </p:sp>
      <p:sp>
        <p:nvSpPr>
          <p:cNvPr id="22" name="Text 16"/>
          <p:cNvSpPr txBox="1"/>
          <p:nvPr/>
        </p:nvSpPr>
        <p:spPr>
          <a:xfrm>
            <a:off x="7818120" y="5166360"/>
            <a:ext cx="3703320" cy="594360"/>
          </a:xfrm>
          <a:prstGeom prst="rect">
            <a:avLst/>
          </a:prstGeom>
          <a:noFill/>
          <a:ln/>
        </p:spPr>
        <p:txBody>
          <a:bodyPr wrap="square" lIns="0" tIns="0" rIns="0" bIns="0" rtlCol="0" anchor="t"/>
          <a:lstStyle/>
          <a:p>
            <a:pPr indent="0" marL="0">
              <a:buNone/>
            </a:pPr>
            <a:r>
              <a:rPr lang="en-US" sz="1250" dirty="0">
                <a:solidFill>
                  <a:schemeClr val="tx1"/>
                </a:solidFill>
              </a:rPr>
              <a:t>Summarises the pipeline, flags revisions and overdue milestones, suggests the next action.</a:t>
            </a:r>
            <a:endParaRPr lang="en-US" sz="1250" dirty="0"/>
          </a:p>
        </p:txBody>
      </p:sp>
      <p:sp>
        <p:nvSpPr>
          <p:cNvPr id="23" name="Text 17"/>
          <p:cNvSpPr txBox="1"/>
          <p:nvPr/>
        </p:nvSpPr>
        <p:spPr>
          <a:xfrm>
            <a:off x="548640" y="5669280"/>
            <a:ext cx="6583680" cy="548640"/>
          </a:xfrm>
          <a:prstGeom prst="rect">
            <a:avLst/>
          </a:prstGeom>
          <a:noFill/>
          <a:ln/>
        </p:spPr>
        <p:txBody>
          <a:bodyPr wrap="square" lIns="0" tIns="0" rIns="0" bIns="0" rtlCol="0" anchor="t"/>
          <a:lstStyle/>
          <a:p>
            <a:pPr indent="0" marL="0">
              <a:buNone/>
            </a:pPr>
            <a:r>
              <a:rPr lang="en-US" sz="1400" b="1" dirty="0">
                <a:solidFill>
                  <a:srgbClr val="7E5BB5"/>
                </a:solidFill>
              </a:rPr>
              <a:t>Always available: </a:t>
            </a:r>
            <a:pPr indent="0" marL="0">
              <a:buNone/>
            </a:pPr>
            <a:r>
              <a:rPr lang="en-US" sz="1400" dirty="0">
                <a:solidFill>
                  <a:schemeClr val="tx1"/>
                </a:solidFill>
              </a:rPr>
              <a:t>if the AI service is unreachable, dashboards fall back to rule-based insights, so pages never break.</a:t>
            </a:r>
            <a:endParaRPr lang="en-US" sz="14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C78"/>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chemeClr val="tx2"/>
                </a:solidFill>
              </a:rPr>
              <a:t>Responsible AI, designed for health research</a:t>
            </a:r>
            <a:endParaRPr lang="en-US" sz="3200" dirty="0"/>
          </a:p>
        </p:txBody>
      </p:sp>
      <p:sp>
        <p:nvSpPr>
          <p:cNvPr id="3" name="Text 1"/>
          <p:cNvSpPr txBox="1"/>
          <p:nvPr/>
        </p:nvSpPr>
        <p:spPr>
          <a:xfrm>
            <a:off x="548640" y="1143000"/>
            <a:ext cx="11064240" cy="457200"/>
          </a:xfrm>
          <a:prstGeom prst="rect">
            <a:avLst/>
          </a:prstGeom>
          <a:noFill/>
          <a:ln/>
        </p:spPr>
        <p:txBody>
          <a:bodyPr wrap="square" lIns="0" tIns="0" rIns="0" bIns="0" rtlCol="0" anchor="ctr"/>
          <a:lstStyle/>
          <a:p>
            <a:pPr indent="0" marL="0">
              <a:buNone/>
            </a:pPr>
            <a:r>
              <a:rPr lang="en-US" sz="1600" dirty="0">
                <a:solidFill>
                  <a:schemeClr val="tx1"/>
                </a:solidFill>
              </a:rPr>
              <a:t>How a request flows through the AI layer, and the safeguards around it.</a:t>
            </a:r>
            <a:endParaRPr lang="en-US" sz="1600" dirty="0"/>
          </a:p>
        </p:txBody>
      </p:sp>
      <p:sp>
        <p:nvSpPr>
          <p:cNvPr id="4" name="Flow 1"/>
          <p:cNvSpPr/>
          <p:nvPr/>
        </p:nvSpPr>
        <p:spPr>
          <a:xfrm>
            <a:off x="548640" y="1783080"/>
            <a:ext cx="2514600" cy="2148840"/>
          </a:xfrm>
          <a:prstGeom prst="roundRect">
            <a:avLst>
              <a:gd name="adj" fmla="val 4255"/>
            </a:avLst>
          </a:prstGeom>
          <a:solidFill>
            <a:srgbClr val="F6F4FB"/>
          </a:solidFill>
          <a:ln w="9525">
            <a:solidFill>
              <a:srgbClr val="DDD8EC"/>
            </a:solidFill>
            <a:prstDash val="solid"/>
          </a:ln>
        </p:spPr>
      </p:sp>
      <p:sp>
        <p:nvSpPr>
          <p:cNvPr id="5" name="Shape 3"/>
          <p:cNvSpPr/>
          <p:nvPr/>
        </p:nvSpPr>
        <p:spPr>
          <a:xfrm>
            <a:off x="777240" y="2011680"/>
            <a:ext cx="548640" cy="548640"/>
          </a:xfrm>
          <a:prstGeom prst="ellipse">
            <a:avLst/>
          </a:prstGeom>
          <a:solidFill>
            <a:srgbClr val="7E5BB5"/>
          </a:solidFill>
          <a:ln w="12700">
            <a:solidFill>
              <a:srgbClr val="7E5BB5"/>
            </a:solidFill>
            <a:prstDash val="solid"/>
          </a:ln>
        </p:spPr>
      </p:sp>
      <p:pic>
        <p:nvPicPr>
          <p:cNvPr id="6" name="Image 0" descr="preencoded.png">    </p:cNvPr>
          <p:cNvPicPr>
            <a:picLocks noChangeAspect="1"/>
          </p:cNvPicPr>
          <p:nvPr/>
        </p:nvPicPr>
        <p:blipFill>
          <a:blip r:embed="rId1"/>
          <a:stretch>
            <a:fillRect/>
          </a:stretch>
        </p:blipFill>
        <p:spPr>
          <a:xfrm>
            <a:off x="908914" y="2143354"/>
            <a:ext cx="285293" cy="285293"/>
          </a:xfrm>
          <a:prstGeom prst="rect">
            <a:avLst/>
          </a:prstGeom>
        </p:spPr>
      </p:pic>
      <p:sp>
        <p:nvSpPr>
          <p:cNvPr id="7" name="Text 4"/>
          <p:cNvSpPr txBox="1"/>
          <p:nvPr/>
        </p:nvSpPr>
        <p:spPr>
          <a:xfrm>
            <a:off x="777240" y="2697480"/>
            <a:ext cx="2057400" cy="365760"/>
          </a:xfrm>
          <a:prstGeom prst="rect">
            <a:avLst/>
          </a:prstGeom>
          <a:noFill/>
          <a:ln/>
        </p:spPr>
        <p:txBody>
          <a:bodyPr wrap="square" lIns="0" tIns="0" rIns="0" bIns="0" rtlCol="0" anchor="ctr"/>
          <a:lstStyle/>
          <a:p>
            <a:pPr indent="0" marL="0">
              <a:buNone/>
            </a:pPr>
            <a:r>
              <a:rPr lang="en-US" sz="1500" b="1" dirty="0">
                <a:solidFill>
                  <a:srgbClr val="1C1B3A"/>
                </a:solidFill>
              </a:rPr>
              <a:t>Your research record</a:t>
            </a:r>
            <a:endParaRPr lang="en-US" sz="1500" dirty="0"/>
          </a:p>
        </p:txBody>
      </p:sp>
      <p:sp>
        <p:nvSpPr>
          <p:cNvPr id="8" name="Text 5"/>
          <p:cNvSpPr txBox="1"/>
          <p:nvPr/>
        </p:nvSpPr>
        <p:spPr>
          <a:xfrm>
            <a:off x="777240" y="3090672"/>
            <a:ext cx="2057400" cy="777240"/>
          </a:xfrm>
          <a:prstGeom prst="rect">
            <a:avLst/>
          </a:prstGeom>
          <a:noFill/>
          <a:ln/>
        </p:spPr>
        <p:txBody>
          <a:bodyPr wrap="square" lIns="0" tIns="0" rIns="0" bIns="0" rtlCol="0" anchor="t"/>
          <a:lstStyle/>
          <a:p>
            <a:pPr indent="0" marL="0">
              <a:buNone/>
            </a:pPr>
            <a:r>
              <a:rPr lang="en-US" sz="1250" dirty="0">
                <a:solidFill>
                  <a:srgbClr val="22213A"/>
                </a:solidFill>
              </a:rPr>
              <a:t>Only what the task needs: a title and abstract, or aggregated dashboard metrics</a:t>
            </a:r>
            <a:endParaRPr lang="en-US" sz="1250" dirty="0"/>
          </a:p>
        </p:txBody>
      </p:sp>
      <p:pic>
        <p:nvPicPr>
          <p:cNvPr id="9" name="Image 1" descr="preencoded.png">    </p:cNvPr>
          <p:cNvPicPr>
            <a:picLocks noChangeAspect="1"/>
          </p:cNvPicPr>
          <p:nvPr/>
        </p:nvPicPr>
        <p:blipFill>
          <a:blip r:embed="rId2"/>
          <a:stretch>
            <a:fillRect/>
          </a:stretch>
        </p:blipFill>
        <p:spPr>
          <a:xfrm>
            <a:off x="3127248" y="2697480"/>
            <a:ext cx="210312" cy="274320"/>
          </a:xfrm>
          <a:prstGeom prst="rect">
            <a:avLst/>
          </a:prstGeom>
        </p:spPr>
      </p:pic>
      <p:sp>
        <p:nvSpPr>
          <p:cNvPr id="10" name="Flow 2"/>
          <p:cNvSpPr/>
          <p:nvPr/>
        </p:nvSpPr>
        <p:spPr>
          <a:xfrm>
            <a:off x="3401568" y="1783080"/>
            <a:ext cx="2514600" cy="2148840"/>
          </a:xfrm>
          <a:prstGeom prst="roundRect">
            <a:avLst>
              <a:gd name="adj" fmla="val 4255"/>
            </a:avLst>
          </a:prstGeom>
          <a:solidFill>
            <a:srgbClr val="1C1B3A"/>
          </a:solidFill>
          <a:ln w="9525">
            <a:solidFill>
              <a:srgbClr val="1C1B3A"/>
            </a:solidFill>
            <a:prstDash val="solid"/>
          </a:ln>
        </p:spPr>
      </p:sp>
      <p:sp>
        <p:nvSpPr>
          <p:cNvPr id="11" name="Shape 7"/>
          <p:cNvSpPr/>
          <p:nvPr/>
        </p:nvSpPr>
        <p:spPr>
          <a:xfrm>
            <a:off x="3630168" y="2011680"/>
            <a:ext cx="548640" cy="548640"/>
          </a:xfrm>
          <a:prstGeom prst="ellipse">
            <a:avLst/>
          </a:prstGeom>
          <a:solidFill>
            <a:srgbClr val="2A9DC0"/>
          </a:solidFill>
          <a:ln w="12700">
            <a:solidFill>
              <a:srgbClr val="2A9DC0"/>
            </a:solidFill>
            <a:prstDash val="solid"/>
          </a:ln>
        </p:spPr>
      </p:sp>
      <p:pic>
        <p:nvPicPr>
          <p:cNvPr id="12" name="Image 2" descr="preencoded.png">    </p:cNvPr>
          <p:cNvPicPr>
            <a:picLocks noChangeAspect="1"/>
          </p:cNvPicPr>
          <p:nvPr/>
        </p:nvPicPr>
        <p:blipFill>
          <a:blip r:embed="rId3"/>
          <a:stretch>
            <a:fillRect/>
          </a:stretch>
        </p:blipFill>
        <p:spPr>
          <a:xfrm>
            <a:off x="3761842" y="2143354"/>
            <a:ext cx="285293" cy="285293"/>
          </a:xfrm>
          <a:prstGeom prst="rect">
            <a:avLst/>
          </a:prstGeom>
        </p:spPr>
      </p:pic>
      <p:sp>
        <p:nvSpPr>
          <p:cNvPr id="13" name="Text 8"/>
          <p:cNvSpPr txBox="1"/>
          <p:nvPr/>
        </p:nvSpPr>
        <p:spPr>
          <a:xfrm>
            <a:off x="3630168" y="2697480"/>
            <a:ext cx="2057400" cy="365760"/>
          </a:xfrm>
          <a:prstGeom prst="rect">
            <a:avLst/>
          </a:prstGeom>
          <a:noFill/>
          <a:ln/>
        </p:spPr>
        <p:txBody>
          <a:bodyPr wrap="square" lIns="0" tIns="0" rIns="0" bIns="0" rtlCol="0" anchor="ctr"/>
          <a:lstStyle/>
          <a:p>
            <a:pPr indent="0" marL="0">
              <a:buNone/>
            </a:pPr>
            <a:r>
              <a:rPr lang="en-US" sz="1500" b="1" dirty="0">
                <a:solidFill>
                  <a:srgbClr val="FFFFFF"/>
                </a:solidFill>
              </a:rPr>
              <a:t>HospitiumRIS AI layer</a:t>
            </a:r>
            <a:endParaRPr lang="en-US" sz="1500" dirty="0"/>
          </a:p>
        </p:txBody>
      </p:sp>
      <p:sp>
        <p:nvSpPr>
          <p:cNvPr id="14" name="Text 9"/>
          <p:cNvSpPr txBox="1"/>
          <p:nvPr/>
        </p:nvSpPr>
        <p:spPr>
          <a:xfrm>
            <a:off x="3630168" y="3090672"/>
            <a:ext cx="2057400" cy="777240"/>
          </a:xfrm>
          <a:prstGeom prst="rect">
            <a:avLst/>
          </a:prstGeom>
          <a:noFill/>
          <a:ln/>
        </p:spPr>
        <p:txBody>
          <a:bodyPr wrap="square" lIns="0" tIns="0" rIns="0" bIns="0" rtlCol="0" anchor="t"/>
          <a:lstStyle/>
          <a:p>
            <a:pPr indent="0" marL="0">
              <a:buNone/>
            </a:pPr>
            <a:r>
              <a:rPr lang="en-US" sz="1250" dirty="0">
                <a:solidFill>
                  <a:srgbClr val="E4E1F3"/>
                </a:solidFill>
              </a:rPr>
              <a:t>Purpose-built prompts, structured output, model choice per institution</a:t>
            </a:r>
            <a:endParaRPr lang="en-US" sz="1250" dirty="0"/>
          </a:p>
        </p:txBody>
      </p:sp>
      <p:pic>
        <p:nvPicPr>
          <p:cNvPr id="15" name="Image 3" descr="preencoded.png">    </p:cNvPr>
          <p:cNvPicPr>
            <a:picLocks noChangeAspect="1"/>
          </p:cNvPicPr>
          <p:nvPr/>
        </p:nvPicPr>
        <p:blipFill>
          <a:blip r:embed="rId4"/>
          <a:stretch>
            <a:fillRect/>
          </a:stretch>
        </p:blipFill>
        <p:spPr>
          <a:xfrm>
            <a:off x="5980176" y="2697480"/>
            <a:ext cx="210312" cy="274320"/>
          </a:xfrm>
          <a:prstGeom prst="rect">
            <a:avLst/>
          </a:prstGeom>
        </p:spPr>
      </p:pic>
      <p:sp>
        <p:nvSpPr>
          <p:cNvPr id="16" name="Flow 3"/>
          <p:cNvSpPr/>
          <p:nvPr/>
        </p:nvSpPr>
        <p:spPr>
          <a:xfrm>
            <a:off x="6254496" y="1783080"/>
            <a:ext cx="2514600" cy="2148840"/>
          </a:xfrm>
          <a:prstGeom prst="roundRect">
            <a:avLst>
              <a:gd name="adj" fmla="val 4255"/>
            </a:avLst>
          </a:prstGeom>
          <a:solidFill>
            <a:srgbClr val="F6F4FB"/>
          </a:solidFill>
          <a:ln w="9525">
            <a:solidFill>
              <a:srgbClr val="DDD8EC"/>
            </a:solidFill>
            <a:prstDash val="solid"/>
          </a:ln>
        </p:spPr>
      </p:sp>
      <p:sp>
        <p:nvSpPr>
          <p:cNvPr id="17" name="Shape 11"/>
          <p:cNvSpPr/>
          <p:nvPr/>
        </p:nvSpPr>
        <p:spPr>
          <a:xfrm>
            <a:off x="6483096" y="2011680"/>
            <a:ext cx="548640" cy="548640"/>
          </a:xfrm>
          <a:prstGeom prst="ellipse">
            <a:avLst/>
          </a:prstGeom>
          <a:solidFill>
            <a:srgbClr val="7E5BB5"/>
          </a:solidFill>
          <a:ln w="12700">
            <a:solidFill>
              <a:srgbClr val="7E5BB5"/>
            </a:solidFill>
            <a:prstDash val="solid"/>
          </a:ln>
        </p:spPr>
      </p:sp>
      <p:pic>
        <p:nvPicPr>
          <p:cNvPr id="18" name="Image 4" descr="preencoded.png">    </p:cNvPr>
          <p:cNvPicPr>
            <a:picLocks noChangeAspect="1"/>
          </p:cNvPicPr>
          <p:nvPr/>
        </p:nvPicPr>
        <p:blipFill>
          <a:blip r:embed="rId5"/>
          <a:stretch>
            <a:fillRect/>
          </a:stretch>
        </p:blipFill>
        <p:spPr>
          <a:xfrm>
            <a:off x="6614770" y="2143354"/>
            <a:ext cx="285293" cy="285293"/>
          </a:xfrm>
          <a:prstGeom prst="rect">
            <a:avLst/>
          </a:prstGeom>
        </p:spPr>
      </p:pic>
      <p:sp>
        <p:nvSpPr>
          <p:cNvPr id="19" name="Text 12"/>
          <p:cNvSpPr txBox="1"/>
          <p:nvPr/>
        </p:nvSpPr>
        <p:spPr>
          <a:xfrm>
            <a:off x="6483096" y="2697480"/>
            <a:ext cx="2057400" cy="365760"/>
          </a:xfrm>
          <a:prstGeom prst="rect">
            <a:avLst/>
          </a:prstGeom>
          <a:noFill/>
          <a:ln/>
        </p:spPr>
        <p:txBody>
          <a:bodyPr wrap="square" lIns="0" tIns="0" rIns="0" bIns="0" rtlCol="0" anchor="ctr"/>
          <a:lstStyle/>
          <a:p>
            <a:pPr indent="0" marL="0">
              <a:buNone/>
            </a:pPr>
            <a:r>
              <a:rPr lang="en-US" sz="1500" b="1" dirty="0">
                <a:solidFill>
                  <a:srgbClr val="1C1B3A"/>
                </a:solidFill>
              </a:rPr>
              <a:t>AI model</a:t>
            </a:r>
            <a:endParaRPr lang="en-US" sz="1500" dirty="0"/>
          </a:p>
        </p:txBody>
      </p:sp>
      <p:sp>
        <p:nvSpPr>
          <p:cNvPr id="20" name="Text 13"/>
          <p:cNvSpPr txBox="1"/>
          <p:nvPr/>
        </p:nvSpPr>
        <p:spPr>
          <a:xfrm>
            <a:off x="6483096" y="3090672"/>
            <a:ext cx="2057400" cy="777240"/>
          </a:xfrm>
          <a:prstGeom prst="rect">
            <a:avLst/>
          </a:prstGeom>
          <a:noFill/>
          <a:ln/>
        </p:spPr>
        <p:txBody>
          <a:bodyPr wrap="square" lIns="0" tIns="0" rIns="0" bIns="0" rtlCol="0" anchor="t"/>
          <a:lstStyle/>
          <a:p>
            <a:pPr indent="0" marL="0">
              <a:buNone/>
            </a:pPr>
            <a:r>
              <a:rPr lang="en-US" sz="1250" dirty="0">
                <a:solidFill>
                  <a:srgbClr val="22213A"/>
                </a:solidFill>
              </a:rPr>
              <a:t>Google Gemini or OpenAI, using the institution's own API keys</a:t>
            </a:r>
            <a:endParaRPr lang="en-US" sz="1250" dirty="0"/>
          </a:p>
        </p:txBody>
      </p:sp>
      <p:pic>
        <p:nvPicPr>
          <p:cNvPr id="21" name="Image 5" descr="preencoded.png">    </p:cNvPr>
          <p:cNvPicPr>
            <a:picLocks noChangeAspect="1"/>
          </p:cNvPicPr>
          <p:nvPr/>
        </p:nvPicPr>
        <p:blipFill>
          <a:blip r:embed="rId6"/>
          <a:stretch>
            <a:fillRect/>
          </a:stretch>
        </p:blipFill>
        <p:spPr>
          <a:xfrm>
            <a:off x="8833104" y="2697480"/>
            <a:ext cx="210312" cy="274320"/>
          </a:xfrm>
          <a:prstGeom prst="rect">
            <a:avLst/>
          </a:prstGeom>
        </p:spPr>
      </p:pic>
      <p:sp>
        <p:nvSpPr>
          <p:cNvPr id="22" name="Flow 4"/>
          <p:cNvSpPr/>
          <p:nvPr/>
        </p:nvSpPr>
        <p:spPr>
          <a:xfrm>
            <a:off x="9107424" y="1783080"/>
            <a:ext cx="2514600" cy="2148840"/>
          </a:xfrm>
          <a:prstGeom prst="roundRect">
            <a:avLst>
              <a:gd name="adj" fmla="val 4255"/>
            </a:avLst>
          </a:prstGeom>
          <a:solidFill>
            <a:srgbClr val="F6F4FB"/>
          </a:solidFill>
          <a:ln w="9525">
            <a:solidFill>
              <a:srgbClr val="DDD8EC"/>
            </a:solidFill>
            <a:prstDash val="solid"/>
          </a:ln>
        </p:spPr>
      </p:sp>
      <p:sp>
        <p:nvSpPr>
          <p:cNvPr id="23" name="Shape 15"/>
          <p:cNvSpPr/>
          <p:nvPr/>
        </p:nvSpPr>
        <p:spPr>
          <a:xfrm>
            <a:off x="9336024" y="2011680"/>
            <a:ext cx="548640" cy="548640"/>
          </a:xfrm>
          <a:prstGeom prst="ellipse">
            <a:avLst/>
          </a:prstGeom>
          <a:solidFill>
            <a:srgbClr val="7E5BB5"/>
          </a:solidFill>
          <a:ln w="12700">
            <a:solidFill>
              <a:srgbClr val="7E5BB5"/>
            </a:solidFill>
            <a:prstDash val="solid"/>
          </a:ln>
        </p:spPr>
      </p:sp>
      <p:pic>
        <p:nvPicPr>
          <p:cNvPr id="24" name="Image 6" descr="preencoded.png">    </p:cNvPr>
          <p:cNvPicPr>
            <a:picLocks noChangeAspect="1"/>
          </p:cNvPicPr>
          <p:nvPr/>
        </p:nvPicPr>
        <p:blipFill>
          <a:blip r:embed="rId7"/>
          <a:stretch>
            <a:fillRect/>
          </a:stretch>
        </p:blipFill>
        <p:spPr>
          <a:xfrm>
            <a:off x="9467698" y="2143354"/>
            <a:ext cx="285293" cy="285293"/>
          </a:xfrm>
          <a:prstGeom prst="rect">
            <a:avLst/>
          </a:prstGeom>
        </p:spPr>
      </p:pic>
      <p:sp>
        <p:nvSpPr>
          <p:cNvPr id="25" name="Text 16"/>
          <p:cNvSpPr txBox="1"/>
          <p:nvPr/>
        </p:nvSpPr>
        <p:spPr>
          <a:xfrm>
            <a:off x="9336024" y="2697480"/>
            <a:ext cx="2057400" cy="365760"/>
          </a:xfrm>
          <a:prstGeom prst="rect">
            <a:avLst/>
          </a:prstGeom>
          <a:noFill/>
          <a:ln/>
        </p:spPr>
        <p:txBody>
          <a:bodyPr wrap="square" lIns="0" tIns="0" rIns="0" bIns="0" rtlCol="0" anchor="ctr"/>
          <a:lstStyle/>
          <a:p>
            <a:pPr indent="0" marL="0">
              <a:buNone/>
            </a:pPr>
            <a:r>
              <a:rPr lang="en-US" sz="1500" b="1" dirty="0">
                <a:solidFill>
                  <a:srgbClr val="1C1B3A"/>
                </a:solidFill>
              </a:rPr>
              <a:t>People decide</a:t>
            </a:r>
            <a:endParaRPr lang="en-US" sz="1500" dirty="0"/>
          </a:p>
        </p:txBody>
      </p:sp>
      <p:sp>
        <p:nvSpPr>
          <p:cNvPr id="26" name="Text 17"/>
          <p:cNvSpPr txBox="1"/>
          <p:nvPr/>
        </p:nvSpPr>
        <p:spPr>
          <a:xfrm>
            <a:off x="9336024" y="3090672"/>
            <a:ext cx="2057400" cy="777240"/>
          </a:xfrm>
          <a:prstGeom prst="rect">
            <a:avLst/>
          </a:prstGeom>
          <a:noFill/>
          <a:ln/>
        </p:spPr>
        <p:txBody>
          <a:bodyPr wrap="square" lIns="0" tIns="0" rIns="0" bIns="0" rtlCol="0" anchor="t"/>
          <a:lstStyle/>
          <a:p>
            <a:pPr indent="0" marL="0">
              <a:buNone/>
            </a:pPr>
            <a:r>
              <a:rPr lang="en-US" sz="1250" dirty="0">
                <a:solidFill>
                  <a:srgbClr val="22213A"/>
                </a:solidFill>
              </a:rPr>
              <a:t>Output is labelled as AI-generated; reviewers and researchers stay in control</a:t>
            </a:r>
            <a:endParaRPr lang="en-US" sz="1250" dirty="0"/>
          </a:p>
        </p:txBody>
      </p:sp>
      <p:sp>
        <p:nvSpPr>
          <p:cNvPr id="27" name="Shape 18"/>
          <p:cNvSpPr/>
          <p:nvPr/>
        </p:nvSpPr>
        <p:spPr>
          <a:xfrm>
            <a:off x="548640" y="4251960"/>
            <a:ext cx="457200" cy="457200"/>
          </a:xfrm>
          <a:prstGeom prst="ellipse">
            <a:avLst/>
          </a:prstGeom>
          <a:solidFill>
            <a:srgbClr val="EFEAF8"/>
          </a:solidFill>
          <a:ln w="12700">
            <a:solidFill>
              <a:srgbClr val="EFEAF8"/>
            </a:solidFill>
            <a:prstDash val="solid"/>
          </a:ln>
        </p:spPr>
      </p:sp>
      <p:pic>
        <p:nvPicPr>
          <p:cNvPr id="28" name="Image 7" descr="preencoded.png">    </p:cNvPr>
          <p:cNvPicPr>
            <a:picLocks noChangeAspect="1"/>
          </p:cNvPicPr>
          <p:nvPr/>
        </p:nvPicPr>
        <p:blipFill>
          <a:blip r:embed="rId8"/>
          <a:stretch>
            <a:fillRect/>
          </a:stretch>
        </p:blipFill>
        <p:spPr>
          <a:xfrm>
            <a:off x="658368" y="4361688"/>
            <a:ext cx="237744" cy="237744"/>
          </a:xfrm>
          <a:prstGeom prst="rect">
            <a:avLst/>
          </a:prstGeom>
        </p:spPr>
      </p:pic>
      <p:sp>
        <p:nvSpPr>
          <p:cNvPr id="29" name="Text 19"/>
          <p:cNvSpPr txBox="1"/>
          <p:nvPr/>
        </p:nvSpPr>
        <p:spPr>
          <a:xfrm>
            <a:off x="1143000" y="4224528"/>
            <a:ext cx="4846320" cy="301752"/>
          </a:xfrm>
          <a:prstGeom prst="rect">
            <a:avLst/>
          </a:prstGeom>
          <a:noFill/>
          <a:ln/>
        </p:spPr>
        <p:txBody>
          <a:bodyPr wrap="square" lIns="0" tIns="0" rIns="0" bIns="0" rtlCol="0" anchor="ctr"/>
          <a:lstStyle/>
          <a:p>
            <a:pPr indent="0" marL="0">
              <a:buNone/>
            </a:pPr>
            <a:r>
              <a:rPr lang="en-US" sz="1500" b="1" dirty="0">
                <a:solidFill>
                  <a:schemeClr val="tx2"/>
                </a:solidFill>
              </a:rPr>
              <a:t>No patient records sent</a:t>
            </a:r>
            <a:endParaRPr lang="en-US" sz="1500" dirty="0"/>
          </a:p>
        </p:txBody>
      </p:sp>
      <p:sp>
        <p:nvSpPr>
          <p:cNvPr id="30" name="Text 20"/>
          <p:cNvSpPr txBox="1"/>
          <p:nvPr/>
        </p:nvSpPr>
        <p:spPr>
          <a:xfrm>
            <a:off x="1143000" y="4526280"/>
            <a:ext cx="4846320" cy="457200"/>
          </a:xfrm>
          <a:prstGeom prst="rect">
            <a:avLst/>
          </a:prstGeom>
          <a:noFill/>
          <a:ln/>
        </p:spPr>
        <p:txBody>
          <a:bodyPr wrap="square" lIns="0" tIns="0" rIns="0" bIns="0" rtlCol="0" anchor="t"/>
          <a:lstStyle/>
          <a:p>
            <a:pPr indent="0" marL="0">
              <a:buNone/>
            </a:pPr>
            <a:r>
              <a:rPr lang="en-US" sz="1300" dirty="0">
                <a:solidFill>
                  <a:schemeClr val="tx1"/>
                </a:solidFill>
              </a:rPr>
              <a:t>AI features work on publication text and summary statistics, not clinical data.</a:t>
            </a:r>
            <a:endParaRPr lang="en-US" sz="1300" dirty="0"/>
          </a:p>
        </p:txBody>
      </p:sp>
      <p:sp>
        <p:nvSpPr>
          <p:cNvPr id="31" name="Shape 21"/>
          <p:cNvSpPr/>
          <p:nvPr/>
        </p:nvSpPr>
        <p:spPr>
          <a:xfrm>
            <a:off x="6172200" y="4251960"/>
            <a:ext cx="457200" cy="457200"/>
          </a:xfrm>
          <a:prstGeom prst="ellipse">
            <a:avLst/>
          </a:prstGeom>
          <a:solidFill>
            <a:srgbClr val="EFEAF8"/>
          </a:solidFill>
          <a:ln w="12700">
            <a:solidFill>
              <a:srgbClr val="EFEAF8"/>
            </a:solidFill>
            <a:prstDash val="solid"/>
          </a:ln>
        </p:spPr>
      </p:sp>
      <p:pic>
        <p:nvPicPr>
          <p:cNvPr id="32" name="Image 8" descr="preencoded.png">    </p:cNvPr>
          <p:cNvPicPr>
            <a:picLocks noChangeAspect="1"/>
          </p:cNvPicPr>
          <p:nvPr/>
        </p:nvPicPr>
        <p:blipFill>
          <a:blip r:embed="rId9"/>
          <a:stretch>
            <a:fillRect/>
          </a:stretch>
        </p:blipFill>
        <p:spPr>
          <a:xfrm>
            <a:off x="6281928" y="4361688"/>
            <a:ext cx="237744" cy="237744"/>
          </a:xfrm>
          <a:prstGeom prst="rect">
            <a:avLst/>
          </a:prstGeom>
        </p:spPr>
      </p:pic>
      <p:sp>
        <p:nvSpPr>
          <p:cNvPr id="33" name="Text 22"/>
          <p:cNvSpPr txBox="1"/>
          <p:nvPr/>
        </p:nvSpPr>
        <p:spPr>
          <a:xfrm>
            <a:off x="6766560" y="4224528"/>
            <a:ext cx="4846320" cy="301752"/>
          </a:xfrm>
          <a:prstGeom prst="rect">
            <a:avLst/>
          </a:prstGeom>
          <a:noFill/>
          <a:ln/>
        </p:spPr>
        <p:txBody>
          <a:bodyPr wrap="square" lIns="0" tIns="0" rIns="0" bIns="0" rtlCol="0" anchor="ctr"/>
          <a:lstStyle/>
          <a:p>
            <a:pPr indent="0" marL="0">
              <a:buNone/>
            </a:pPr>
            <a:r>
              <a:rPr lang="en-US" sz="1500" b="1" dirty="0">
                <a:solidFill>
                  <a:schemeClr val="tx2"/>
                </a:solidFill>
              </a:rPr>
              <a:t>Institution in control</a:t>
            </a:r>
            <a:endParaRPr lang="en-US" sz="1500" dirty="0"/>
          </a:p>
        </p:txBody>
      </p:sp>
      <p:sp>
        <p:nvSpPr>
          <p:cNvPr id="34" name="Text 23"/>
          <p:cNvSpPr txBox="1"/>
          <p:nvPr/>
        </p:nvSpPr>
        <p:spPr>
          <a:xfrm>
            <a:off x="6766560" y="4526280"/>
            <a:ext cx="4846320" cy="457200"/>
          </a:xfrm>
          <a:prstGeom prst="rect">
            <a:avLst/>
          </a:prstGeom>
          <a:noFill/>
          <a:ln/>
        </p:spPr>
        <p:txBody>
          <a:bodyPr wrap="square" lIns="0" tIns="0" rIns="0" bIns="0" rtlCol="0" anchor="t"/>
          <a:lstStyle/>
          <a:p>
            <a:pPr indent="0" marL="0">
              <a:buNone/>
            </a:pPr>
            <a:r>
              <a:rPr lang="en-US" sz="1300" dirty="0">
                <a:solidFill>
                  <a:schemeClr val="tx1"/>
                </a:solidFill>
              </a:rPr>
              <a:t>Bring your own keys, choose the provider, or switch AI off entirely.</a:t>
            </a:r>
            <a:endParaRPr lang="en-US" sz="1300" dirty="0"/>
          </a:p>
        </p:txBody>
      </p:sp>
      <p:sp>
        <p:nvSpPr>
          <p:cNvPr id="35" name="Shape 24"/>
          <p:cNvSpPr/>
          <p:nvPr/>
        </p:nvSpPr>
        <p:spPr>
          <a:xfrm>
            <a:off x="548640" y="5166360"/>
            <a:ext cx="457200" cy="457200"/>
          </a:xfrm>
          <a:prstGeom prst="ellipse">
            <a:avLst/>
          </a:prstGeom>
          <a:solidFill>
            <a:srgbClr val="EFEAF8"/>
          </a:solidFill>
          <a:ln w="12700">
            <a:solidFill>
              <a:srgbClr val="EFEAF8"/>
            </a:solidFill>
            <a:prstDash val="solid"/>
          </a:ln>
        </p:spPr>
      </p:sp>
      <p:pic>
        <p:nvPicPr>
          <p:cNvPr id="36" name="Image 9" descr="preencoded.png">    </p:cNvPr>
          <p:cNvPicPr>
            <a:picLocks noChangeAspect="1"/>
          </p:cNvPicPr>
          <p:nvPr/>
        </p:nvPicPr>
        <p:blipFill>
          <a:blip r:embed="rId10"/>
          <a:stretch>
            <a:fillRect/>
          </a:stretch>
        </p:blipFill>
        <p:spPr>
          <a:xfrm>
            <a:off x="658368" y="5276088"/>
            <a:ext cx="237744" cy="237744"/>
          </a:xfrm>
          <a:prstGeom prst="rect">
            <a:avLst/>
          </a:prstGeom>
        </p:spPr>
      </p:pic>
      <p:sp>
        <p:nvSpPr>
          <p:cNvPr id="37" name="Text 25"/>
          <p:cNvSpPr txBox="1"/>
          <p:nvPr/>
        </p:nvSpPr>
        <p:spPr>
          <a:xfrm>
            <a:off x="1143000" y="5138928"/>
            <a:ext cx="4846320" cy="301752"/>
          </a:xfrm>
          <a:prstGeom prst="rect">
            <a:avLst/>
          </a:prstGeom>
          <a:noFill/>
          <a:ln/>
        </p:spPr>
        <p:txBody>
          <a:bodyPr wrap="square" lIns="0" tIns="0" rIns="0" bIns="0" rtlCol="0" anchor="ctr"/>
          <a:lstStyle/>
          <a:p>
            <a:pPr indent="0" marL="0">
              <a:buNone/>
            </a:pPr>
            <a:r>
              <a:rPr lang="en-US" sz="1500" b="1" dirty="0">
                <a:solidFill>
                  <a:schemeClr val="tx2"/>
                </a:solidFill>
              </a:rPr>
              <a:t>Graceful fallback</a:t>
            </a:r>
            <a:endParaRPr lang="en-US" sz="1500" dirty="0"/>
          </a:p>
        </p:txBody>
      </p:sp>
      <p:sp>
        <p:nvSpPr>
          <p:cNvPr id="38" name="Text 26"/>
          <p:cNvSpPr txBox="1"/>
          <p:nvPr/>
        </p:nvSpPr>
        <p:spPr>
          <a:xfrm>
            <a:off x="1143000" y="5440680"/>
            <a:ext cx="4846320" cy="457200"/>
          </a:xfrm>
          <a:prstGeom prst="rect">
            <a:avLst/>
          </a:prstGeom>
          <a:noFill/>
          <a:ln/>
        </p:spPr>
        <p:txBody>
          <a:bodyPr wrap="square" lIns="0" tIns="0" rIns="0" bIns="0" rtlCol="0" anchor="t"/>
          <a:lstStyle/>
          <a:p>
            <a:pPr indent="0" marL="0">
              <a:buNone/>
            </a:pPr>
            <a:r>
              <a:rPr lang="en-US" sz="1300" dirty="0">
                <a:solidFill>
                  <a:schemeClr val="tx1"/>
                </a:solidFill>
              </a:rPr>
              <a:t>Rule-based insights take over if a model is unavailable.</a:t>
            </a:r>
            <a:endParaRPr lang="en-US" sz="1300" dirty="0"/>
          </a:p>
        </p:txBody>
      </p:sp>
      <p:sp>
        <p:nvSpPr>
          <p:cNvPr id="39" name="Shape 27"/>
          <p:cNvSpPr/>
          <p:nvPr/>
        </p:nvSpPr>
        <p:spPr>
          <a:xfrm>
            <a:off x="6172200" y="5166360"/>
            <a:ext cx="457200" cy="457200"/>
          </a:xfrm>
          <a:prstGeom prst="ellipse">
            <a:avLst/>
          </a:prstGeom>
          <a:solidFill>
            <a:srgbClr val="EFEAF8"/>
          </a:solidFill>
          <a:ln w="12700">
            <a:solidFill>
              <a:srgbClr val="EFEAF8"/>
            </a:solidFill>
            <a:prstDash val="solid"/>
          </a:ln>
        </p:spPr>
      </p:sp>
      <p:pic>
        <p:nvPicPr>
          <p:cNvPr id="40" name="Image 10" descr="preencoded.png">    </p:cNvPr>
          <p:cNvPicPr>
            <a:picLocks noChangeAspect="1"/>
          </p:cNvPicPr>
          <p:nvPr/>
        </p:nvPicPr>
        <p:blipFill>
          <a:blip r:embed="rId11"/>
          <a:stretch>
            <a:fillRect/>
          </a:stretch>
        </p:blipFill>
        <p:spPr>
          <a:xfrm>
            <a:off x="6281928" y="5276088"/>
            <a:ext cx="237744" cy="237744"/>
          </a:xfrm>
          <a:prstGeom prst="rect">
            <a:avLst/>
          </a:prstGeom>
        </p:spPr>
      </p:pic>
      <p:sp>
        <p:nvSpPr>
          <p:cNvPr id="41" name="Text 28"/>
          <p:cNvSpPr txBox="1"/>
          <p:nvPr/>
        </p:nvSpPr>
        <p:spPr>
          <a:xfrm>
            <a:off x="6766560" y="5138928"/>
            <a:ext cx="4846320" cy="301752"/>
          </a:xfrm>
          <a:prstGeom prst="rect">
            <a:avLst/>
          </a:prstGeom>
          <a:noFill/>
          <a:ln/>
        </p:spPr>
        <p:txBody>
          <a:bodyPr wrap="square" lIns="0" tIns="0" rIns="0" bIns="0" rtlCol="0" anchor="ctr"/>
          <a:lstStyle/>
          <a:p>
            <a:pPr indent="0" marL="0">
              <a:buNone/>
            </a:pPr>
            <a:r>
              <a:rPr lang="en-US" sz="1500" b="1" dirty="0">
                <a:solidFill>
                  <a:schemeClr val="tx2"/>
                </a:solidFill>
              </a:rPr>
              <a:t>Transparent by default</a:t>
            </a:r>
            <a:endParaRPr lang="en-US" sz="1500" dirty="0"/>
          </a:p>
        </p:txBody>
      </p:sp>
      <p:sp>
        <p:nvSpPr>
          <p:cNvPr id="42" name="Text 29"/>
          <p:cNvSpPr txBox="1"/>
          <p:nvPr/>
        </p:nvSpPr>
        <p:spPr>
          <a:xfrm>
            <a:off x="6766560" y="5440680"/>
            <a:ext cx="4846320" cy="457200"/>
          </a:xfrm>
          <a:prstGeom prst="rect">
            <a:avLst/>
          </a:prstGeom>
          <a:noFill/>
          <a:ln/>
        </p:spPr>
        <p:txBody>
          <a:bodyPr wrap="square" lIns="0" tIns="0" rIns="0" bIns="0" rtlCol="0" anchor="t"/>
          <a:lstStyle/>
          <a:p>
            <a:pPr indent="0" marL="0">
              <a:buNone/>
            </a:pPr>
            <a:r>
              <a:rPr lang="en-US" sz="1300" dirty="0">
                <a:solidFill>
                  <a:schemeClr val="tx1"/>
                </a:solidFill>
              </a:rPr>
              <a:t>Every AI output is marked, and nothing is changed without a person acting.</a:t>
            </a:r>
            <a:endParaRPr lang="en-US" sz="13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C78"/>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chemeClr val="tx2"/>
                </a:solidFill>
              </a:rPr>
              <a:t>AI roadmap: from insight to assistance</a:t>
            </a:r>
            <a:endParaRPr lang="en-US" sz="3200" dirty="0"/>
          </a:p>
        </p:txBody>
      </p:sp>
      <p:sp>
        <p:nvSpPr>
          <p:cNvPr id="3" name="Text 1"/>
          <p:cNvSpPr txBox="1"/>
          <p:nvPr/>
        </p:nvSpPr>
        <p:spPr>
          <a:xfrm>
            <a:off x="548640" y="1143000"/>
            <a:ext cx="11064240" cy="457200"/>
          </a:xfrm>
          <a:prstGeom prst="rect">
            <a:avLst/>
          </a:prstGeom>
          <a:noFill/>
          <a:ln/>
        </p:spPr>
        <p:txBody>
          <a:bodyPr wrap="square" lIns="0" tIns="0" rIns="0" bIns="0" rtlCol="0" anchor="ctr"/>
          <a:lstStyle/>
          <a:p>
            <a:pPr indent="0" marL="0">
              <a:buNone/>
            </a:pPr>
            <a:r>
              <a:rPr lang="en-US" sz="1600" dirty="0">
                <a:solidFill>
                  <a:schemeClr val="tx1"/>
                </a:solidFill>
              </a:rPr>
              <a:t>Planned capabilities that build on the same research record. Pilot institutions help shape priorities.</a:t>
            </a:r>
            <a:endParaRPr lang="en-US" sz="1600" dirty="0"/>
          </a:p>
        </p:txBody>
      </p:sp>
      <p:sp>
        <p:nvSpPr>
          <p:cNvPr id="4" name="Roadmap LIVE TODAY"/>
          <p:cNvSpPr/>
          <p:nvPr/>
        </p:nvSpPr>
        <p:spPr>
          <a:xfrm>
            <a:off x="548640" y="1737360"/>
            <a:ext cx="3566160" cy="3429000"/>
          </a:xfrm>
          <a:prstGeom prst="roundRect">
            <a:avLst>
              <a:gd name="adj" fmla="val 2667"/>
            </a:avLst>
          </a:prstGeom>
          <a:solidFill>
            <a:srgbClr val="EFEAF8"/>
          </a:solidFill>
          <a:ln w="9525">
            <a:solidFill>
              <a:srgbClr val="DDD8EC"/>
            </a:solidFill>
            <a:prstDash val="solid"/>
          </a:ln>
        </p:spPr>
      </p:sp>
      <p:sp>
        <p:nvSpPr>
          <p:cNvPr id="5" name="Shape 3"/>
          <p:cNvSpPr/>
          <p:nvPr/>
        </p:nvSpPr>
        <p:spPr>
          <a:xfrm>
            <a:off x="777240" y="1965960"/>
            <a:ext cx="1463040" cy="384048"/>
          </a:xfrm>
          <a:prstGeom prst="roundRect">
            <a:avLst>
              <a:gd name="adj" fmla="val 50000"/>
            </a:avLst>
          </a:prstGeom>
          <a:solidFill>
            <a:srgbClr val="7E5BB5"/>
          </a:solidFill>
          <a:ln w="12700">
            <a:solidFill>
              <a:srgbClr val="7E5BB5"/>
            </a:solidFill>
            <a:prstDash val="solid"/>
          </a:ln>
        </p:spPr>
      </p:sp>
      <p:sp>
        <p:nvSpPr>
          <p:cNvPr id="6" name="Text 4"/>
          <p:cNvSpPr txBox="1"/>
          <p:nvPr/>
        </p:nvSpPr>
        <p:spPr>
          <a:xfrm>
            <a:off x="777240" y="1965960"/>
            <a:ext cx="1463040"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rPr>
              <a:t>LIVE TODAY</a:t>
            </a:r>
            <a:endParaRPr lang="en-US" sz="1200" dirty="0"/>
          </a:p>
        </p:txBody>
      </p:sp>
      <p:sp>
        <p:nvSpPr>
          <p:cNvPr id="7" name="Text 5"/>
          <p:cNvSpPr txBox="1"/>
          <p:nvPr/>
        </p:nvSpPr>
        <p:spPr>
          <a:xfrm>
            <a:off x="777240" y="2606040"/>
            <a:ext cx="3108960" cy="24688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Publication summaries and keywords</a:t>
            </a:r>
            <a:endParaRPr lang="en-US" sz="1400" dirty="0"/>
          </a:p>
          <a:p>
            <a:pPr marL="342900" indent="-342900">
              <a:spcAft>
                <a:spcPts val="1000"/>
              </a:spcAft>
              <a:buSzPct val="100000"/>
              <a:buChar char="•"/>
            </a:pPr>
            <a:r>
              <a:rPr lang="en-US" sz="1400" dirty="0">
                <a:solidFill>
                  <a:schemeClr val="tx1"/>
                </a:solidFill>
              </a:rPr>
              <a:t>Impact, compliance and project insights</a:t>
            </a:r>
            <a:endParaRPr lang="en-US" sz="1400" dirty="0"/>
          </a:p>
          <a:p>
            <a:pPr marL="342900" indent="-342900">
              <a:spcAft>
                <a:spcPts val="1000"/>
              </a:spcAft>
              <a:buSzPct val="100000"/>
              <a:buChar char="•"/>
            </a:pPr>
            <a:r>
              <a:rPr lang="en-US" sz="1400" dirty="0">
                <a:solidFill>
                  <a:schemeClr val="tx1"/>
                </a:solidFill>
              </a:rPr>
              <a:t>Image integrity detection</a:t>
            </a:r>
            <a:endParaRPr lang="en-US" sz="1400" dirty="0"/>
          </a:p>
          <a:p>
            <a:pPr marL="342900" indent="-342900">
              <a:spcAft>
                <a:spcPts val="1000"/>
              </a:spcAft>
              <a:buSzPct val="100000"/>
              <a:buChar char="•"/>
            </a:pPr>
            <a:r>
              <a:rPr lang="en-US" sz="1400" dirty="0">
                <a:solidFill>
                  <a:schemeClr val="tx1"/>
                </a:solidFill>
              </a:rPr>
              <a:t>Automated pre-review checks</a:t>
            </a:r>
            <a:endParaRPr lang="en-US" sz="1400" dirty="0"/>
          </a:p>
        </p:txBody>
      </p:sp>
      <p:sp>
        <p:nvSpPr>
          <p:cNvPr id="8" name="Roadmap NEXT"/>
          <p:cNvSpPr/>
          <p:nvPr/>
        </p:nvSpPr>
        <p:spPr>
          <a:xfrm>
            <a:off x="4297680" y="1737360"/>
            <a:ext cx="3566160" cy="3429000"/>
          </a:xfrm>
          <a:prstGeom prst="roundRect">
            <a:avLst>
              <a:gd name="adj" fmla="val 2667"/>
            </a:avLst>
          </a:prstGeom>
          <a:solidFill>
            <a:srgbClr val="F6F4FB"/>
          </a:solidFill>
          <a:ln w="9525">
            <a:solidFill>
              <a:srgbClr val="DDD8EC"/>
            </a:solidFill>
            <a:prstDash val="solid"/>
          </a:ln>
        </p:spPr>
      </p:sp>
      <p:sp>
        <p:nvSpPr>
          <p:cNvPr id="9" name="Shape 7"/>
          <p:cNvSpPr/>
          <p:nvPr/>
        </p:nvSpPr>
        <p:spPr>
          <a:xfrm>
            <a:off x="4526280" y="1965960"/>
            <a:ext cx="1463040" cy="384048"/>
          </a:xfrm>
          <a:prstGeom prst="roundRect">
            <a:avLst>
              <a:gd name="adj" fmla="val 50000"/>
            </a:avLst>
          </a:prstGeom>
          <a:solidFill>
            <a:srgbClr val="2A9DC0"/>
          </a:solidFill>
          <a:ln w="12700">
            <a:solidFill>
              <a:srgbClr val="2A9DC0"/>
            </a:solidFill>
            <a:prstDash val="solid"/>
          </a:ln>
        </p:spPr>
      </p:sp>
      <p:sp>
        <p:nvSpPr>
          <p:cNvPr id="10" name="Text 8"/>
          <p:cNvSpPr txBox="1"/>
          <p:nvPr/>
        </p:nvSpPr>
        <p:spPr>
          <a:xfrm>
            <a:off x="4526280" y="1965960"/>
            <a:ext cx="1463040"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rPr>
              <a:t>NEXT</a:t>
            </a:r>
            <a:endParaRPr lang="en-US" sz="1200" dirty="0"/>
          </a:p>
        </p:txBody>
      </p:sp>
      <p:sp>
        <p:nvSpPr>
          <p:cNvPr id="11" name="Text 9"/>
          <p:cNvSpPr txBox="1"/>
          <p:nvPr/>
        </p:nvSpPr>
        <p:spPr>
          <a:xfrm>
            <a:off x="4526280" y="2606040"/>
            <a:ext cx="3108960" cy="24688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Writing assistant in the manuscript editor</a:t>
            </a:r>
            <a:endParaRPr lang="en-US" sz="1400" dirty="0"/>
          </a:p>
          <a:p>
            <a:pPr marL="342900" indent="-342900">
              <a:spcAft>
                <a:spcPts val="1000"/>
              </a:spcAft>
              <a:buSzPct val="100000"/>
              <a:buChar char="•"/>
            </a:pPr>
            <a:r>
              <a:rPr lang="en-US" sz="1400" dirty="0">
                <a:solidFill>
                  <a:schemeClr val="tx1"/>
                </a:solidFill>
              </a:rPr>
              <a:t>Proposal pre-screening against funder criteria</a:t>
            </a:r>
            <a:endParaRPr lang="en-US" sz="1400" dirty="0"/>
          </a:p>
          <a:p>
            <a:pPr marL="342900" indent="-342900">
              <a:spcAft>
                <a:spcPts val="1000"/>
              </a:spcAft>
              <a:buSzPct val="100000"/>
              <a:buChar char="•"/>
            </a:pPr>
            <a:r>
              <a:rPr lang="en-US" sz="1400" dirty="0">
                <a:solidFill>
                  <a:schemeClr val="tx1"/>
                </a:solidFill>
              </a:rPr>
              <a:t>Reviewer matching by expertise and conflicts</a:t>
            </a:r>
            <a:endParaRPr lang="en-US" sz="1400" dirty="0"/>
          </a:p>
          <a:p>
            <a:pPr marL="342900" indent="-342900">
              <a:spcAft>
                <a:spcPts val="1000"/>
              </a:spcAft>
              <a:buSzPct val="100000"/>
              <a:buChar char="•"/>
            </a:pPr>
            <a:r>
              <a:rPr lang="en-US" sz="1400" dirty="0">
                <a:solidFill>
                  <a:schemeClr val="tx1"/>
                </a:solidFill>
              </a:rPr>
              <a:t>Grant opportunity matching for researchers</a:t>
            </a:r>
            <a:endParaRPr lang="en-US" sz="1400" dirty="0"/>
          </a:p>
        </p:txBody>
      </p:sp>
      <p:sp>
        <p:nvSpPr>
          <p:cNvPr id="12" name="Roadmap LATER"/>
          <p:cNvSpPr/>
          <p:nvPr/>
        </p:nvSpPr>
        <p:spPr>
          <a:xfrm>
            <a:off x="8046720" y="1737360"/>
            <a:ext cx="3566160" cy="3429000"/>
          </a:xfrm>
          <a:prstGeom prst="roundRect">
            <a:avLst>
              <a:gd name="adj" fmla="val 2667"/>
            </a:avLst>
          </a:prstGeom>
          <a:solidFill>
            <a:srgbClr val="F6F4FB"/>
          </a:solidFill>
          <a:ln w="9525">
            <a:solidFill>
              <a:srgbClr val="DDD8EC"/>
            </a:solidFill>
            <a:prstDash val="solid"/>
          </a:ln>
        </p:spPr>
      </p:sp>
      <p:sp>
        <p:nvSpPr>
          <p:cNvPr id="13" name="Shape 11"/>
          <p:cNvSpPr/>
          <p:nvPr/>
        </p:nvSpPr>
        <p:spPr>
          <a:xfrm>
            <a:off x="8275320" y="1965960"/>
            <a:ext cx="1463040" cy="384048"/>
          </a:xfrm>
          <a:prstGeom prst="roundRect">
            <a:avLst>
              <a:gd name="adj" fmla="val 50000"/>
            </a:avLst>
          </a:prstGeom>
          <a:solidFill>
            <a:srgbClr val="C2508F"/>
          </a:solidFill>
          <a:ln w="12700">
            <a:solidFill>
              <a:srgbClr val="C2508F"/>
            </a:solidFill>
            <a:prstDash val="solid"/>
          </a:ln>
        </p:spPr>
      </p:sp>
      <p:sp>
        <p:nvSpPr>
          <p:cNvPr id="14" name="Text 12"/>
          <p:cNvSpPr txBox="1"/>
          <p:nvPr/>
        </p:nvSpPr>
        <p:spPr>
          <a:xfrm>
            <a:off x="8275320" y="1965960"/>
            <a:ext cx="1463040"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rPr>
              <a:t>LATER</a:t>
            </a:r>
            <a:endParaRPr lang="en-US" sz="1200" dirty="0"/>
          </a:p>
        </p:txBody>
      </p:sp>
      <p:sp>
        <p:nvSpPr>
          <p:cNvPr id="15" name="Text 13"/>
          <p:cNvSpPr txBox="1"/>
          <p:nvPr/>
        </p:nvSpPr>
        <p:spPr>
          <a:xfrm>
            <a:off x="8275320" y="2606040"/>
            <a:ext cx="3108960" cy="24688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Clinical trial eligibility pre-screening support</a:t>
            </a:r>
            <a:endParaRPr lang="en-US" sz="1400" dirty="0"/>
          </a:p>
          <a:p>
            <a:pPr marL="342900" indent="-342900">
              <a:spcAft>
                <a:spcPts val="1000"/>
              </a:spcAft>
              <a:buSzPct val="100000"/>
              <a:buChar char="•"/>
            </a:pPr>
            <a:r>
              <a:rPr lang="en-US" sz="1400" dirty="0">
                <a:solidFill>
                  <a:schemeClr val="tx1"/>
                </a:solidFill>
              </a:rPr>
              <a:t>Ask-your-data: plain-language questions over institutional research</a:t>
            </a:r>
            <a:endParaRPr lang="en-US" sz="1400" dirty="0"/>
          </a:p>
          <a:p>
            <a:pPr marL="342900" indent="-342900">
              <a:spcAft>
                <a:spcPts val="1000"/>
              </a:spcAft>
              <a:buSzPct val="100000"/>
              <a:buChar char="•"/>
            </a:pPr>
            <a:r>
              <a:rPr lang="en-US" sz="1400" dirty="0">
                <a:solidFill>
                  <a:schemeClr val="tx1"/>
                </a:solidFill>
              </a:rPr>
              <a:t>Automated funder and board report drafts</a:t>
            </a:r>
            <a:endParaRPr lang="en-US" sz="1400" dirty="0"/>
          </a:p>
          <a:p>
            <a:pPr marL="342900" indent="-342900">
              <a:spcAft>
                <a:spcPts val="1000"/>
              </a:spcAft>
              <a:buSzPct val="100000"/>
              <a:buChar char="•"/>
            </a:pPr>
            <a:r>
              <a:rPr lang="en-US" sz="1400" dirty="0">
                <a:solidFill>
                  <a:schemeClr val="tx1"/>
                </a:solidFill>
              </a:rPr>
              <a:t>Research trend and gap detection across departments</a:t>
            </a:r>
            <a:endParaRPr lang="en-US" sz="1400" dirty="0"/>
          </a:p>
        </p:txBody>
      </p:sp>
      <p:sp>
        <p:nvSpPr>
          <p:cNvPr id="16" name="Pilot partner callout"/>
          <p:cNvSpPr/>
          <p:nvPr/>
        </p:nvSpPr>
        <p:spPr>
          <a:xfrm>
            <a:off x="548640" y="5394960"/>
            <a:ext cx="11064240" cy="731520"/>
          </a:xfrm>
          <a:prstGeom prst="roundRect">
            <a:avLst>
              <a:gd name="adj" fmla="val 12500"/>
            </a:avLst>
          </a:prstGeom>
          <a:solidFill>
            <a:srgbClr val="1C1B3A"/>
          </a:solidFill>
          <a:ln w="12700">
            <a:solidFill>
              <a:srgbClr val="1C1B3A"/>
            </a:solidFill>
            <a:prstDash val="solid"/>
          </a:ln>
        </p:spPr>
      </p:sp>
      <p:sp>
        <p:nvSpPr>
          <p:cNvPr id="17" name="Shape 15"/>
          <p:cNvSpPr/>
          <p:nvPr/>
        </p:nvSpPr>
        <p:spPr>
          <a:xfrm>
            <a:off x="731520" y="5486400"/>
            <a:ext cx="548640" cy="548640"/>
          </a:xfrm>
          <a:prstGeom prst="ellipse">
            <a:avLst/>
          </a:prstGeom>
          <a:solidFill>
            <a:srgbClr val="2A9DC0"/>
          </a:solidFill>
          <a:ln w="12700">
            <a:solidFill>
              <a:srgbClr val="2A9DC0"/>
            </a:solidFill>
            <a:prstDash val="solid"/>
          </a:ln>
        </p:spPr>
      </p:sp>
      <p:pic>
        <p:nvPicPr>
          <p:cNvPr id="18" name="Image 0" descr="preencoded.png">    </p:cNvPr>
          <p:cNvPicPr>
            <a:picLocks noChangeAspect="1"/>
          </p:cNvPicPr>
          <p:nvPr/>
        </p:nvPicPr>
        <p:blipFill>
          <a:blip r:embed="rId1"/>
          <a:stretch>
            <a:fillRect/>
          </a:stretch>
        </p:blipFill>
        <p:spPr>
          <a:xfrm>
            <a:off x="863194" y="5618074"/>
            <a:ext cx="285293" cy="285293"/>
          </a:xfrm>
          <a:prstGeom prst="rect">
            <a:avLst/>
          </a:prstGeom>
        </p:spPr>
      </p:pic>
      <p:sp>
        <p:nvSpPr>
          <p:cNvPr id="19" name="Text 16"/>
          <p:cNvSpPr txBox="1"/>
          <p:nvPr/>
        </p:nvSpPr>
        <p:spPr>
          <a:xfrm>
            <a:off x="1463040" y="5394960"/>
            <a:ext cx="9966960" cy="731520"/>
          </a:xfrm>
          <a:prstGeom prst="rect">
            <a:avLst/>
          </a:prstGeom>
          <a:noFill/>
          <a:ln/>
        </p:spPr>
        <p:txBody>
          <a:bodyPr wrap="square" lIns="0" tIns="0" rIns="0" bIns="0" rtlCol="0" anchor="ctr"/>
          <a:lstStyle/>
          <a:p>
            <a:pPr indent="0" marL="0">
              <a:buNone/>
            </a:pPr>
            <a:r>
              <a:rPr lang="en-US" sz="1600" b="1" dirty="0">
                <a:solidFill>
                  <a:srgbClr val="9FD8EA"/>
                </a:solidFill>
              </a:rPr>
              <a:t>Become a pilot partner: </a:t>
            </a:r>
            <a:pPr indent="0" marL="0">
              <a:buNone/>
            </a:pPr>
            <a:r>
              <a:rPr lang="en-US" sz="1600" dirty="0">
                <a:solidFill>
                  <a:srgbClr val="FFFFFF"/>
                </a:solidFill>
              </a:rPr>
              <a:t>help decide which AI capabilities ship next for health research in your region.</a:t>
            </a:r>
            <a:endParaRPr lang="en-US" sz="16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C78"/>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chemeClr val="tx2"/>
                </a:solidFill>
              </a:rPr>
              <a:t>Institutional intelligence for leadership and funders</a:t>
            </a:r>
            <a:endParaRPr lang="en-US" sz="3200" dirty="0"/>
          </a:p>
        </p:txBody>
      </p:sp>
      <p:sp>
        <p:nvSpPr>
          <p:cNvPr id="3" name="Trial intelligence frame"/>
          <p:cNvSpPr/>
          <p:nvPr/>
        </p:nvSpPr>
        <p:spPr>
          <a:xfrm>
            <a:off x="548640" y="1371600"/>
            <a:ext cx="7315200" cy="4540803"/>
          </a:xfrm>
          <a:prstGeom prst="roundRect">
            <a:avLst>
              <a:gd name="adj" fmla="val 1611"/>
            </a:avLst>
          </a:prstGeom>
          <a:solidFill>
            <a:srgbClr val="ECEAF2"/>
          </a:solidFill>
          <a:ln w="9525">
            <a:solidFill>
              <a:srgbClr val="DDD8EC"/>
            </a:solidFill>
            <a:prstDash val="solid"/>
          </a:ln>
          <a:effectLst>
            <a:outerShdw sx="100000" sy="100000" kx="0" ky="0" algn="bl" rotWithShape="0" blurRad="152400" dist="50800" dir="5400000">
              <a:srgbClr val="000000">
                <a:alpha val="18000"/>
              </a:srgbClr>
            </a:outerShdw>
          </a:effectLst>
        </p:spPr>
      </p:sp>
      <p:sp>
        <p:nvSpPr>
          <p:cNvPr id="4" name="Shape 2"/>
          <p:cNvSpPr/>
          <p:nvPr/>
        </p:nvSpPr>
        <p:spPr>
          <a:xfrm>
            <a:off x="676656" y="1444752"/>
            <a:ext cx="91440" cy="91440"/>
          </a:xfrm>
          <a:prstGeom prst="ellipse">
            <a:avLst/>
          </a:prstGeom>
          <a:solidFill>
            <a:srgbClr val="E86B6B"/>
          </a:solidFill>
          <a:ln w="12700">
            <a:solidFill>
              <a:srgbClr val="E86B6B"/>
            </a:solidFill>
            <a:prstDash val="solid"/>
          </a:ln>
        </p:spPr>
      </p:sp>
      <p:sp>
        <p:nvSpPr>
          <p:cNvPr id="5" name="Shape 3"/>
          <p:cNvSpPr/>
          <p:nvPr/>
        </p:nvSpPr>
        <p:spPr>
          <a:xfrm>
            <a:off x="822960" y="1444752"/>
            <a:ext cx="91440" cy="91440"/>
          </a:xfrm>
          <a:prstGeom prst="ellipse">
            <a:avLst/>
          </a:prstGeom>
          <a:solidFill>
            <a:srgbClr val="F2C14E"/>
          </a:solidFill>
          <a:ln w="12700">
            <a:solidFill>
              <a:srgbClr val="F2C14E"/>
            </a:solidFill>
            <a:prstDash val="solid"/>
          </a:ln>
        </p:spPr>
      </p:sp>
      <p:sp>
        <p:nvSpPr>
          <p:cNvPr id="6" name="Shape 4"/>
          <p:cNvSpPr/>
          <p:nvPr/>
        </p:nvSpPr>
        <p:spPr>
          <a:xfrm>
            <a:off x="969264" y="1444752"/>
            <a:ext cx="91440" cy="91440"/>
          </a:xfrm>
          <a:prstGeom prst="ellipse">
            <a:avLst/>
          </a:prstGeom>
          <a:solidFill>
            <a:srgbClr val="5DBB7A"/>
          </a:solidFill>
          <a:ln w="12700">
            <a:solidFill>
              <a:srgbClr val="5DBB7A"/>
            </a:solidFill>
            <a:prstDash val="solid"/>
          </a:ln>
        </p:spPr>
      </p:sp>
      <p:pic>
        <p:nvPicPr>
          <p:cNvPr id="7" name="Trial intelligence screenshot" descr="/home/claude/deck/img/ai_trialintel.png">    </p:cNvPr>
          <p:cNvPicPr>
            <a:picLocks noChangeAspect="1"/>
          </p:cNvPicPr>
          <p:nvPr/>
        </p:nvPicPr>
        <p:blipFill>
          <a:blip r:embed="rId1"/>
          <a:stretch>
            <a:fillRect/>
          </a:stretch>
        </p:blipFill>
        <p:spPr>
          <a:xfrm>
            <a:off x="576072" y="1609344"/>
            <a:ext cx="7260336" cy="4270786"/>
          </a:xfrm>
          <a:prstGeom prst="rect">
            <a:avLst/>
          </a:prstGeom>
        </p:spPr>
      </p:pic>
      <p:sp>
        <p:nvSpPr>
          <p:cNvPr id="8" name="Text 5"/>
          <p:cNvSpPr txBox="1"/>
          <p:nvPr/>
        </p:nvSpPr>
        <p:spPr>
          <a:xfrm>
            <a:off x="8229600" y="1417320"/>
            <a:ext cx="3429000" cy="822960"/>
          </a:xfrm>
          <a:prstGeom prst="rect">
            <a:avLst/>
          </a:prstGeom>
          <a:noFill/>
          <a:ln/>
        </p:spPr>
        <p:txBody>
          <a:bodyPr wrap="square" lIns="0" tIns="0" rIns="0" bIns="0" rtlCol="0" anchor="t"/>
          <a:lstStyle/>
          <a:p>
            <a:pPr indent="0" marL="0">
              <a:buNone/>
            </a:pPr>
            <a:r>
              <a:rPr lang="en-US" sz="1600" b="1" dirty="0">
                <a:solidFill>
                  <a:srgbClr val="7E5BB5"/>
                </a:solidFill>
              </a:rPr>
              <a:t>Portfolio-level views that answer board and funder questions.</a:t>
            </a:r>
            <a:endParaRPr lang="en-US" sz="1600" dirty="0"/>
          </a:p>
        </p:txBody>
      </p:sp>
      <p:sp>
        <p:nvSpPr>
          <p:cNvPr id="9" name="Shape 6"/>
          <p:cNvSpPr/>
          <p:nvPr/>
        </p:nvSpPr>
        <p:spPr>
          <a:xfrm>
            <a:off x="8229600" y="2286000"/>
            <a:ext cx="457200" cy="457200"/>
          </a:xfrm>
          <a:prstGeom prst="ellipse">
            <a:avLst/>
          </a:prstGeom>
          <a:solidFill>
            <a:srgbClr val="EFEAF8"/>
          </a:solidFill>
          <a:ln w="12700">
            <a:solidFill>
              <a:srgbClr val="EFEAF8"/>
            </a:solidFill>
            <a:prstDash val="solid"/>
          </a:ln>
        </p:spPr>
      </p:sp>
      <p:pic>
        <p:nvPicPr>
          <p:cNvPr id="10" name="Image 1" descr="preencoded.png">    </p:cNvPr>
          <p:cNvPicPr>
            <a:picLocks noChangeAspect="1"/>
          </p:cNvPicPr>
          <p:nvPr/>
        </p:nvPicPr>
        <p:blipFill>
          <a:blip r:embed="rId2"/>
          <a:stretch>
            <a:fillRect/>
          </a:stretch>
        </p:blipFill>
        <p:spPr>
          <a:xfrm>
            <a:off x="8339328" y="2395728"/>
            <a:ext cx="237744" cy="237744"/>
          </a:xfrm>
          <a:prstGeom prst="rect">
            <a:avLst/>
          </a:prstGeom>
        </p:spPr>
      </p:pic>
      <p:sp>
        <p:nvSpPr>
          <p:cNvPr id="11" name="Text 7"/>
          <p:cNvSpPr txBox="1"/>
          <p:nvPr/>
        </p:nvSpPr>
        <p:spPr>
          <a:xfrm>
            <a:off x="8823960" y="2267712"/>
            <a:ext cx="2834640" cy="320040"/>
          </a:xfrm>
          <a:prstGeom prst="rect">
            <a:avLst/>
          </a:prstGeom>
          <a:noFill/>
          <a:ln/>
        </p:spPr>
        <p:txBody>
          <a:bodyPr wrap="square" lIns="0" tIns="0" rIns="0" bIns="0" rtlCol="0" anchor="ctr"/>
          <a:lstStyle/>
          <a:p>
            <a:pPr indent="0" marL="0">
              <a:buNone/>
            </a:pPr>
            <a:r>
              <a:rPr lang="en-US" sz="1500" b="1" dirty="0">
                <a:solidFill>
                  <a:schemeClr val="tx2"/>
                </a:solidFill>
              </a:rPr>
              <a:t>Trial intelligence</a:t>
            </a:r>
            <a:endParaRPr lang="en-US" sz="1500" dirty="0"/>
          </a:p>
        </p:txBody>
      </p:sp>
      <p:sp>
        <p:nvSpPr>
          <p:cNvPr id="12" name="Text 8"/>
          <p:cNvSpPr txBox="1"/>
          <p:nvPr/>
        </p:nvSpPr>
        <p:spPr>
          <a:xfrm>
            <a:off x="8823960" y="2587752"/>
            <a:ext cx="2834640" cy="640080"/>
          </a:xfrm>
          <a:prstGeom prst="rect">
            <a:avLst/>
          </a:prstGeom>
          <a:noFill/>
          <a:ln/>
        </p:spPr>
        <p:txBody>
          <a:bodyPr wrap="square" lIns="0" tIns="0" rIns="0" bIns="0" rtlCol="0" anchor="t"/>
          <a:lstStyle/>
          <a:p>
            <a:pPr indent="0" marL="0">
              <a:buNone/>
            </a:pPr>
            <a:r>
              <a:rPr lang="en-US" sz="1300" dirty="0">
                <a:solidFill>
                  <a:schemeClr val="tx1"/>
                </a:solidFill>
              </a:rPr>
              <a:t>Enrolment against target, trials by phase and success rate.</a:t>
            </a:r>
            <a:endParaRPr lang="en-US" sz="1300" dirty="0"/>
          </a:p>
        </p:txBody>
      </p:sp>
      <p:sp>
        <p:nvSpPr>
          <p:cNvPr id="13" name="Shape 9"/>
          <p:cNvSpPr/>
          <p:nvPr/>
        </p:nvSpPr>
        <p:spPr>
          <a:xfrm>
            <a:off x="8229600" y="3273552"/>
            <a:ext cx="457200" cy="457200"/>
          </a:xfrm>
          <a:prstGeom prst="ellipse">
            <a:avLst/>
          </a:prstGeom>
          <a:solidFill>
            <a:srgbClr val="EFEAF8"/>
          </a:solidFill>
          <a:ln w="12700">
            <a:solidFill>
              <a:srgbClr val="EFEAF8"/>
            </a:solidFill>
            <a:prstDash val="solid"/>
          </a:ln>
        </p:spPr>
      </p:sp>
      <p:pic>
        <p:nvPicPr>
          <p:cNvPr id="14" name="Image 2" descr="preencoded.png">    </p:cNvPr>
          <p:cNvPicPr>
            <a:picLocks noChangeAspect="1"/>
          </p:cNvPicPr>
          <p:nvPr/>
        </p:nvPicPr>
        <p:blipFill>
          <a:blip r:embed="rId3"/>
          <a:stretch>
            <a:fillRect/>
          </a:stretch>
        </p:blipFill>
        <p:spPr>
          <a:xfrm>
            <a:off x="8339328" y="3383280"/>
            <a:ext cx="237744" cy="237744"/>
          </a:xfrm>
          <a:prstGeom prst="rect">
            <a:avLst/>
          </a:prstGeom>
        </p:spPr>
      </p:pic>
      <p:sp>
        <p:nvSpPr>
          <p:cNvPr id="15" name="Text 10"/>
          <p:cNvSpPr txBox="1"/>
          <p:nvPr/>
        </p:nvSpPr>
        <p:spPr>
          <a:xfrm>
            <a:off x="8823960" y="3255264"/>
            <a:ext cx="2834640" cy="320040"/>
          </a:xfrm>
          <a:prstGeom prst="rect">
            <a:avLst/>
          </a:prstGeom>
          <a:noFill/>
          <a:ln/>
        </p:spPr>
        <p:txBody>
          <a:bodyPr wrap="square" lIns="0" tIns="0" rIns="0" bIns="0" rtlCol="0" anchor="ctr"/>
          <a:lstStyle/>
          <a:p>
            <a:pPr indent="0" marL="0">
              <a:buNone/>
            </a:pPr>
            <a:r>
              <a:rPr lang="en-US" sz="1500" b="1" dirty="0">
                <a:solidFill>
                  <a:schemeClr val="tx2"/>
                </a:solidFill>
              </a:rPr>
              <a:t>Trial-to-publication rate</a:t>
            </a:r>
            <a:endParaRPr lang="en-US" sz="1500" dirty="0"/>
          </a:p>
        </p:txBody>
      </p:sp>
      <p:sp>
        <p:nvSpPr>
          <p:cNvPr id="16" name="Text 11"/>
          <p:cNvSpPr txBox="1"/>
          <p:nvPr/>
        </p:nvSpPr>
        <p:spPr>
          <a:xfrm>
            <a:off x="8823960" y="3575304"/>
            <a:ext cx="2834640" cy="640080"/>
          </a:xfrm>
          <a:prstGeom prst="rect">
            <a:avLst/>
          </a:prstGeom>
          <a:noFill/>
          <a:ln/>
        </p:spPr>
        <p:txBody>
          <a:bodyPr wrap="square" lIns="0" tIns="0" rIns="0" bIns="0" rtlCol="0" anchor="t"/>
          <a:lstStyle/>
          <a:p>
            <a:pPr indent="0" marL="0">
              <a:buNone/>
            </a:pPr>
            <a:r>
              <a:rPr lang="en-US" sz="1300" dirty="0">
                <a:solidFill>
                  <a:schemeClr val="tx1"/>
                </a:solidFill>
              </a:rPr>
              <a:t>See which studies turn into published evidence.</a:t>
            </a:r>
            <a:endParaRPr lang="en-US" sz="1300" dirty="0"/>
          </a:p>
        </p:txBody>
      </p:sp>
      <p:sp>
        <p:nvSpPr>
          <p:cNvPr id="17" name="Shape 12"/>
          <p:cNvSpPr/>
          <p:nvPr/>
        </p:nvSpPr>
        <p:spPr>
          <a:xfrm>
            <a:off x="8229600" y="4261104"/>
            <a:ext cx="457200" cy="457200"/>
          </a:xfrm>
          <a:prstGeom prst="ellipse">
            <a:avLst/>
          </a:prstGeom>
          <a:solidFill>
            <a:srgbClr val="EFEAF8"/>
          </a:solidFill>
          <a:ln w="12700">
            <a:solidFill>
              <a:srgbClr val="EFEAF8"/>
            </a:solidFill>
            <a:prstDash val="solid"/>
          </a:ln>
        </p:spPr>
      </p:sp>
      <p:pic>
        <p:nvPicPr>
          <p:cNvPr id="18" name="Image 3" descr="preencoded.png">    </p:cNvPr>
          <p:cNvPicPr>
            <a:picLocks noChangeAspect="1"/>
          </p:cNvPicPr>
          <p:nvPr/>
        </p:nvPicPr>
        <p:blipFill>
          <a:blip r:embed="rId4"/>
          <a:stretch>
            <a:fillRect/>
          </a:stretch>
        </p:blipFill>
        <p:spPr>
          <a:xfrm>
            <a:off x="8339328" y="4370832"/>
            <a:ext cx="237744" cy="237744"/>
          </a:xfrm>
          <a:prstGeom prst="rect">
            <a:avLst/>
          </a:prstGeom>
        </p:spPr>
      </p:pic>
      <p:sp>
        <p:nvSpPr>
          <p:cNvPr id="19" name="Text 13"/>
          <p:cNvSpPr txBox="1"/>
          <p:nvPr/>
        </p:nvSpPr>
        <p:spPr>
          <a:xfrm>
            <a:off x="8823960" y="4242816"/>
            <a:ext cx="2834640" cy="320040"/>
          </a:xfrm>
          <a:prstGeom prst="rect">
            <a:avLst/>
          </a:prstGeom>
          <a:noFill/>
          <a:ln/>
        </p:spPr>
        <p:txBody>
          <a:bodyPr wrap="square" lIns="0" tIns="0" rIns="0" bIns="0" rtlCol="0" anchor="ctr"/>
          <a:lstStyle/>
          <a:p>
            <a:pPr indent="0" marL="0">
              <a:buNone/>
            </a:pPr>
            <a:r>
              <a:rPr lang="en-US" sz="1500" b="1" dirty="0">
                <a:solidFill>
                  <a:schemeClr val="tx2"/>
                </a:solidFill>
              </a:rPr>
              <a:t>Funding by source</a:t>
            </a:r>
            <a:endParaRPr lang="en-US" sz="1500" dirty="0"/>
          </a:p>
        </p:txBody>
      </p:sp>
      <p:sp>
        <p:nvSpPr>
          <p:cNvPr id="20" name="Text 14"/>
          <p:cNvSpPr txBox="1"/>
          <p:nvPr/>
        </p:nvSpPr>
        <p:spPr>
          <a:xfrm>
            <a:off x="8823960" y="4562856"/>
            <a:ext cx="2834640" cy="640080"/>
          </a:xfrm>
          <a:prstGeom prst="rect">
            <a:avLst/>
          </a:prstGeom>
          <a:noFill/>
          <a:ln/>
        </p:spPr>
        <p:txBody>
          <a:bodyPr wrap="square" lIns="0" tIns="0" rIns="0" bIns="0" rtlCol="0" anchor="t"/>
          <a:lstStyle/>
          <a:p>
            <a:pPr indent="0" marL="0">
              <a:buNone/>
            </a:pPr>
            <a:r>
              <a:rPr lang="en-US" sz="1300" dirty="0">
                <a:solidFill>
                  <a:schemeClr val="tx1"/>
                </a:solidFill>
              </a:rPr>
              <a:t>Track where research money comes from and what it delivers.</a:t>
            </a:r>
            <a:endParaRPr lang="en-US" sz="1300" dirty="0"/>
          </a:p>
        </p:txBody>
      </p:sp>
      <p:sp>
        <p:nvSpPr>
          <p:cNvPr id="21" name="Shape 15"/>
          <p:cNvSpPr/>
          <p:nvPr/>
        </p:nvSpPr>
        <p:spPr>
          <a:xfrm>
            <a:off x="8229600" y="5248656"/>
            <a:ext cx="457200" cy="457200"/>
          </a:xfrm>
          <a:prstGeom prst="ellipse">
            <a:avLst/>
          </a:prstGeom>
          <a:solidFill>
            <a:srgbClr val="EFEAF8"/>
          </a:solidFill>
          <a:ln w="12700">
            <a:solidFill>
              <a:srgbClr val="EFEAF8"/>
            </a:solidFill>
            <a:prstDash val="solid"/>
          </a:ln>
        </p:spPr>
      </p:sp>
      <p:pic>
        <p:nvPicPr>
          <p:cNvPr id="22" name="Image 4" descr="preencoded.png">    </p:cNvPr>
          <p:cNvPicPr>
            <a:picLocks noChangeAspect="1"/>
          </p:cNvPicPr>
          <p:nvPr/>
        </p:nvPicPr>
        <p:blipFill>
          <a:blip r:embed="rId5"/>
          <a:stretch>
            <a:fillRect/>
          </a:stretch>
        </p:blipFill>
        <p:spPr>
          <a:xfrm>
            <a:off x="8339328" y="5358384"/>
            <a:ext cx="237744" cy="237744"/>
          </a:xfrm>
          <a:prstGeom prst="rect">
            <a:avLst/>
          </a:prstGeom>
        </p:spPr>
      </p:pic>
      <p:sp>
        <p:nvSpPr>
          <p:cNvPr id="23" name="Text 16"/>
          <p:cNvSpPr txBox="1"/>
          <p:nvPr/>
        </p:nvSpPr>
        <p:spPr>
          <a:xfrm>
            <a:off x="8823960" y="5230368"/>
            <a:ext cx="2834640" cy="320040"/>
          </a:xfrm>
          <a:prstGeom prst="rect">
            <a:avLst/>
          </a:prstGeom>
          <a:noFill/>
          <a:ln/>
        </p:spPr>
        <p:txBody>
          <a:bodyPr wrap="square" lIns="0" tIns="0" rIns="0" bIns="0" rtlCol="0" anchor="ctr"/>
          <a:lstStyle/>
          <a:p>
            <a:pPr indent="0" marL="0">
              <a:buNone/>
            </a:pPr>
            <a:r>
              <a:rPr lang="en-US" sz="1500" b="1" dirty="0">
                <a:solidFill>
                  <a:schemeClr val="tx2"/>
                </a:solidFill>
              </a:rPr>
              <a:t>Exportable reports</a:t>
            </a:r>
            <a:endParaRPr lang="en-US" sz="1500" dirty="0"/>
          </a:p>
        </p:txBody>
      </p:sp>
      <p:sp>
        <p:nvSpPr>
          <p:cNvPr id="24" name="Text 17"/>
          <p:cNvSpPr txBox="1"/>
          <p:nvPr/>
        </p:nvSpPr>
        <p:spPr>
          <a:xfrm>
            <a:off x="8823960" y="5550408"/>
            <a:ext cx="2834640" cy="640080"/>
          </a:xfrm>
          <a:prstGeom prst="rect">
            <a:avLst/>
          </a:prstGeom>
          <a:noFill/>
          <a:ln/>
        </p:spPr>
        <p:txBody>
          <a:bodyPr wrap="square" lIns="0" tIns="0" rIns="0" bIns="0" rtlCol="0" anchor="t"/>
          <a:lstStyle/>
          <a:p>
            <a:pPr indent="0" marL="0">
              <a:buNone/>
            </a:pPr>
            <a:r>
              <a:rPr lang="en-US" sz="1300" dirty="0">
                <a:solidFill>
                  <a:schemeClr val="tx1"/>
                </a:solidFill>
              </a:rPr>
              <a:t>Board-ready exports over any time range.</a:t>
            </a:r>
            <a:endParaRPr lang="en-US" sz="13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C78"/>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chemeClr val="tx2"/>
                </a:solidFill>
              </a:rPr>
              <a:t>Connected, secure and ready for your IT team</a:t>
            </a:r>
            <a:endParaRPr lang="en-US" sz="3200" dirty="0"/>
          </a:p>
        </p:txBody>
      </p:sp>
      <p:sp>
        <p:nvSpPr>
          <p:cNvPr id="3" name="Column Integrations"/>
          <p:cNvSpPr/>
          <p:nvPr/>
        </p:nvSpPr>
        <p:spPr>
          <a:xfrm>
            <a:off x="548640" y="1463040"/>
            <a:ext cx="3566160" cy="4023360"/>
          </a:xfrm>
          <a:prstGeom prst="roundRect">
            <a:avLst>
              <a:gd name="adj" fmla="val 2564"/>
            </a:avLst>
          </a:prstGeom>
          <a:solidFill>
            <a:srgbClr val="F6F4FB"/>
          </a:solidFill>
          <a:ln w="9525">
            <a:solidFill>
              <a:srgbClr val="DDD8EC"/>
            </a:solidFill>
            <a:prstDash val="solid"/>
          </a:ln>
        </p:spPr>
      </p:sp>
      <p:sp>
        <p:nvSpPr>
          <p:cNvPr id="4" name="Shape 2"/>
          <p:cNvSpPr/>
          <p:nvPr/>
        </p:nvSpPr>
        <p:spPr>
          <a:xfrm>
            <a:off x="822960" y="1691640"/>
            <a:ext cx="685800" cy="685800"/>
          </a:xfrm>
          <a:prstGeom prst="ellipse">
            <a:avLst/>
          </a:prstGeom>
          <a:solidFill>
            <a:srgbClr val="7E5BB5"/>
          </a:solidFill>
          <a:ln w="12700">
            <a:solidFill>
              <a:srgbClr val="7E5BB5"/>
            </a:solidFill>
            <a:prstDash val="solid"/>
          </a:ln>
        </p:spPr>
      </p:sp>
      <p:pic>
        <p:nvPicPr>
          <p:cNvPr id="5" name="Image 0" descr="preencoded.png">    </p:cNvPr>
          <p:cNvPicPr>
            <a:picLocks noChangeAspect="1"/>
          </p:cNvPicPr>
          <p:nvPr/>
        </p:nvPicPr>
        <p:blipFill>
          <a:blip r:embed="rId1"/>
          <a:stretch>
            <a:fillRect/>
          </a:stretch>
        </p:blipFill>
        <p:spPr>
          <a:xfrm>
            <a:off x="987552" y="1856232"/>
            <a:ext cx="356616" cy="356616"/>
          </a:xfrm>
          <a:prstGeom prst="rect">
            <a:avLst/>
          </a:prstGeom>
        </p:spPr>
      </p:pic>
      <p:sp>
        <p:nvSpPr>
          <p:cNvPr id="6" name="Text 3"/>
          <p:cNvSpPr txBox="1"/>
          <p:nvPr/>
        </p:nvSpPr>
        <p:spPr>
          <a:xfrm>
            <a:off x="1645920" y="1783080"/>
            <a:ext cx="2286000" cy="457200"/>
          </a:xfrm>
          <a:prstGeom prst="rect">
            <a:avLst/>
          </a:prstGeom>
          <a:noFill/>
          <a:ln/>
        </p:spPr>
        <p:txBody>
          <a:bodyPr wrap="square" lIns="0" tIns="0" rIns="0" bIns="0" rtlCol="0" anchor="ctr"/>
          <a:lstStyle/>
          <a:p>
            <a:pPr indent="0" marL="0">
              <a:buNone/>
            </a:pPr>
            <a:r>
              <a:rPr lang="en-US" sz="1800" b="1" dirty="0">
                <a:solidFill>
                  <a:schemeClr val="tx2"/>
                </a:solidFill>
              </a:rPr>
              <a:t>Integrations</a:t>
            </a:r>
            <a:endParaRPr lang="en-US" sz="1800" dirty="0"/>
          </a:p>
        </p:txBody>
      </p:sp>
      <p:sp>
        <p:nvSpPr>
          <p:cNvPr id="7" name="Text 4"/>
          <p:cNvSpPr txBox="1"/>
          <p:nvPr/>
        </p:nvSpPr>
        <p:spPr>
          <a:xfrm>
            <a:off x="822960" y="2606040"/>
            <a:ext cx="3063240" cy="3200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ORCID sign-in and profiles</a:t>
            </a:r>
            <a:endParaRPr lang="en-US" sz="1400" dirty="0"/>
          </a:p>
          <a:p>
            <a:pPr marL="342900" indent="-342900">
              <a:spcAft>
                <a:spcPts val="800"/>
              </a:spcAft>
              <a:buSzPct val="100000"/>
              <a:buChar char="•"/>
            </a:pPr>
            <a:r>
              <a:rPr lang="en-US" sz="1400" dirty="0">
                <a:solidFill>
                  <a:schemeClr val="tx1"/>
                </a:solidFill>
              </a:rPr>
              <a:t>Crossref and DataCite identifiers</a:t>
            </a:r>
            <a:endParaRPr lang="en-US" sz="1400" dirty="0"/>
          </a:p>
          <a:p>
            <a:pPr marL="342900" indent="-342900">
              <a:spcAft>
                <a:spcPts val="800"/>
              </a:spcAft>
              <a:buSzPct val="100000"/>
              <a:buChar char="•"/>
            </a:pPr>
            <a:r>
              <a:rPr lang="en-US" sz="1400" dirty="0">
                <a:solidFill>
                  <a:schemeClr val="tx1"/>
                </a:solidFill>
              </a:rPr>
              <a:t>PubMed, OpenAlex, Research4Life</a:t>
            </a:r>
            <a:endParaRPr lang="en-US" sz="1400" dirty="0"/>
          </a:p>
          <a:p>
            <a:pPr marL="342900" indent="-342900">
              <a:spcAft>
                <a:spcPts val="800"/>
              </a:spcAft>
              <a:buSzPct val="100000"/>
              <a:buChar char="•"/>
            </a:pPr>
            <a:r>
              <a:rPr lang="en-US" sz="1400" dirty="0">
                <a:solidFill>
                  <a:schemeClr val="tx1"/>
                </a:solidFill>
              </a:rPr>
              <a:t>Zotero, Mendeley, EndNote, BibTeX</a:t>
            </a:r>
            <a:endParaRPr lang="en-US" sz="1400" dirty="0"/>
          </a:p>
          <a:p>
            <a:pPr marL="342900" indent="-342900">
              <a:spcAft>
                <a:spcPts val="800"/>
              </a:spcAft>
              <a:buSzPct val="100000"/>
              <a:buChar char="•"/>
            </a:pPr>
            <a:r>
              <a:rPr lang="en-US" sz="1400" dirty="0">
                <a:solidFill>
                  <a:schemeClr val="tx1"/>
                </a:solidFill>
              </a:rPr>
              <a:t>ClinicalTrials.gov, PACTR, WHO ICTRP</a:t>
            </a:r>
            <a:endParaRPr lang="en-US" sz="1400" dirty="0"/>
          </a:p>
          <a:p>
            <a:pPr marL="342900" indent="-342900">
              <a:spcAft>
                <a:spcPts val="800"/>
              </a:spcAft>
              <a:buSzPct val="100000"/>
              <a:buChar char="•"/>
            </a:pPr>
            <a:r>
              <a:rPr lang="en-US" sz="1400" dirty="0">
                <a:solidFill>
                  <a:schemeClr val="tx1"/>
                </a:solidFill>
              </a:rPr>
              <a:t>Google Gemini and OpenAI for AI features</a:t>
            </a:r>
            <a:endParaRPr lang="en-US" sz="1400" dirty="0"/>
          </a:p>
          <a:p>
            <a:pPr marL="342900" indent="-342900">
              <a:spcAft>
                <a:spcPts val="800"/>
              </a:spcAft>
              <a:buSzPct val="100000"/>
              <a:buChar char="•"/>
            </a:pPr>
            <a:r>
              <a:rPr lang="en-US" sz="1400" dirty="0">
                <a:solidFill>
                  <a:schemeClr val="tx1"/>
                </a:solidFill>
              </a:rPr>
              <a:t>ImaChek image integrity analysis</a:t>
            </a:r>
            <a:endParaRPr lang="en-US" sz="1400" dirty="0"/>
          </a:p>
        </p:txBody>
      </p:sp>
      <p:sp>
        <p:nvSpPr>
          <p:cNvPr id="8" name="Column Security &amp; governance"/>
          <p:cNvSpPr/>
          <p:nvPr/>
        </p:nvSpPr>
        <p:spPr>
          <a:xfrm>
            <a:off x="4297680" y="1463040"/>
            <a:ext cx="3566160" cy="4023360"/>
          </a:xfrm>
          <a:prstGeom prst="roundRect">
            <a:avLst>
              <a:gd name="adj" fmla="val 2564"/>
            </a:avLst>
          </a:prstGeom>
          <a:solidFill>
            <a:srgbClr val="F6F4FB"/>
          </a:solidFill>
          <a:ln w="9525">
            <a:solidFill>
              <a:srgbClr val="DDD8EC"/>
            </a:solidFill>
            <a:prstDash val="solid"/>
          </a:ln>
        </p:spPr>
      </p:sp>
      <p:sp>
        <p:nvSpPr>
          <p:cNvPr id="9" name="Shape 6"/>
          <p:cNvSpPr/>
          <p:nvPr/>
        </p:nvSpPr>
        <p:spPr>
          <a:xfrm>
            <a:off x="4572000" y="1691640"/>
            <a:ext cx="685800" cy="685800"/>
          </a:xfrm>
          <a:prstGeom prst="ellipse">
            <a:avLst/>
          </a:prstGeom>
          <a:solidFill>
            <a:srgbClr val="2A9DC0"/>
          </a:solidFill>
          <a:ln w="12700">
            <a:solidFill>
              <a:srgbClr val="2A9DC0"/>
            </a:solidFill>
            <a:prstDash val="solid"/>
          </a:ln>
        </p:spPr>
      </p:sp>
      <p:pic>
        <p:nvPicPr>
          <p:cNvPr id="10" name="Image 1" descr="preencoded.png">    </p:cNvPr>
          <p:cNvPicPr>
            <a:picLocks noChangeAspect="1"/>
          </p:cNvPicPr>
          <p:nvPr/>
        </p:nvPicPr>
        <p:blipFill>
          <a:blip r:embed="rId2"/>
          <a:stretch>
            <a:fillRect/>
          </a:stretch>
        </p:blipFill>
        <p:spPr>
          <a:xfrm>
            <a:off x="4736592" y="1856232"/>
            <a:ext cx="356616" cy="356616"/>
          </a:xfrm>
          <a:prstGeom prst="rect">
            <a:avLst/>
          </a:prstGeom>
        </p:spPr>
      </p:pic>
      <p:sp>
        <p:nvSpPr>
          <p:cNvPr id="11" name="Text 7"/>
          <p:cNvSpPr txBox="1"/>
          <p:nvPr/>
        </p:nvSpPr>
        <p:spPr>
          <a:xfrm>
            <a:off x="5394960" y="1783080"/>
            <a:ext cx="2286000" cy="457200"/>
          </a:xfrm>
          <a:prstGeom prst="rect">
            <a:avLst/>
          </a:prstGeom>
          <a:noFill/>
          <a:ln/>
        </p:spPr>
        <p:txBody>
          <a:bodyPr wrap="square" lIns="0" tIns="0" rIns="0" bIns="0" rtlCol="0" anchor="ctr"/>
          <a:lstStyle/>
          <a:p>
            <a:pPr indent="0" marL="0">
              <a:buNone/>
            </a:pPr>
            <a:r>
              <a:rPr lang="en-US" sz="1800" b="1" dirty="0">
                <a:solidFill>
                  <a:schemeClr val="tx2"/>
                </a:solidFill>
              </a:rPr>
              <a:t>Security &amp; governance</a:t>
            </a:r>
            <a:endParaRPr lang="en-US" sz="1800" dirty="0"/>
          </a:p>
        </p:txBody>
      </p:sp>
      <p:sp>
        <p:nvSpPr>
          <p:cNvPr id="12" name="Text 8"/>
          <p:cNvSpPr txBox="1"/>
          <p:nvPr/>
        </p:nvSpPr>
        <p:spPr>
          <a:xfrm>
            <a:off x="4572000" y="2606040"/>
            <a:ext cx="3063240" cy="3200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Role-based access for every user type</a:t>
            </a:r>
            <a:endParaRPr lang="en-US" sz="1400" dirty="0"/>
          </a:p>
          <a:p>
            <a:pPr marL="342900" indent="-342900">
              <a:spcAft>
                <a:spcPts val="800"/>
              </a:spcAft>
              <a:buSzPct val="100000"/>
              <a:buChar char="•"/>
            </a:pPr>
            <a:r>
              <a:rPr lang="en-US" sz="1400" dirty="0">
                <a:solidFill>
                  <a:schemeClr val="tx1"/>
                </a:solidFill>
              </a:rPr>
              <a:t>Institution-verified email domains</a:t>
            </a:r>
            <a:endParaRPr lang="en-US" sz="1400" dirty="0"/>
          </a:p>
          <a:p>
            <a:pPr marL="342900" indent="-342900">
              <a:spcAft>
                <a:spcPts val="800"/>
              </a:spcAft>
              <a:buSzPct val="100000"/>
              <a:buChar char="•"/>
            </a:pPr>
            <a:r>
              <a:rPr lang="en-US" sz="1400" dirty="0">
                <a:solidFill>
                  <a:schemeClr val="tx1"/>
                </a:solidFill>
              </a:rPr>
              <a:t>Audit trails and activity logs</a:t>
            </a:r>
            <a:endParaRPr lang="en-US" sz="1400" dirty="0"/>
          </a:p>
          <a:p>
            <a:pPr marL="342900" indent="-342900">
              <a:spcAft>
                <a:spcPts val="800"/>
              </a:spcAft>
              <a:buSzPct val="100000"/>
              <a:buChar char="•"/>
            </a:pPr>
            <a:r>
              <a:rPr lang="en-US" sz="1400" dirty="0">
                <a:solidFill>
                  <a:schemeClr val="tx1"/>
                </a:solidFill>
              </a:rPr>
              <a:t>Admin consoles for security, users and data</a:t>
            </a:r>
            <a:endParaRPr lang="en-US" sz="1400" dirty="0"/>
          </a:p>
          <a:p>
            <a:pPr marL="342900" indent="-342900">
              <a:spcAft>
                <a:spcPts val="800"/>
              </a:spcAft>
              <a:buSzPct val="100000"/>
              <a:buChar char="•"/>
            </a:pPr>
            <a:r>
              <a:rPr lang="en-US" sz="1400" dirty="0">
                <a:solidFill>
                  <a:schemeClr val="tx1"/>
                </a:solidFill>
              </a:rPr>
              <a:t>Ethics and data-protection workflows</a:t>
            </a:r>
            <a:endParaRPr lang="en-US" sz="1400" dirty="0"/>
          </a:p>
        </p:txBody>
      </p:sp>
      <p:sp>
        <p:nvSpPr>
          <p:cNvPr id="13" name="Column Deployment &amp; access"/>
          <p:cNvSpPr/>
          <p:nvPr/>
        </p:nvSpPr>
        <p:spPr>
          <a:xfrm>
            <a:off x="8046720" y="1463040"/>
            <a:ext cx="3566160" cy="4023360"/>
          </a:xfrm>
          <a:prstGeom prst="roundRect">
            <a:avLst>
              <a:gd name="adj" fmla="val 2564"/>
            </a:avLst>
          </a:prstGeom>
          <a:solidFill>
            <a:srgbClr val="F6F4FB"/>
          </a:solidFill>
          <a:ln w="9525">
            <a:solidFill>
              <a:srgbClr val="DDD8EC"/>
            </a:solidFill>
            <a:prstDash val="solid"/>
          </a:ln>
        </p:spPr>
      </p:sp>
      <p:sp>
        <p:nvSpPr>
          <p:cNvPr id="14" name="Shape 10"/>
          <p:cNvSpPr/>
          <p:nvPr/>
        </p:nvSpPr>
        <p:spPr>
          <a:xfrm>
            <a:off x="8321040" y="1691640"/>
            <a:ext cx="685800" cy="685800"/>
          </a:xfrm>
          <a:prstGeom prst="ellipse">
            <a:avLst/>
          </a:prstGeom>
          <a:solidFill>
            <a:srgbClr val="7E5BB5"/>
          </a:solidFill>
          <a:ln w="12700">
            <a:solidFill>
              <a:srgbClr val="7E5BB5"/>
            </a:solidFill>
            <a:prstDash val="solid"/>
          </a:ln>
        </p:spPr>
      </p:sp>
      <p:pic>
        <p:nvPicPr>
          <p:cNvPr id="15" name="Image 2" descr="preencoded.png">    </p:cNvPr>
          <p:cNvPicPr>
            <a:picLocks noChangeAspect="1"/>
          </p:cNvPicPr>
          <p:nvPr/>
        </p:nvPicPr>
        <p:blipFill>
          <a:blip r:embed="rId3"/>
          <a:stretch>
            <a:fillRect/>
          </a:stretch>
        </p:blipFill>
        <p:spPr>
          <a:xfrm>
            <a:off x="8485632" y="1856232"/>
            <a:ext cx="356616" cy="356616"/>
          </a:xfrm>
          <a:prstGeom prst="rect">
            <a:avLst/>
          </a:prstGeom>
        </p:spPr>
      </p:pic>
      <p:sp>
        <p:nvSpPr>
          <p:cNvPr id="16" name="Text 11"/>
          <p:cNvSpPr txBox="1"/>
          <p:nvPr/>
        </p:nvSpPr>
        <p:spPr>
          <a:xfrm>
            <a:off x="9144000" y="1783080"/>
            <a:ext cx="2286000" cy="457200"/>
          </a:xfrm>
          <a:prstGeom prst="rect">
            <a:avLst/>
          </a:prstGeom>
          <a:noFill/>
          <a:ln/>
        </p:spPr>
        <p:txBody>
          <a:bodyPr wrap="square" lIns="0" tIns="0" rIns="0" bIns="0" rtlCol="0" anchor="ctr"/>
          <a:lstStyle/>
          <a:p>
            <a:pPr indent="0" marL="0">
              <a:buNone/>
            </a:pPr>
            <a:r>
              <a:rPr lang="en-US" sz="1800" b="1" dirty="0">
                <a:solidFill>
                  <a:schemeClr val="tx2"/>
                </a:solidFill>
              </a:rPr>
              <a:t>Deployment &amp; access</a:t>
            </a:r>
            <a:endParaRPr lang="en-US" sz="1800" dirty="0"/>
          </a:p>
        </p:txBody>
      </p:sp>
      <p:sp>
        <p:nvSpPr>
          <p:cNvPr id="17" name="Text 12"/>
          <p:cNvSpPr txBox="1"/>
          <p:nvPr/>
        </p:nvSpPr>
        <p:spPr>
          <a:xfrm>
            <a:off x="8321040" y="2606040"/>
            <a:ext cx="3063240" cy="3200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Hosted, or on your own servers via Docker</a:t>
            </a:r>
            <a:endParaRPr lang="en-US" sz="1400" dirty="0"/>
          </a:p>
          <a:p>
            <a:pPr marL="342900" indent="-342900">
              <a:spcAft>
                <a:spcPts val="800"/>
              </a:spcAft>
              <a:buSzPct val="100000"/>
              <a:buChar char="•"/>
            </a:pPr>
            <a:r>
              <a:rPr lang="en-US" sz="1400" dirty="0">
                <a:solidFill>
                  <a:schemeClr val="tx1"/>
                </a:solidFill>
              </a:rPr>
              <a:t>Multi-institution setup with central admin</a:t>
            </a:r>
            <a:endParaRPr lang="en-US" sz="1400" dirty="0"/>
          </a:p>
          <a:p>
            <a:pPr marL="342900" indent="-342900">
              <a:spcAft>
                <a:spcPts val="800"/>
              </a:spcAft>
              <a:buSzPct val="100000"/>
              <a:buChar char="•"/>
            </a:pPr>
            <a:r>
              <a:rPr lang="en-US" sz="1400" dirty="0">
                <a:solidFill>
                  <a:schemeClr val="tx1"/>
                </a:solidFill>
              </a:rPr>
              <a:t>19 interface languages</a:t>
            </a:r>
            <a:endParaRPr lang="en-US" sz="1400" dirty="0"/>
          </a:p>
          <a:p>
            <a:pPr marL="342900" indent="-342900">
              <a:spcAft>
                <a:spcPts val="800"/>
              </a:spcAft>
              <a:buSzPct val="100000"/>
              <a:buChar char="•"/>
            </a:pPr>
            <a:r>
              <a:rPr lang="en-US" sz="1400" dirty="0">
                <a:solidFill>
                  <a:schemeClr val="tx1"/>
                </a:solidFill>
              </a:rPr>
              <a:t>Light and dark modes, adjustable text size</a:t>
            </a:r>
            <a:endParaRPr lang="en-US" sz="1400" dirty="0"/>
          </a:p>
          <a:p>
            <a:pPr marL="342900" indent="-342900">
              <a:spcAft>
                <a:spcPts val="800"/>
              </a:spcAft>
              <a:buSzPct val="100000"/>
              <a:buChar char="•"/>
            </a:pPr>
            <a:r>
              <a:rPr lang="en-US" sz="1400" dirty="0">
                <a:solidFill>
                  <a:schemeClr val="tx1"/>
                </a:solidFill>
              </a:rPr>
              <a:t>Open, interoperable PID-based design</a:t>
            </a:r>
            <a:endParaRPr lang="en-US" sz="14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C78"/>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chemeClr val="tx2"/>
                </a:solidFill>
              </a:rPr>
              <a:t>What changes for your institution</a:t>
            </a:r>
            <a:endParaRPr lang="en-US" sz="3200" dirty="0"/>
          </a:p>
        </p:txBody>
      </p:sp>
      <p:graphicFrame>
        <p:nvGraphicFramePr>
          <p:cNvPr id="21" name="Before and after"/>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651760"/>
                <a:gridCol w="4023360"/>
                <a:gridCol w="4389120"/>
              </a:tblGrid>
              <a:tr h="566928">
                <a:tc>
                  <a:txBody>
                    <a:bodyPr/>
                    <a:lstStyle/>
                    <a:p>
                      <a:pPr indent="0" marL="0">
                        <a:buNone/>
                      </a:pPr>
                      <a:endParaRPr lang="en-US" sz="15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FFFFFF"/>
                    </a:solidFill>
                  </a:tcPr>
                </a:tc>
                <a:tc>
                  <a:txBody>
                    <a:bodyPr/>
                    <a:lstStyle/>
                    <a:p>
                      <a:pPr indent="0" marL="0">
                        <a:buNone/>
                      </a:pPr>
                      <a:r>
                        <a:rPr lang="en-US" sz="1500" b="1" dirty="0">
                          <a:solidFill>
                            <a:srgbClr val="5E5C78"/>
                          </a:solidFill>
                          <a:latin typeface="Calibri" pitchFamily="34" charset="0"/>
                          <a:ea typeface="Calibri" pitchFamily="34" charset="-122"/>
                          <a:cs typeface="Calibri" pitchFamily="34" charset="-120"/>
                        </a:rPr>
                        <a:t>Today</a:t>
                      </a:r>
                      <a:endParaRPr lang="en-US" sz="15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EDEBF2"/>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With HospitiumRIS</a:t>
                      </a:r>
                      <a:endParaRPr lang="en-US" sz="15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7E5BB5"/>
                    </a:solidFill>
                  </a:tcPr>
                </a:tc>
              </a:tr>
              <a:tr h="566928">
                <a:tc>
                  <a:txBody>
                    <a:bodyPr/>
                    <a:lstStyle/>
                    <a:p>
                      <a:pPr indent="0" marL="0">
                        <a:buNone/>
                      </a:pPr>
                      <a:r>
                        <a:rPr lang="en-US" sz="1400" b="1" dirty="0">
                          <a:solidFill>
                            <a:srgbClr val="1C1B3A"/>
                          </a:solidFill>
                          <a:latin typeface="Calibri" pitchFamily="34" charset="0"/>
                          <a:ea typeface="Calibri" pitchFamily="34" charset="-122"/>
                          <a:cs typeface="Calibri" pitchFamily="34" charset="-120"/>
                        </a:rPr>
                        <a:t>Research register</a:t>
                      </a:r>
                      <a:endParaRPr lang="en-US" sz="14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tcPr>
                </a:tc>
                <a:tc>
                  <a:txBody>
                    <a:bodyPr/>
                    <a:lstStyle/>
                    <a:p>
                      <a:pPr indent="0" marL="0">
                        <a:buNone/>
                      </a:pPr>
                      <a:r>
                        <a:rPr lang="en-US" sz="1400" dirty="0">
                          <a:solidFill>
                            <a:srgbClr val="5E5C78"/>
                          </a:solidFill>
                          <a:latin typeface="Calibri" pitchFamily="34" charset="0"/>
                          <a:ea typeface="Calibri" pitchFamily="34" charset="-122"/>
                          <a:cs typeface="Calibri" pitchFamily="34" charset="-120"/>
                        </a:rPr>
                        <a:t>Spreadsheets per department</a:t>
                      </a:r>
                      <a:endParaRPr lang="en-US" sz="14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tcPr>
                </a:tc>
                <a:tc>
                  <a:txBody>
                    <a:bodyPr/>
                    <a:lstStyle/>
                    <a:p>
                      <a:pPr indent="0" marL="0">
                        <a:buNone/>
                      </a:pPr>
                      <a:r>
                        <a:rPr lang="en-US" sz="1400" b="1" dirty="0">
                          <a:solidFill>
                            <a:srgbClr val="22213A"/>
                          </a:solidFill>
                          <a:latin typeface="Calibri" pitchFamily="34" charset="0"/>
                          <a:ea typeface="Calibri" pitchFamily="34" charset="-122"/>
                          <a:cs typeface="Calibri" pitchFamily="34" charset="-120"/>
                        </a:rPr>
                        <a:t>One live register of projects, trials and outputs</a:t>
                      </a:r>
                      <a:endParaRPr lang="en-US" sz="14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EFEAF8"/>
                    </a:solidFill>
                  </a:tcPr>
                </a:tc>
              </a:tr>
              <a:tr h="566928">
                <a:tc>
                  <a:txBody>
                    <a:bodyPr/>
                    <a:lstStyle/>
                    <a:p>
                      <a:pPr indent="0" marL="0">
                        <a:buNone/>
                      </a:pPr>
                      <a:r>
                        <a:rPr lang="en-US" sz="1400" b="1" dirty="0">
                          <a:solidFill>
                            <a:srgbClr val="1C1B3A"/>
                          </a:solidFill>
                          <a:latin typeface="Calibri" pitchFamily="34" charset="0"/>
                          <a:ea typeface="Calibri" pitchFamily="34" charset="-122"/>
                          <a:cs typeface="Calibri" pitchFamily="34" charset="-120"/>
                        </a:rPr>
                        <a:t>Ethics &amp; approvals</a:t>
                      </a:r>
                      <a:endParaRPr lang="en-US" sz="14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tcPr>
                </a:tc>
                <a:tc>
                  <a:txBody>
                    <a:bodyPr/>
                    <a:lstStyle/>
                    <a:p>
                      <a:pPr indent="0" marL="0">
                        <a:buNone/>
                      </a:pPr>
                      <a:r>
                        <a:rPr lang="en-US" sz="1400" dirty="0">
                          <a:solidFill>
                            <a:srgbClr val="5E5C78"/>
                          </a:solidFill>
                          <a:latin typeface="Calibri" pitchFamily="34" charset="0"/>
                          <a:ea typeface="Calibri" pitchFamily="34" charset="-122"/>
                          <a:cs typeface="Calibri" pitchFamily="34" charset="-120"/>
                        </a:rPr>
                        <a:t>Paper forms and email chains</a:t>
                      </a:r>
                      <a:endParaRPr lang="en-US" sz="14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tcPr>
                </a:tc>
                <a:tc>
                  <a:txBody>
                    <a:bodyPr/>
                    <a:lstStyle/>
                    <a:p>
                      <a:pPr indent="0" marL="0">
                        <a:buNone/>
                      </a:pPr>
                      <a:r>
                        <a:rPr lang="en-US" sz="1400" b="1" dirty="0">
                          <a:solidFill>
                            <a:srgbClr val="22213A"/>
                          </a:solidFill>
                          <a:latin typeface="Calibri" pitchFamily="34" charset="0"/>
                          <a:ea typeface="Calibri" pitchFamily="34" charset="-122"/>
                          <a:cs typeface="Calibri" pitchFamily="34" charset="-120"/>
                        </a:rPr>
                        <a:t>Online submission, review and expiry alerts</a:t>
                      </a:r>
                      <a:endParaRPr lang="en-US" sz="14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EFEAF8"/>
                    </a:solidFill>
                  </a:tcPr>
                </a:tc>
              </a:tr>
              <a:tr h="566928">
                <a:tc>
                  <a:txBody>
                    <a:bodyPr/>
                    <a:lstStyle/>
                    <a:p>
                      <a:pPr indent="0" marL="0">
                        <a:buNone/>
                      </a:pPr>
                      <a:r>
                        <a:rPr lang="en-US" sz="1400" b="1" dirty="0">
                          <a:solidFill>
                            <a:srgbClr val="1C1B3A"/>
                          </a:solidFill>
                          <a:latin typeface="Calibri" pitchFamily="34" charset="0"/>
                          <a:ea typeface="Calibri" pitchFamily="34" charset="-122"/>
                          <a:cs typeface="Calibri" pitchFamily="34" charset="-120"/>
                        </a:rPr>
                        <a:t>Funding</a:t>
                      </a:r>
                      <a:endParaRPr lang="en-US" sz="14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tcPr>
                </a:tc>
                <a:tc>
                  <a:txBody>
                    <a:bodyPr/>
                    <a:lstStyle/>
                    <a:p>
                      <a:pPr indent="0" marL="0">
                        <a:buNone/>
                      </a:pPr>
                      <a:r>
                        <a:rPr lang="en-US" sz="1400" dirty="0">
                          <a:solidFill>
                            <a:srgbClr val="5E5C78"/>
                          </a:solidFill>
                          <a:latin typeface="Calibri" pitchFamily="34" charset="0"/>
                          <a:ea typeface="Calibri" pitchFamily="34" charset="-122"/>
                          <a:cs typeface="Calibri" pitchFamily="34" charset="-120"/>
                        </a:rPr>
                        <a:t>Grant status tracked by memory</a:t>
                      </a:r>
                      <a:endParaRPr lang="en-US" sz="14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tcPr>
                </a:tc>
                <a:tc>
                  <a:txBody>
                    <a:bodyPr/>
                    <a:lstStyle/>
                    <a:p>
                      <a:pPr indent="0" marL="0">
                        <a:buNone/>
                      </a:pPr>
                      <a:r>
                        <a:rPr lang="en-US" sz="1400" b="1" dirty="0">
                          <a:solidFill>
                            <a:srgbClr val="22213A"/>
                          </a:solidFill>
                          <a:latin typeface="Calibri" pitchFamily="34" charset="0"/>
                          <a:ea typeface="Calibri" pitchFamily="34" charset="-122"/>
                          <a:cs typeface="Calibri" pitchFamily="34" charset="-120"/>
                        </a:rPr>
                        <a:t>Pipeline from call to award, with audit trail</a:t>
                      </a:r>
                      <a:endParaRPr lang="en-US" sz="14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EFEAF8"/>
                    </a:solidFill>
                  </a:tcPr>
                </a:tc>
              </a:tr>
              <a:tr h="566928">
                <a:tc>
                  <a:txBody>
                    <a:bodyPr/>
                    <a:lstStyle/>
                    <a:p>
                      <a:pPr indent="0" marL="0">
                        <a:buNone/>
                      </a:pPr>
                      <a:r>
                        <a:rPr lang="en-US" sz="1400" b="1" dirty="0">
                          <a:solidFill>
                            <a:srgbClr val="1C1B3A"/>
                          </a:solidFill>
                          <a:latin typeface="Calibri" pitchFamily="34" charset="0"/>
                          <a:ea typeface="Calibri" pitchFamily="34" charset="-122"/>
                          <a:cs typeface="Calibri" pitchFamily="34" charset="-120"/>
                        </a:rPr>
                        <a:t>Manuscripts</a:t>
                      </a:r>
                      <a:endParaRPr lang="en-US" sz="14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tcPr>
                </a:tc>
                <a:tc>
                  <a:txBody>
                    <a:bodyPr/>
                    <a:lstStyle/>
                    <a:p>
                      <a:pPr indent="0" marL="0">
                        <a:buNone/>
                      </a:pPr>
                      <a:r>
                        <a:rPr lang="en-US" sz="1400" dirty="0">
                          <a:solidFill>
                            <a:srgbClr val="5E5C78"/>
                          </a:solidFill>
                          <a:latin typeface="Calibri" pitchFamily="34" charset="0"/>
                          <a:ea typeface="Calibri" pitchFamily="34" charset="-122"/>
                          <a:cs typeface="Calibri" pitchFamily="34" charset="-120"/>
                        </a:rPr>
                        <a:t>Drafts in email attachments</a:t>
                      </a:r>
                      <a:endParaRPr lang="en-US" sz="14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tcPr>
                </a:tc>
                <a:tc>
                  <a:txBody>
                    <a:bodyPr/>
                    <a:lstStyle/>
                    <a:p>
                      <a:pPr indent="0" marL="0">
                        <a:buNone/>
                      </a:pPr>
                      <a:r>
                        <a:rPr lang="en-US" sz="1400" b="1" dirty="0">
                          <a:solidFill>
                            <a:srgbClr val="22213A"/>
                          </a:solidFill>
                          <a:latin typeface="Calibri" pitchFamily="34" charset="0"/>
                          <a:ea typeface="Calibri" pitchFamily="34" charset="-122"/>
                          <a:cs typeface="Calibri" pitchFamily="34" charset="-120"/>
                        </a:rPr>
                        <a:t>Co-authoring with versions and citations</a:t>
                      </a:r>
                      <a:endParaRPr lang="en-US" sz="14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EFEAF8"/>
                    </a:solidFill>
                  </a:tcPr>
                </a:tc>
              </a:tr>
              <a:tr h="566928">
                <a:tc>
                  <a:txBody>
                    <a:bodyPr/>
                    <a:lstStyle/>
                    <a:p>
                      <a:pPr indent="0" marL="0">
                        <a:buNone/>
                      </a:pPr>
                      <a:r>
                        <a:rPr lang="en-US" sz="1400" b="1" dirty="0">
                          <a:solidFill>
                            <a:srgbClr val="1C1B3A"/>
                          </a:solidFill>
                          <a:latin typeface="Calibri" pitchFamily="34" charset="0"/>
                          <a:ea typeface="Calibri" pitchFamily="34" charset="-122"/>
                          <a:cs typeface="Calibri" pitchFamily="34" charset="-120"/>
                        </a:rPr>
                        <a:t>Reporting</a:t>
                      </a:r>
                      <a:endParaRPr lang="en-US" sz="14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tcPr>
                </a:tc>
                <a:tc>
                  <a:txBody>
                    <a:bodyPr/>
                    <a:lstStyle/>
                    <a:p>
                      <a:pPr indent="0" marL="0">
                        <a:buNone/>
                      </a:pPr>
                      <a:r>
                        <a:rPr lang="en-US" sz="1400" dirty="0">
                          <a:solidFill>
                            <a:srgbClr val="5E5C78"/>
                          </a:solidFill>
                          <a:latin typeface="Calibri" pitchFamily="34" charset="0"/>
                          <a:ea typeface="Calibri" pitchFamily="34" charset="-122"/>
                          <a:cs typeface="Calibri" pitchFamily="34" charset="-120"/>
                        </a:rPr>
                        <a:t>Weeks of chasing researchers</a:t>
                      </a:r>
                      <a:endParaRPr lang="en-US" sz="14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tcPr>
                </a:tc>
                <a:tc>
                  <a:txBody>
                    <a:bodyPr/>
                    <a:lstStyle/>
                    <a:p>
                      <a:pPr indent="0" marL="0">
                        <a:buNone/>
                      </a:pPr>
                      <a:r>
                        <a:rPr lang="en-US" sz="1400" b="1" dirty="0">
                          <a:solidFill>
                            <a:srgbClr val="22213A"/>
                          </a:solidFill>
                          <a:latin typeface="Calibri" pitchFamily="34" charset="0"/>
                          <a:ea typeface="Calibri" pitchFamily="34" charset="-122"/>
                          <a:cs typeface="Calibri" pitchFamily="34" charset="-120"/>
                        </a:rPr>
                        <a:t>Dashboards and exports on demand</a:t>
                      </a:r>
                      <a:endParaRPr lang="en-US" sz="14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EFEAF8"/>
                    </a:solidFill>
                  </a:tcPr>
                </a:tc>
              </a:tr>
              <a:tr h="566928">
                <a:tc>
                  <a:txBody>
                    <a:bodyPr/>
                    <a:lstStyle/>
                    <a:p>
                      <a:pPr indent="0" marL="0">
                        <a:buNone/>
                      </a:pPr>
                      <a:r>
                        <a:rPr lang="en-US" sz="1400" b="1" dirty="0">
                          <a:solidFill>
                            <a:srgbClr val="1C1B3A"/>
                          </a:solidFill>
                          <a:latin typeface="Calibri" pitchFamily="34" charset="0"/>
                          <a:ea typeface="Calibri" pitchFamily="34" charset="-122"/>
                          <a:cs typeface="Calibri" pitchFamily="34" charset="-120"/>
                        </a:rPr>
                        <a:t>Visibility</a:t>
                      </a:r>
                      <a:endParaRPr lang="en-US" sz="14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tcPr>
                </a:tc>
                <a:tc>
                  <a:txBody>
                    <a:bodyPr/>
                    <a:lstStyle/>
                    <a:p>
                      <a:pPr indent="0" marL="0">
                        <a:buNone/>
                      </a:pPr>
                      <a:r>
                        <a:rPr lang="en-US" sz="1400" dirty="0">
                          <a:solidFill>
                            <a:srgbClr val="5E5C78"/>
                          </a:solidFill>
                          <a:latin typeface="Calibri" pitchFamily="34" charset="0"/>
                          <a:ea typeface="Calibri" pitchFamily="34" charset="-122"/>
                          <a:cs typeface="Calibri" pitchFamily="34" charset="-120"/>
                        </a:rPr>
                        <a:t>Outputs hard to find</a:t>
                      </a:r>
                      <a:endParaRPr lang="en-US" sz="14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tcPr>
                </a:tc>
                <a:tc>
                  <a:txBody>
                    <a:bodyPr/>
                    <a:lstStyle/>
                    <a:p>
                      <a:pPr indent="0" marL="0">
                        <a:buNone/>
                      </a:pPr>
                      <a:r>
                        <a:rPr lang="en-US" sz="1400" b="1" dirty="0">
                          <a:solidFill>
                            <a:srgbClr val="22213A"/>
                          </a:solidFill>
                          <a:latin typeface="Calibri" pitchFamily="34" charset="0"/>
                          <a:ea typeface="Calibri" pitchFamily="34" charset="-122"/>
                          <a:cs typeface="Calibri" pitchFamily="34" charset="-120"/>
                        </a:rPr>
                        <a:t>PID-linked profiles and publications</a:t>
                      </a:r>
                      <a:endParaRPr lang="en-US" sz="14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EFEAF8"/>
                    </a:solidFill>
                  </a:tcPr>
                </a:tc>
              </a:tr>
              <a:tr h="566928">
                <a:tc>
                  <a:txBody>
                    <a:bodyPr/>
                    <a:lstStyle/>
                    <a:p>
                      <a:pPr indent="0" marL="0">
                        <a:buNone/>
                      </a:pPr>
                      <a:r>
                        <a:rPr lang="en-US" sz="1400" b="1" dirty="0">
                          <a:solidFill>
                            <a:srgbClr val="1C1B3A"/>
                          </a:solidFill>
                          <a:latin typeface="Calibri" pitchFamily="34" charset="0"/>
                          <a:ea typeface="Calibri" pitchFamily="34" charset="-122"/>
                          <a:cs typeface="Calibri" pitchFamily="34" charset="-120"/>
                        </a:rPr>
                        <a:t>Insight</a:t>
                      </a:r>
                      <a:endParaRPr lang="en-US" sz="14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tcPr>
                </a:tc>
                <a:tc>
                  <a:txBody>
                    <a:bodyPr/>
                    <a:lstStyle/>
                    <a:p>
                      <a:pPr indent="0" marL="0">
                        <a:buNone/>
                      </a:pPr>
                      <a:r>
                        <a:rPr lang="en-US" sz="1400" dirty="0">
                          <a:solidFill>
                            <a:srgbClr val="5E5C78"/>
                          </a:solidFill>
                          <a:latin typeface="Calibri" pitchFamily="34" charset="0"/>
                          <a:ea typeface="Calibri" pitchFamily="34" charset="-122"/>
                          <a:cs typeface="Calibri" pitchFamily="34" charset="-120"/>
                        </a:rPr>
                        <a:t>Reading every paper and report by hand</a:t>
                      </a:r>
                      <a:endParaRPr lang="en-US" sz="14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tcPr>
                </a:tc>
                <a:tc>
                  <a:txBody>
                    <a:bodyPr/>
                    <a:lstStyle/>
                    <a:p>
                      <a:pPr indent="0" marL="0">
                        <a:buNone/>
                      </a:pPr>
                      <a:r>
                        <a:rPr lang="en-US" sz="1400" b="1" dirty="0">
                          <a:solidFill>
                            <a:srgbClr val="22213A"/>
                          </a:solidFill>
                          <a:latin typeface="Calibri" pitchFamily="34" charset="0"/>
                          <a:ea typeface="Calibri" pitchFamily="34" charset="-122"/>
                          <a:cs typeface="Calibri" pitchFamily="34" charset="-120"/>
                        </a:rPr>
                        <a:t>AI summaries and recommended next actions</a:t>
                      </a:r>
                      <a:endParaRPr lang="en-US" sz="1400" dirty="0">
                        <a:latin typeface="Calibri" charset="0"/>
                        <a:ea typeface="Calibri" charset="0"/>
                        <a:cs typeface="Calibri" charset="0"/>
                      </a:endParaRPr>
                    </a:p>
                  </a:txBody>
                  <a:tcPr marL="137160" marR="137160" marT="45720" marB="45720" anchor="ctr">
                    <a:lnL w="9525" cap="flat" cmpd="sng" algn="ctr">
                      <a:solidFill>
                        <a:srgbClr val="DDD8EC"/>
                      </a:solidFill>
                      <a:prstDash val="solid"/>
                      <a:round/>
                      <a:headEnd type="none" w="med" len="med"/>
                      <a:tailEnd type="none" w="med" len="med"/>
                    </a:lnL>
                    <a:lnR w="9525" cap="flat" cmpd="sng" algn="ctr">
                      <a:solidFill>
                        <a:srgbClr val="DDD8EC"/>
                      </a:solidFill>
                      <a:prstDash val="solid"/>
                      <a:round/>
                      <a:headEnd type="none" w="med" len="med"/>
                      <a:tailEnd type="none" w="med" len="med"/>
                    </a:lnR>
                    <a:lnT w="9525" cap="flat" cmpd="sng" algn="ctr">
                      <a:solidFill>
                        <a:srgbClr val="DDD8EC"/>
                      </a:solidFill>
                      <a:prstDash val="solid"/>
                      <a:round/>
                      <a:headEnd type="none" w="med" len="med"/>
                      <a:tailEnd type="none" w="med" len="med"/>
                    </a:lnT>
                    <a:lnB w="9525" cap="flat" cmpd="sng" algn="ctr">
                      <a:solidFill>
                        <a:srgbClr val="DDD8EC"/>
                      </a:solidFill>
                      <a:prstDash val="solid"/>
                      <a:round/>
                      <a:headEnd type="none" w="med" len="med"/>
                      <a:tailEnd type="none" w="med" len="med"/>
                    </a:lnB>
                    <a:solidFill>
                      <a:srgbClr val="EFEAF8"/>
                    </a:solidFill>
                  </a:tcPr>
                </a:tc>
              </a:tr>
            </a:tbl>
          </a:graphicData>
        </a:graphic>
      </p:graphicFrame>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C78"/>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chemeClr val="tx2"/>
                </a:solidFill>
              </a:rPr>
              <a:t>A clear path to go-live</a:t>
            </a:r>
            <a:endParaRPr lang="en-US" sz="3200" dirty="0"/>
          </a:p>
        </p:txBody>
      </p:sp>
      <p:sp>
        <p:nvSpPr>
          <p:cNvPr id="3" name="Text 1"/>
          <p:cNvSpPr txBox="1"/>
          <p:nvPr/>
        </p:nvSpPr>
        <p:spPr>
          <a:xfrm>
            <a:off x="548640" y="1143000"/>
            <a:ext cx="11064240" cy="457200"/>
          </a:xfrm>
          <a:prstGeom prst="rect">
            <a:avLst/>
          </a:prstGeom>
          <a:noFill/>
          <a:ln/>
        </p:spPr>
        <p:txBody>
          <a:bodyPr wrap="square" lIns="0" tIns="0" rIns="0" bIns="0" rtlCol="0" anchor="ctr"/>
          <a:lstStyle/>
          <a:p>
            <a:pPr indent="0" marL="0">
              <a:buNone/>
            </a:pPr>
            <a:r>
              <a:rPr lang="en-US" sz="1600" dirty="0">
                <a:solidFill>
                  <a:schemeClr val="tx1"/>
                </a:solidFill>
              </a:rPr>
              <a:t>We handle the heavy lifting; your team focuses on decisions and adoption.</a:t>
            </a:r>
            <a:endParaRPr lang="en-US" sz="1600" dirty="0"/>
          </a:p>
        </p:txBody>
      </p:sp>
      <p:sp>
        <p:nvSpPr>
          <p:cNvPr id="4" name="Shape 2"/>
          <p:cNvSpPr/>
          <p:nvPr/>
        </p:nvSpPr>
        <p:spPr>
          <a:xfrm>
            <a:off x="1097280" y="2331720"/>
            <a:ext cx="8961120" cy="0"/>
          </a:xfrm>
          <a:prstGeom prst="line">
            <a:avLst/>
          </a:prstGeom>
          <a:noFill/>
          <a:ln w="25400">
            <a:solidFill>
              <a:srgbClr val="C9B9E8"/>
            </a:solidFill>
            <a:prstDash val="solid"/>
          </a:ln>
        </p:spPr>
      </p:sp>
      <p:sp>
        <p:nvSpPr>
          <p:cNvPr id="5" name="Shape 3"/>
          <p:cNvSpPr/>
          <p:nvPr/>
        </p:nvSpPr>
        <p:spPr>
          <a:xfrm>
            <a:off x="777240" y="1874520"/>
            <a:ext cx="914400" cy="914400"/>
          </a:xfrm>
          <a:prstGeom prst="ellipse">
            <a:avLst/>
          </a:prstGeom>
          <a:solidFill>
            <a:srgbClr val="7E5BB5"/>
          </a:solidFill>
          <a:ln w="12700">
            <a:solidFill>
              <a:srgbClr val="7E5BB5"/>
            </a:solidFill>
            <a:prstDash val="solid"/>
          </a:ln>
        </p:spPr>
      </p:sp>
      <p:pic>
        <p:nvPicPr>
          <p:cNvPr id="6" name="Image 0" descr="preencoded.png">    </p:cNvPr>
          <p:cNvPicPr>
            <a:picLocks noChangeAspect="1"/>
          </p:cNvPicPr>
          <p:nvPr/>
        </p:nvPicPr>
        <p:blipFill>
          <a:blip r:embed="rId1"/>
          <a:stretch>
            <a:fillRect/>
          </a:stretch>
        </p:blipFill>
        <p:spPr>
          <a:xfrm>
            <a:off x="996696" y="2093976"/>
            <a:ext cx="475488" cy="475488"/>
          </a:xfrm>
          <a:prstGeom prst="rect">
            <a:avLst/>
          </a:prstGeom>
        </p:spPr>
      </p:pic>
      <p:sp>
        <p:nvSpPr>
          <p:cNvPr id="7" name="Text 4"/>
          <p:cNvSpPr txBox="1"/>
          <p:nvPr/>
        </p:nvSpPr>
        <p:spPr>
          <a:xfrm>
            <a:off x="777240" y="2971800"/>
            <a:ext cx="1828800" cy="274320"/>
          </a:xfrm>
          <a:prstGeom prst="rect">
            <a:avLst/>
          </a:prstGeom>
          <a:noFill/>
          <a:ln/>
        </p:spPr>
        <p:txBody>
          <a:bodyPr wrap="square" lIns="0" tIns="0" rIns="0" bIns="0" rtlCol="0" anchor="ctr"/>
          <a:lstStyle/>
          <a:p>
            <a:pPr indent="0" marL="0">
              <a:buNone/>
            </a:pPr>
            <a:r>
              <a:rPr lang="en-US" sz="1100" b="1" spc="100" kern="0" dirty="0">
                <a:solidFill>
                  <a:srgbClr val="5E5C78"/>
                </a:solidFill>
              </a:rPr>
              <a:t>PHASE 1</a:t>
            </a:r>
            <a:endParaRPr lang="en-US" sz="1100" dirty="0"/>
          </a:p>
        </p:txBody>
      </p:sp>
      <p:sp>
        <p:nvSpPr>
          <p:cNvPr id="8" name="Text 5"/>
          <p:cNvSpPr txBox="1"/>
          <p:nvPr/>
        </p:nvSpPr>
        <p:spPr>
          <a:xfrm>
            <a:off x="777240" y="3246120"/>
            <a:ext cx="1828800" cy="411480"/>
          </a:xfrm>
          <a:prstGeom prst="rect">
            <a:avLst/>
          </a:prstGeom>
          <a:noFill/>
          <a:ln/>
        </p:spPr>
        <p:txBody>
          <a:bodyPr wrap="square" lIns="0" tIns="0" rIns="0" bIns="0" rtlCol="0" anchor="ctr"/>
          <a:lstStyle/>
          <a:p>
            <a:pPr indent="0" marL="0">
              <a:buNone/>
            </a:pPr>
            <a:r>
              <a:rPr lang="en-US" sz="1800" b="1" dirty="0">
                <a:solidFill>
                  <a:schemeClr val="tx2"/>
                </a:solidFill>
              </a:rPr>
              <a:t>Discover</a:t>
            </a:r>
            <a:endParaRPr lang="en-US" sz="1800" dirty="0"/>
          </a:p>
        </p:txBody>
      </p:sp>
      <p:sp>
        <p:nvSpPr>
          <p:cNvPr id="9" name="Text 6"/>
          <p:cNvSpPr txBox="1"/>
          <p:nvPr/>
        </p:nvSpPr>
        <p:spPr>
          <a:xfrm>
            <a:off x="777240" y="3703320"/>
            <a:ext cx="1783080" cy="1097280"/>
          </a:xfrm>
          <a:prstGeom prst="rect">
            <a:avLst/>
          </a:prstGeom>
          <a:noFill/>
          <a:ln/>
        </p:spPr>
        <p:txBody>
          <a:bodyPr wrap="square" lIns="0" tIns="0" rIns="0" bIns="0" rtlCol="0" anchor="t"/>
          <a:lstStyle/>
          <a:p>
            <a:pPr indent="0" marL="0">
              <a:buNone/>
            </a:pPr>
            <a:r>
              <a:rPr lang="en-US" sz="1300" dirty="0">
                <a:solidFill>
                  <a:schemeClr val="tx1"/>
                </a:solidFill>
              </a:rPr>
              <a:t>Map your workflows, review stages, ethics forms and reporting needs.</a:t>
            </a:r>
            <a:endParaRPr lang="en-US" sz="1300" dirty="0"/>
          </a:p>
        </p:txBody>
      </p:sp>
      <p:sp>
        <p:nvSpPr>
          <p:cNvPr id="10" name="Shape 7"/>
          <p:cNvSpPr/>
          <p:nvPr/>
        </p:nvSpPr>
        <p:spPr>
          <a:xfrm>
            <a:off x="3017520" y="1874520"/>
            <a:ext cx="914400" cy="914400"/>
          </a:xfrm>
          <a:prstGeom prst="ellipse">
            <a:avLst/>
          </a:prstGeom>
          <a:solidFill>
            <a:srgbClr val="2A9DC0"/>
          </a:solidFill>
          <a:ln w="12700">
            <a:solidFill>
              <a:srgbClr val="2A9DC0"/>
            </a:solidFill>
            <a:prstDash val="solid"/>
          </a:ln>
        </p:spPr>
      </p:sp>
      <p:pic>
        <p:nvPicPr>
          <p:cNvPr id="11" name="Image 1" descr="preencoded.png">    </p:cNvPr>
          <p:cNvPicPr>
            <a:picLocks noChangeAspect="1"/>
          </p:cNvPicPr>
          <p:nvPr/>
        </p:nvPicPr>
        <p:blipFill>
          <a:blip r:embed="rId2"/>
          <a:stretch>
            <a:fillRect/>
          </a:stretch>
        </p:blipFill>
        <p:spPr>
          <a:xfrm>
            <a:off x="3236976" y="2093976"/>
            <a:ext cx="475488" cy="475488"/>
          </a:xfrm>
          <a:prstGeom prst="rect">
            <a:avLst/>
          </a:prstGeom>
        </p:spPr>
      </p:pic>
      <p:sp>
        <p:nvSpPr>
          <p:cNvPr id="12" name="Text 8"/>
          <p:cNvSpPr txBox="1"/>
          <p:nvPr/>
        </p:nvSpPr>
        <p:spPr>
          <a:xfrm>
            <a:off x="3017520" y="2971800"/>
            <a:ext cx="1828800" cy="274320"/>
          </a:xfrm>
          <a:prstGeom prst="rect">
            <a:avLst/>
          </a:prstGeom>
          <a:noFill/>
          <a:ln/>
        </p:spPr>
        <p:txBody>
          <a:bodyPr wrap="square" lIns="0" tIns="0" rIns="0" bIns="0" rtlCol="0" anchor="ctr"/>
          <a:lstStyle/>
          <a:p>
            <a:pPr indent="0" marL="0">
              <a:buNone/>
            </a:pPr>
            <a:r>
              <a:rPr lang="en-US" sz="1100" b="1" spc="100" kern="0" dirty="0">
                <a:solidFill>
                  <a:srgbClr val="5E5C78"/>
                </a:solidFill>
              </a:rPr>
              <a:t>PHASE 2</a:t>
            </a:r>
            <a:endParaRPr lang="en-US" sz="1100" dirty="0"/>
          </a:p>
        </p:txBody>
      </p:sp>
      <p:sp>
        <p:nvSpPr>
          <p:cNvPr id="13" name="Text 9"/>
          <p:cNvSpPr txBox="1"/>
          <p:nvPr/>
        </p:nvSpPr>
        <p:spPr>
          <a:xfrm>
            <a:off x="3017520" y="3246120"/>
            <a:ext cx="1828800" cy="411480"/>
          </a:xfrm>
          <a:prstGeom prst="rect">
            <a:avLst/>
          </a:prstGeom>
          <a:noFill/>
          <a:ln/>
        </p:spPr>
        <p:txBody>
          <a:bodyPr wrap="square" lIns="0" tIns="0" rIns="0" bIns="0" rtlCol="0" anchor="ctr"/>
          <a:lstStyle/>
          <a:p>
            <a:pPr indent="0" marL="0">
              <a:buNone/>
            </a:pPr>
            <a:r>
              <a:rPr lang="en-US" sz="1800" b="1" dirty="0">
                <a:solidFill>
                  <a:schemeClr val="tx2"/>
                </a:solidFill>
              </a:rPr>
              <a:t>Configure</a:t>
            </a:r>
            <a:endParaRPr lang="en-US" sz="1800" dirty="0"/>
          </a:p>
        </p:txBody>
      </p:sp>
      <p:sp>
        <p:nvSpPr>
          <p:cNvPr id="14" name="Text 10"/>
          <p:cNvSpPr txBox="1"/>
          <p:nvPr/>
        </p:nvSpPr>
        <p:spPr>
          <a:xfrm>
            <a:off x="3017520" y="3703320"/>
            <a:ext cx="1783080" cy="1097280"/>
          </a:xfrm>
          <a:prstGeom prst="rect">
            <a:avLst/>
          </a:prstGeom>
          <a:noFill/>
          <a:ln/>
        </p:spPr>
        <p:txBody>
          <a:bodyPr wrap="square" lIns="0" tIns="0" rIns="0" bIns="0" rtlCol="0" anchor="t"/>
          <a:lstStyle/>
          <a:p>
            <a:pPr indent="0" marL="0">
              <a:buNone/>
            </a:pPr>
            <a:r>
              <a:rPr lang="en-US" sz="1300" dirty="0">
                <a:solidFill>
                  <a:schemeClr val="tx1"/>
                </a:solidFill>
              </a:rPr>
              <a:t>Set up roles, review pipelines, verified domains and branding.</a:t>
            </a:r>
            <a:endParaRPr lang="en-US" sz="1300" dirty="0"/>
          </a:p>
        </p:txBody>
      </p:sp>
      <p:sp>
        <p:nvSpPr>
          <p:cNvPr id="15" name="Shape 11"/>
          <p:cNvSpPr/>
          <p:nvPr/>
        </p:nvSpPr>
        <p:spPr>
          <a:xfrm>
            <a:off x="5257800" y="1874520"/>
            <a:ext cx="914400" cy="914400"/>
          </a:xfrm>
          <a:prstGeom prst="ellipse">
            <a:avLst/>
          </a:prstGeom>
          <a:solidFill>
            <a:srgbClr val="7E5BB5"/>
          </a:solidFill>
          <a:ln w="12700">
            <a:solidFill>
              <a:srgbClr val="7E5BB5"/>
            </a:solidFill>
            <a:prstDash val="solid"/>
          </a:ln>
        </p:spPr>
      </p:sp>
      <p:pic>
        <p:nvPicPr>
          <p:cNvPr id="16" name="Image 2" descr="preencoded.png">    </p:cNvPr>
          <p:cNvPicPr>
            <a:picLocks noChangeAspect="1"/>
          </p:cNvPicPr>
          <p:nvPr/>
        </p:nvPicPr>
        <p:blipFill>
          <a:blip r:embed="rId3"/>
          <a:stretch>
            <a:fillRect/>
          </a:stretch>
        </p:blipFill>
        <p:spPr>
          <a:xfrm>
            <a:off x="5477256" y="2093976"/>
            <a:ext cx="475488" cy="475488"/>
          </a:xfrm>
          <a:prstGeom prst="rect">
            <a:avLst/>
          </a:prstGeom>
        </p:spPr>
      </p:pic>
      <p:sp>
        <p:nvSpPr>
          <p:cNvPr id="17" name="Text 12"/>
          <p:cNvSpPr txBox="1"/>
          <p:nvPr/>
        </p:nvSpPr>
        <p:spPr>
          <a:xfrm>
            <a:off x="5257800" y="2971800"/>
            <a:ext cx="1828800" cy="274320"/>
          </a:xfrm>
          <a:prstGeom prst="rect">
            <a:avLst/>
          </a:prstGeom>
          <a:noFill/>
          <a:ln/>
        </p:spPr>
        <p:txBody>
          <a:bodyPr wrap="square" lIns="0" tIns="0" rIns="0" bIns="0" rtlCol="0" anchor="ctr"/>
          <a:lstStyle/>
          <a:p>
            <a:pPr indent="0" marL="0">
              <a:buNone/>
            </a:pPr>
            <a:r>
              <a:rPr lang="en-US" sz="1100" b="1" spc="100" kern="0" dirty="0">
                <a:solidFill>
                  <a:srgbClr val="5E5C78"/>
                </a:solidFill>
              </a:rPr>
              <a:t>PHASE 3</a:t>
            </a:r>
            <a:endParaRPr lang="en-US" sz="1100" dirty="0"/>
          </a:p>
        </p:txBody>
      </p:sp>
      <p:sp>
        <p:nvSpPr>
          <p:cNvPr id="18" name="Text 13"/>
          <p:cNvSpPr txBox="1"/>
          <p:nvPr/>
        </p:nvSpPr>
        <p:spPr>
          <a:xfrm>
            <a:off x="5257800" y="3246120"/>
            <a:ext cx="1828800" cy="411480"/>
          </a:xfrm>
          <a:prstGeom prst="rect">
            <a:avLst/>
          </a:prstGeom>
          <a:noFill/>
          <a:ln/>
        </p:spPr>
        <p:txBody>
          <a:bodyPr wrap="square" lIns="0" tIns="0" rIns="0" bIns="0" rtlCol="0" anchor="ctr"/>
          <a:lstStyle/>
          <a:p>
            <a:pPr indent="0" marL="0">
              <a:buNone/>
            </a:pPr>
            <a:r>
              <a:rPr lang="en-US" sz="1800" b="1" dirty="0">
                <a:solidFill>
                  <a:schemeClr val="tx2"/>
                </a:solidFill>
              </a:rPr>
              <a:t>Migrate</a:t>
            </a:r>
            <a:endParaRPr lang="en-US" sz="1800" dirty="0"/>
          </a:p>
        </p:txBody>
      </p:sp>
      <p:sp>
        <p:nvSpPr>
          <p:cNvPr id="19" name="Text 14"/>
          <p:cNvSpPr txBox="1"/>
          <p:nvPr/>
        </p:nvSpPr>
        <p:spPr>
          <a:xfrm>
            <a:off x="5257800" y="3703320"/>
            <a:ext cx="1783080" cy="1097280"/>
          </a:xfrm>
          <a:prstGeom prst="rect">
            <a:avLst/>
          </a:prstGeom>
          <a:noFill/>
          <a:ln/>
        </p:spPr>
        <p:txBody>
          <a:bodyPr wrap="square" lIns="0" tIns="0" rIns="0" bIns="0" rtlCol="0" anchor="t"/>
          <a:lstStyle/>
          <a:p>
            <a:pPr indent="0" marL="0">
              <a:buNone/>
            </a:pPr>
            <a:r>
              <a:rPr lang="en-US" sz="1300" dirty="0">
                <a:solidFill>
                  <a:schemeClr val="tx1"/>
                </a:solidFill>
              </a:rPr>
              <a:t>Import publications, researcher profiles, active proposals and approvals.</a:t>
            </a:r>
            <a:endParaRPr lang="en-US" sz="1300" dirty="0"/>
          </a:p>
        </p:txBody>
      </p:sp>
      <p:sp>
        <p:nvSpPr>
          <p:cNvPr id="20" name="Shape 15"/>
          <p:cNvSpPr/>
          <p:nvPr/>
        </p:nvSpPr>
        <p:spPr>
          <a:xfrm>
            <a:off x="7498080" y="1874520"/>
            <a:ext cx="914400" cy="914400"/>
          </a:xfrm>
          <a:prstGeom prst="ellipse">
            <a:avLst/>
          </a:prstGeom>
          <a:solidFill>
            <a:srgbClr val="2A9DC0"/>
          </a:solidFill>
          <a:ln w="12700">
            <a:solidFill>
              <a:srgbClr val="2A9DC0"/>
            </a:solidFill>
            <a:prstDash val="solid"/>
          </a:ln>
        </p:spPr>
      </p:sp>
      <p:pic>
        <p:nvPicPr>
          <p:cNvPr id="21" name="Image 3" descr="preencoded.png">    </p:cNvPr>
          <p:cNvPicPr>
            <a:picLocks noChangeAspect="1"/>
          </p:cNvPicPr>
          <p:nvPr/>
        </p:nvPicPr>
        <p:blipFill>
          <a:blip r:embed="rId4"/>
          <a:stretch>
            <a:fillRect/>
          </a:stretch>
        </p:blipFill>
        <p:spPr>
          <a:xfrm>
            <a:off x="7717536" y="2093976"/>
            <a:ext cx="475488" cy="475488"/>
          </a:xfrm>
          <a:prstGeom prst="rect">
            <a:avLst/>
          </a:prstGeom>
        </p:spPr>
      </p:pic>
      <p:sp>
        <p:nvSpPr>
          <p:cNvPr id="22" name="Text 16"/>
          <p:cNvSpPr txBox="1"/>
          <p:nvPr/>
        </p:nvSpPr>
        <p:spPr>
          <a:xfrm>
            <a:off x="7498080" y="2971800"/>
            <a:ext cx="1828800" cy="274320"/>
          </a:xfrm>
          <a:prstGeom prst="rect">
            <a:avLst/>
          </a:prstGeom>
          <a:noFill/>
          <a:ln/>
        </p:spPr>
        <p:txBody>
          <a:bodyPr wrap="square" lIns="0" tIns="0" rIns="0" bIns="0" rtlCol="0" anchor="ctr"/>
          <a:lstStyle/>
          <a:p>
            <a:pPr indent="0" marL="0">
              <a:buNone/>
            </a:pPr>
            <a:r>
              <a:rPr lang="en-US" sz="1100" b="1" spc="100" kern="0" dirty="0">
                <a:solidFill>
                  <a:srgbClr val="5E5C78"/>
                </a:solidFill>
              </a:rPr>
              <a:t>PHASE 4</a:t>
            </a:r>
            <a:endParaRPr lang="en-US" sz="1100" dirty="0"/>
          </a:p>
        </p:txBody>
      </p:sp>
      <p:sp>
        <p:nvSpPr>
          <p:cNvPr id="23" name="Text 17"/>
          <p:cNvSpPr txBox="1"/>
          <p:nvPr/>
        </p:nvSpPr>
        <p:spPr>
          <a:xfrm>
            <a:off x="7498080" y="3246120"/>
            <a:ext cx="1828800" cy="411480"/>
          </a:xfrm>
          <a:prstGeom prst="rect">
            <a:avLst/>
          </a:prstGeom>
          <a:noFill/>
          <a:ln/>
        </p:spPr>
        <p:txBody>
          <a:bodyPr wrap="square" lIns="0" tIns="0" rIns="0" bIns="0" rtlCol="0" anchor="ctr"/>
          <a:lstStyle/>
          <a:p>
            <a:pPr indent="0" marL="0">
              <a:buNone/>
            </a:pPr>
            <a:r>
              <a:rPr lang="en-US" sz="1800" b="1" dirty="0">
                <a:solidFill>
                  <a:schemeClr val="tx2"/>
                </a:solidFill>
              </a:rPr>
              <a:t>Train</a:t>
            </a:r>
            <a:endParaRPr lang="en-US" sz="1800" dirty="0"/>
          </a:p>
        </p:txBody>
      </p:sp>
      <p:sp>
        <p:nvSpPr>
          <p:cNvPr id="24" name="Text 18"/>
          <p:cNvSpPr txBox="1"/>
          <p:nvPr/>
        </p:nvSpPr>
        <p:spPr>
          <a:xfrm>
            <a:off x="7498080" y="3703320"/>
            <a:ext cx="1783080" cy="1097280"/>
          </a:xfrm>
          <a:prstGeom prst="rect">
            <a:avLst/>
          </a:prstGeom>
          <a:noFill/>
          <a:ln/>
        </p:spPr>
        <p:txBody>
          <a:bodyPr wrap="square" lIns="0" tIns="0" rIns="0" bIns="0" rtlCol="0" anchor="t"/>
          <a:lstStyle/>
          <a:p>
            <a:pPr indent="0" marL="0">
              <a:buNone/>
            </a:pPr>
            <a:r>
              <a:rPr lang="en-US" sz="1300" dirty="0">
                <a:solidFill>
                  <a:schemeClr val="tx1"/>
                </a:solidFill>
              </a:rPr>
              <a:t>Role-based training for researchers, reviewers and administrators.</a:t>
            </a:r>
            <a:endParaRPr lang="en-US" sz="1300" dirty="0"/>
          </a:p>
        </p:txBody>
      </p:sp>
      <p:sp>
        <p:nvSpPr>
          <p:cNvPr id="25" name="Shape 19"/>
          <p:cNvSpPr/>
          <p:nvPr/>
        </p:nvSpPr>
        <p:spPr>
          <a:xfrm>
            <a:off x="9738360" y="1874520"/>
            <a:ext cx="914400" cy="914400"/>
          </a:xfrm>
          <a:prstGeom prst="ellipse">
            <a:avLst/>
          </a:prstGeom>
          <a:solidFill>
            <a:srgbClr val="7E5BB5"/>
          </a:solidFill>
          <a:ln w="12700">
            <a:solidFill>
              <a:srgbClr val="7E5BB5"/>
            </a:solidFill>
            <a:prstDash val="solid"/>
          </a:ln>
        </p:spPr>
      </p:sp>
      <p:pic>
        <p:nvPicPr>
          <p:cNvPr id="26" name="Image 4" descr="preencoded.png">    </p:cNvPr>
          <p:cNvPicPr>
            <a:picLocks noChangeAspect="1"/>
          </p:cNvPicPr>
          <p:nvPr/>
        </p:nvPicPr>
        <p:blipFill>
          <a:blip r:embed="rId5"/>
          <a:stretch>
            <a:fillRect/>
          </a:stretch>
        </p:blipFill>
        <p:spPr>
          <a:xfrm>
            <a:off x="9957816" y="2093976"/>
            <a:ext cx="475488" cy="475488"/>
          </a:xfrm>
          <a:prstGeom prst="rect">
            <a:avLst/>
          </a:prstGeom>
        </p:spPr>
      </p:pic>
      <p:sp>
        <p:nvSpPr>
          <p:cNvPr id="27" name="Text 20"/>
          <p:cNvSpPr txBox="1"/>
          <p:nvPr/>
        </p:nvSpPr>
        <p:spPr>
          <a:xfrm>
            <a:off x="9738360" y="2971800"/>
            <a:ext cx="1828800" cy="274320"/>
          </a:xfrm>
          <a:prstGeom prst="rect">
            <a:avLst/>
          </a:prstGeom>
          <a:noFill/>
          <a:ln/>
        </p:spPr>
        <p:txBody>
          <a:bodyPr wrap="square" lIns="0" tIns="0" rIns="0" bIns="0" rtlCol="0" anchor="ctr"/>
          <a:lstStyle/>
          <a:p>
            <a:pPr indent="0" marL="0">
              <a:buNone/>
            </a:pPr>
            <a:r>
              <a:rPr lang="en-US" sz="1100" b="1" spc="100" kern="0" dirty="0">
                <a:solidFill>
                  <a:srgbClr val="5E5C78"/>
                </a:solidFill>
              </a:rPr>
              <a:t>PHASE 5</a:t>
            </a:r>
            <a:endParaRPr lang="en-US" sz="1100" dirty="0"/>
          </a:p>
        </p:txBody>
      </p:sp>
      <p:sp>
        <p:nvSpPr>
          <p:cNvPr id="28" name="Text 21"/>
          <p:cNvSpPr txBox="1"/>
          <p:nvPr/>
        </p:nvSpPr>
        <p:spPr>
          <a:xfrm>
            <a:off x="9738360" y="3246120"/>
            <a:ext cx="1828800" cy="411480"/>
          </a:xfrm>
          <a:prstGeom prst="rect">
            <a:avLst/>
          </a:prstGeom>
          <a:noFill/>
          <a:ln/>
        </p:spPr>
        <p:txBody>
          <a:bodyPr wrap="square" lIns="0" tIns="0" rIns="0" bIns="0" rtlCol="0" anchor="ctr"/>
          <a:lstStyle/>
          <a:p>
            <a:pPr indent="0" marL="0">
              <a:buNone/>
            </a:pPr>
            <a:r>
              <a:rPr lang="en-US" sz="1800" b="1" dirty="0">
                <a:solidFill>
                  <a:schemeClr val="tx2"/>
                </a:solidFill>
              </a:rPr>
              <a:t>Go live</a:t>
            </a:r>
            <a:endParaRPr lang="en-US" sz="1800" dirty="0"/>
          </a:p>
        </p:txBody>
      </p:sp>
      <p:sp>
        <p:nvSpPr>
          <p:cNvPr id="29" name="Text 22"/>
          <p:cNvSpPr txBox="1"/>
          <p:nvPr/>
        </p:nvSpPr>
        <p:spPr>
          <a:xfrm>
            <a:off x="9738360" y="3703320"/>
            <a:ext cx="1783080" cy="1097280"/>
          </a:xfrm>
          <a:prstGeom prst="rect">
            <a:avLst/>
          </a:prstGeom>
          <a:noFill/>
          <a:ln/>
        </p:spPr>
        <p:txBody>
          <a:bodyPr wrap="square" lIns="0" tIns="0" rIns="0" bIns="0" rtlCol="0" anchor="t"/>
          <a:lstStyle/>
          <a:p>
            <a:pPr indent="0" marL="0">
              <a:buNone/>
            </a:pPr>
            <a:r>
              <a:rPr lang="en-US" sz="1300" dirty="0">
                <a:solidFill>
                  <a:schemeClr val="tx1"/>
                </a:solidFill>
              </a:rPr>
              <a:t>Launch with support, then review adoption and analytics together.</a:t>
            </a:r>
            <a:endParaRPr lang="en-US" sz="1300" dirty="0"/>
          </a:p>
        </p:txBody>
      </p:sp>
      <p:sp>
        <p:nvSpPr>
          <p:cNvPr id="30" name="Support note"/>
          <p:cNvSpPr/>
          <p:nvPr/>
        </p:nvSpPr>
        <p:spPr>
          <a:xfrm>
            <a:off x="548640" y="5074920"/>
            <a:ext cx="11064240" cy="914400"/>
          </a:xfrm>
          <a:prstGeom prst="roundRect">
            <a:avLst>
              <a:gd name="adj" fmla="val 10000"/>
            </a:avLst>
          </a:prstGeom>
          <a:solidFill>
            <a:srgbClr val="EFEAF8"/>
          </a:solidFill>
          <a:ln w="9525">
            <a:solidFill>
              <a:srgbClr val="C9B9E8"/>
            </a:solidFill>
            <a:prstDash val="solid"/>
          </a:ln>
        </p:spPr>
      </p:sp>
      <p:sp>
        <p:nvSpPr>
          <p:cNvPr id="31" name="Text 24"/>
          <p:cNvSpPr txBox="1"/>
          <p:nvPr/>
        </p:nvSpPr>
        <p:spPr>
          <a:xfrm>
            <a:off x="777240" y="5120640"/>
            <a:ext cx="10607040" cy="822960"/>
          </a:xfrm>
          <a:prstGeom prst="rect">
            <a:avLst/>
          </a:prstGeom>
          <a:noFill/>
          <a:ln/>
        </p:spPr>
        <p:txBody>
          <a:bodyPr wrap="square" lIns="0" tIns="0" rIns="0" bIns="0" rtlCol="0" anchor="ctr"/>
          <a:lstStyle/>
          <a:p>
            <a:pPr indent="0" marL="0">
              <a:buNone/>
            </a:pPr>
            <a:r>
              <a:rPr lang="en-US" sz="1500" b="1" dirty="0">
                <a:solidFill>
                  <a:srgbClr val="7E5BB5"/>
                </a:solidFill>
              </a:rPr>
              <a:t>Included: </a:t>
            </a:r>
            <a:pPr indent="0" marL="0">
              <a:buNone/>
            </a:pPr>
            <a:r>
              <a:rPr lang="en-US" sz="1500" dirty="0">
                <a:solidFill>
                  <a:schemeClr val="tx2"/>
                </a:solidFill>
              </a:rPr>
              <a:t>onboarding support, user guides and handbook, multilingual interface, and regular product updates — including new AI features as they ship.</a:t>
            </a:r>
            <a:endParaRPr lang="en-US" sz="15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5C78"/>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chemeClr val="bg1"/>
                </a:solidFill>
              </a:rPr>
              <a:t>Let's get started</a:t>
            </a:r>
            <a:endParaRPr lang="en-US" sz="3200" dirty="0"/>
          </a:p>
        </p:txBody>
      </p:sp>
      <p:sp>
        <p:nvSpPr>
          <p:cNvPr id="3" name="Text 1"/>
          <p:cNvSpPr txBox="1"/>
          <p:nvPr/>
        </p:nvSpPr>
        <p:spPr>
          <a:xfrm>
            <a:off x="548640" y="1143000"/>
            <a:ext cx="10972800" cy="457200"/>
          </a:xfrm>
          <a:prstGeom prst="rect">
            <a:avLst/>
          </a:prstGeom>
          <a:noFill/>
          <a:ln/>
        </p:spPr>
        <p:txBody>
          <a:bodyPr wrap="square" lIns="0" tIns="0" rIns="0" bIns="0" rtlCol="0" anchor="ctr"/>
          <a:lstStyle/>
          <a:p>
            <a:pPr indent="0" marL="0">
              <a:buNone/>
            </a:pPr>
            <a:r>
              <a:rPr lang="en-US" sz="1800" dirty="0">
                <a:solidFill>
                  <a:srgbClr val="D6D2EA"/>
                </a:solidFill>
              </a:rPr>
              <a:t>A low-risk path from first look to institution-wide rollout.</a:t>
            </a:r>
            <a:endParaRPr lang="en-US" sz="1800" dirty="0"/>
          </a:p>
        </p:txBody>
      </p:sp>
      <p:sp>
        <p:nvSpPr>
          <p:cNvPr id="4" name="Step 1"/>
          <p:cNvSpPr/>
          <p:nvPr/>
        </p:nvSpPr>
        <p:spPr>
          <a:xfrm>
            <a:off x="548640" y="2011680"/>
            <a:ext cx="3566160" cy="2651760"/>
          </a:xfrm>
          <a:prstGeom prst="roundRect">
            <a:avLst>
              <a:gd name="adj" fmla="val 4138"/>
            </a:avLst>
          </a:prstGeom>
          <a:solidFill>
            <a:srgbClr val="2A2852"/>
          </a:solidFill>
          <a:ln w="9525">
            <a:solidFill>
              <a:srgbClr val="3A3768"/>
            </a:solidFill>
            <a:prstDash val="solid"/>
          </a:ln>
        </p:spPr>
      </p:sp>
      <p:sp>
        <p:nvSpPr>
          <p:cNvPr id="5" name="Shape 3"/>
          <p:cNvSpPr/>
          <p:nvPr/>
        </p:nvSpPr>
        <p:spPr>
          <a:xfrm>
            <a:off x="822960" y="2286000"/>
            <a:ext cx="731520" cy="731520"/>
          </a:xfrm>
          <a:prstGeom prst="ellipse">
            <a:avLst/>
          </a:prstGeom>
          <a:solidFill>
            <a:srgbClr val="7E5BB5"/>
          </a:solidFill>
          <a:ln w="12700">
            <a:solidFill>
              <a:srgbClr val="7E5BB5"/>
            </a:solidFill>
            <a:prstDash val="solid"/>
          </a:ln>
        </p:spPr>
      </p:sp>
      <p:sp>
        <p:nvSpPr>
          <p:cNvPr id="6" name="Text 4"/>
          <p:cNvSpPr txBox="1"/>
          <p:nvPr/>
        </p:nvSpPr>
        <p:spPr>
          <a:xfrm>
            <a:off x="822960" y="22860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7" name="Text 5"/>
          <p:cNvSpPr txBox="1"/>
          <p:nvPr/>
        </p:nvSpPr>
        <p:spPr>
          <a:xfrm>
            <a:off x="822960" y="3200400"/>
            <a:ext cx="3017520" cy="411480"/>
          </a:xfrm>
          <a:prstGeom prst="rect">
            <a:avLst/>
          </a:prstGeom>
          <a:noFill/>
          <a:ln/>
        </p:spPr>
        <p:txBody>
          <a:bodyPr wrap="square" lIns="0" tIns="0" rIns="0" bIns="0" rtlCol="0" anchor="ctr"/>
          <a:lstStyle/>
          <a:p>
            <a:pPr indent="0" marL="0">
              <a:buNone/>
            </a:pPr>
            <a:r>
              <a:rPr lang="en-US" sz="2000" b="1" dirty="0">
                <a:solidFill>
                  <a:srgbClr val="FFFFFF"/>
                </a:solidFill>
              </a:rPr>
              <a:t>Tailored demo</a:t>
            </a:r>
            <a:endParaRPr lang="en-US" sz="2000" dirty="0"/>
          </a:p>
        </p:txBody>
      </p:sp>
      <p:sp>
        <p:nvSpPr>
          <p:cNvPr id="8" name="Text 6"/>
          <p:cNvSpPr txBox="1"/>
          <p:nvPr/>
        </p:nvSpPr>
        <p:spPr>
          <a:xfrm>
            <a:off x="822960" y="3657600"/>
            <a:ext cx="3017520" cy="914400"/>
          </a:xfrm>
          <a:prstGeom prst="rect">
            <a:avLst/>
          </a:prstGeom>
          <a:noFill/>
          <a:ln/>
        </p:spPr>
        <p:txBody>
          <a:bodyPr wrap="square" lIns="0" tIns="0" rIns="0" bIns="0" rtlCol="0" anchor="t"/>
          <a:lstStyle/>
          <a:p>
            <a:pPr indent="0" marL="0">
              <a:buNone/>
            </a:pPr>
            <a:r>
              <a:rPr lang="en-US" sz="1400" dirty="0">
                <a:solidFill>
                  <a:srgbClr val="E4E1F3"/>
                </a:solidFill>
              </a:rPr>
              <a:t>A walkthrough on your own workflows: proposals, ethics, trials or grants.</a:t>
            </a:r>
            <a:endParaRPr lang="en-US" sz="1400" dirty="0"/>
          </a:p>
        </p:txBody>
      </p:sp>
      <p:sp>
        <p:nvSpPr>
          <p:cNvPr id="9" name="Step 2"/>
          <p:cNvSpPr/>
          <p:nvPr/>
        </p:nvSpPr>
        <p:spPr>
          <a:xfrm>
            <a:off x="4297680" y="2011680"/>
            <a:ext cx="3566160" cy="2651760"/>
          </a:xfrm>
          <a:prstGeom prst="roundRect">
            <a:avLst>
              <a:gd name="adj" fmla="val 4138"/>
            </a:avLst>
          </a:prstGeom>
          <a:solidFill>
            <a:srgbClr val="2A2852"/>
          </a:solidFill>
          <a:ln w="9525">
            <a:solidFill>
              <a:srgbClr val="3A3768"/>
            </a:solidFill>
            <a:prstDash val="solid"/>
          </a:ln>
        </p:spPr>
      </p:sp>
      <p:sp>
        <p:nvSpPr>
          <p:cNvPr id="10" name="Shape 8"/>
          <p:cNvSpPr/>
          <p:nvPr/>
        </p:nvSpPr>
        <p:spPr>
          <a:xfrm>
            <a:off x="4572000" y="2286000"/>
            <a:ext cx="731520" cy="731520"/>
          </a:xfrm>
          <a:prstGeom prst="ellipse">
            <a:avLst/>
          </a:prstGeom>
          <a:solidFill>
            <a:srgbClr val="2A9DC0"/>
          </a:solidFill>
          <a:ln w="12700">
            <a:solidFill>
              <a:srgbClr val="2A9DC0"/>
            </a:solidFill>
            <a:prstDash val="solid"/>
          </a:ln>
        </p:spPr>
      </p:sp>
      <p:sp>
        <p:nvSpPr>
          <p:cNvPr id="11" name="Text 9"/>
          <p:cNvSpPr txBox="1"/>
          <p:nvPr/>
        </p:nvSpPr>
        <p:spPr>
          <a:xfrm>
            <a:off x="4572000" y="22860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572000" y="3200400"/>
            <a:ext cx="3017520" cy="411480"/>
          </a:xfrm>
          <a:prstGeom prst="rect">
            <a:avLst/>
          </a:prstGeom>
          <a:noFill/>
          <a:ln/>
        </p:spPr>
        <p:txBody>
          <a:bodyPr wrap="square" lIns="0" tIns="0" rIns="0" bIns="0" rtlCol="0" anchor="ctr"/>
          <a:lstStyle/>
          <a:p>
            <a:pPr indent="0" marL="0">
              <a:buNone/>
            </a:pPr>
            <a:r>
              <a:rPr lang="en-US" sz="2000" b="1" dirty="0">
                <a:solidFill>
                  <a:srgbClr val="FFFFFF"/>
                </a:solidFill>
              </a:rPr>
              <a:t>Pilot</a:t>
            </a:r>
            <a:endParaRPr lang="en-US" sz="2000" dirty="0"/>
          </a:p>
        </p:txBody>
      </p:sp>
      <p:sp>
        <p:nvSpPr>
          <p:cNvPr id="13" name="Text 11"/>
          <p:cNvSpPr txBox="1"/>
          <p:nvPr/>
        </p:nvSpPr>
        <p:spPr>
          <a:xfrm>
            <a:off x="4572000" y="3657600"/>
            <a:ext cx="3017520" cy="914400"/>
          </a:xfrm>
          <a:prstGeom prst="rect">
            <a:avLst/>
          </a:prstGeom>
          <a:noFill/>
          <a:ln/>
        </p:spPr>
        <p:txBody>
          <a:bodyPr wrap="square" lIns="0" tIns="0" rIns="0" bIns="0" rtlCol="0" anchor="t"/>
          <a:lstStyle/>
          <a:p>
            <a:pPr indent="0" marL="0">
              <a:buNone/>
            </a:pPr>
            <a:r>
              <a:rPr lang="en-US" sz="1400" dirty="0">
                <a:solidFill>
                  <a:srgbClr val="E4E1F3"/>
                </a:solidFill>
              </a:rPr>
              <a:t>One department or research unit, with your data imported and users onboarded.</a:t>
            </a:r>
            <a:endParaRPr lang="en-US" sz="1400" dirty="0"/>
          </a:p>
        </p:txBody>
      </p:sp>
      <p:sp>
        <p:nvSpPr>
          <p:cNvPr id="14" name="Step 3"/>
          <p:cNvSpPr/>
          <p:nvPr/>
        </p:nvSpPr>
        <p:spPr>
          <a:xfrm>
            <a:off x="8046720" y="2011680"/>
            <a:ext cx="3566160" cy="2651760"/>
          </a:xfrm>
          <a:prstGeom prst="roundRect">
            <a:avLst>
              <a:gd name="adj" fmla="val 4138"/>
            </a:avLst>
          </a:prstGeom>
          <a:solidFill>
            <a:srgbClr val="2A2852"/>
          </a:solidFill>
          <a:ln w="9525">
            <a:solidFill>
              <a:srgbClr val="3A3768"/>
            </a:solidFill>
            <a:prstDash val="solid"/>
          </a:ln>
        </p:spPr>
      </p:sp>
      <p:sp>
        <p:nvSpPr>
          <p:cNvPr id="15" name="Shape 13"/>
          <p:cNvSpPr/>
          <p:nvPr/>
        </p:nvSpPr>
        <p:spPr>
          <a:xfrm>
            <a:off x="8321040" y="2286000"/>
            <a:ext cx="731520" cy="731520"/>
          </a:xfrm>
          <a:prstGeom prst="ellipse">
            <a:avLst/>
          </a:prstGeom>
          <a:solidFill>
            <a:srgbClr val="7E5BB5"/>
          </a:solidFill>
          <a:ln w="12700">
            <a:solidFill>
              <a:srgbClr val="7E5BB5"/>
            </a:solidFill>
            <a:prstDash val="solid"/>
          </a:ln>
        </p:spPr>
      </p:sp>
      <p:sp>
        <p:nvSpPr>
          <p:cNvPr id="16" name="Text 14"/>
          <p:cNvSpPr txBox="1"/>
          <p:nvPr/>
        </p:nvSpPr>
        <p:spPr>
          <a:xfrm>
            <a:off x="8321040" y="22860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7" name="Text 15"/>
          <p:cNvSpPr txBox="1"/>
          <p:nvPr/>
        </p:nvSpPr>
        <p:spPr>
          <a:xfrm>
            <a:off x="8321040" y="3200400"/>
            <a:ext cx="3017520" cy="411480"/>
          </a:xfrm>
          <a:prstGeom prst="rect">
            <a:avLst/>
          </a:prstGeom>
          <a:noFill/>
          <a:ln/>
        </p:spPr>
        <p:txBody>
          <a:bodyPr wrap="square" lIns="0" tIns="0" rIns="0" bIns="0" rtlCol="0" anchor="ctr"/>
          <a:lstStyle/>
          <a:p>
            <a:pPr indent="0" marL="0">
              <a:buNone/>
            </a:pPr>
            <a:r>
              <a:rPr lang="en-US" sz="2000" b="1" dirty="0">
                <a:solidFill>
                  <a:srgbClr val="FFFFFF"/>
                </a:solidFill>
              </a:rPr>
              <a:t>Rollout</a:t>
            </a:r>
            <a:endParaRPr lang="en-US" sz="2000" dirty="0"/>
          </a:p>
        </p:txBody>
      </p:sp>
      <p:sp>
        <p:nvSpPr>
          <p:cNvPr id="18" name="Text 16"/>
          <p:cNvSpPr txBox="1"/>
          <p:nvPr/>
        </p:nvSpPr>
        <p:spPr>
          <a:xfrm>
            <a:off x="8321040" y="3657600"/>
            <a:ext cx="3017520" cy="914400"/>
          </a:xfrm>
          <a:prstGeom prst="rect">
            <a:avLst/>
          </a:prstGeom>
          <a:noFill/>
          <a:ln/>
        </p:spPr>
        <p:txBody>
          <a:bodyPr wrap="square" lIns="0" tIns="0" rIns="0" bIns="0" rtlCol="0" anchor="t"/>
          <a:lstStyle/>
          <a:p>
            <a:pPr indent="0" marL="0">
              <a:buNone/>
            </a:pPr>
            <a:r>
              <a:rPr lang="en-US" sz="1400" dirty="0">
                <a:solidFill>
                  <a:srgbClr val="E4E1F3"/>
                </a:solidFill>
              </a:rPr>
              <a:t>Institution-wide launch, training and integration with your identity and reporting needs.</a:t>
            </a:r>
            <a:endParaRPr lang="en-US" sz="1400" dirty="0"/>
          </a:p>
        </p:txBody>
      </p:sp>
      <p:pic>
        <p:nvPicPr>
          <p:cNvPr id="19" name="Image 0" descr="/home/claude/deck/img/hospitium-logo-dark.png">    </p:cNvPr>
          <p:cNvPicPr>
            <a:picLocks noChangeAspect="1"/>
          </p:cNvPicPr>
          <p:nvPr/>
        </p:nvPicPr>
        <p:blipFill>
          <a:blip r:embed="rId1"/>
          <a:stretch>
            <a:fillRect/>
          </a:stretch>
        </p:blipFill>
        <p:spPr>
          <a:xfrm>
            <a:off x="548640" y="5257800"/>
            <a:ext cx="2194560" cy="507492"/>
          </a:xfrm>
          <a:prstGeom prst="rect">
            <a:avLst/>
          </a:prstGeom>
        </p:spPr>
      </p:pic>
      <p:sp>
        <p:nvSpPr>
          <p:cNvPr id="20" name="Text 17"/>
          <p:cNvSpPr txBox="1"/>
          <p:nvPr/>
        </p:nvSpPr>
        <p:spPr>
          <a:xfrm>
            <a:off x="3108960" y="5166360"/>
            <a:ext cx="8503920" cy="731520"/>
          </a:xfrm>
          <a:prstGeom prst="rect">
            <a:avLst/>
          </a:prstGeom>
          <a:noFill/>
          <a:ln/>
        </p:spPr>
        <p:txBody>
          <a:bodyPr wrap="square" lIns="0" tIns="0" rIns="0" bIns="0" rtlCol="0" anchor="ctr"/>
          <a:lstStyle/>
          <a:p>
            <a:pPr indent="0" marL="0">
              <a:buNone/>
            </a:pPr>
            <a:r>
              <a:rPr lang="en-US" sz="1500" b="1" dirty="0">
                <a:solidFill>
                  <a:srgbClr val="FFFFFF"/>
                </a:solidFill>
              </a:rPr>
              <a:t>hospitium.hospitiumris.org</a:t>
            </a:r>
            <a:endParaRPr lang="en-US" sz="1500" dirty="0"/>
          </a:p>
          <a:p>
            <a:pPr indent="0" marL="0">
              <a:buNone/>
            </a:pPr>
            <a:r>
              <a:rPr lang="en-US" sz="1500" dirty="0">
                <a:solidFill>
                  <a:srgbClr val="A9A5C6"/>
                </a:solidFill>
              </a:rPr>
              <a:t>Developed by TCC Africa — Training Centre in Communication</a:t>
            </a:r>
            <a:endParaRPr lang="en-US" sz="1500" dirty="0"/>
          </a:p>
        </p:txBody>
      </p:sp>
    </p:spTree>
  </p:cSld>
  <p:clrMapOvr>
    <a:masterClrMapping/>
  </p:clrMapOvr>
</p:sld>
</file>

<file path=ppt/theme/theme1.xml><?xml version="1.0" encoding="utf-8"?>
<a:theme xmlns:a="http://schemas.openxmlformats.org/drawingml/2006/main" name="HospitiumRIS">
  <a:themeElements>
    <a:clrScheme name="HospitiumRIS">
      <a:dk1>
        <a:srgbClr val="22213A"/>
      </a:dk1>
      <a:lt1>
        <a:srgbClr val="FFFFFF"/>
      </a:lt1>
      <a:dk2>
        <a:srgbClr val="1C1B3A"/>
      </a:dk2>
      <a:lt2>
        <a:srgbClr val="F6F4FB"/>
      </a:lt2>
      <a:accent1>
        <a:srgbClr val="7E5BB5"/>
      </a:accent1>
      <a:accent2>
        <a:srgbClr val="2A9DC0"/>
      </a:accent2>
      <a:accent3>
        <a:srgbClr val="C2508F"/>
      </a:accent3>
      <a:accent4>
        <a:srgbClr val="F2A541"/>
      </a:accent4>
      <a:accent5>
        <a:srgbClr val="4CAF7D"/>
      </a:accent5>
      <a:accent6>
        <a:srgbClr val="5E5C78"/>
      </a:accent6>
      <a:hlink>
        <a:srgbClr val="2A9DC0"/>
      </a:hlink>
      <a:folHlink>
        <a:srgbClr val="7E5BB5"/>
      </a:folHlink>
    </a:clrScheme>
    <a:fontScheme name="HospitiumRI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HospitiumRIS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HospitiumRIS — Client Pitch</dc:title>
  <dc:subject>PptxGenJS Presentation</dc:subject>
  <dc:creator>HospitiumRIS</dc:creator>
  <cp:lastModifiedBy>HospitiumRIS</cp:lastModifiedBy>
  <cp:revision>1</cp:revision>
  <dcterms:created xsi:type="dcterms:W3CDTF">2026-10-13T12:07:14Z</dcterms:created>
  <dcterms:modified xsi:type="dcterms:W3CDTF">2026-10-13T12:07:14Z</dcterms:modified>
</cp:coreProperties>
</file>